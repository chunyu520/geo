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1"/>
    <p:sldId id="275" r:id="rId22"/>
    <p:sldId id="276" r:id="rId23"/>
    <p:sldId id="277" r:id="rId24"/>
    <p:sldId id="278" r:id="rId25"/>
    <p:sldId id="279" r:id="rId26"/>
    <p:sldId id="280" r:id="rId27"/>
    <p:sldId id="281" r:id="rId28"/>
    <p:sldId id="282" r:id="rId29"/>
    <p:sldId id="283" r:id="rId30"/>
    <p:sldId id="256"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0" clrIdx="0"/>
  <p:cmAuthor id="2" name="zxxk" initials="z" lastIdx="0" clrIdx="1"/>
  <p:cmAuthor id="3" name="Administrator" initials="" lastIdx="0" clrIdx="2"/>
  <p:cmAuthor id="4" name="滕文" initials="滕" lastIdx="0" clrIdx="3"/>
  <p:cmAuthor id="5" name="User" initials="U" lastIdx="0" clrIdx="4"/>
  <p:cmAuthor id="6" name="kingsoft" initials="k" lastIdx="0" clrIdx="5"/>
  <p:cmAuthor id="7" name="未知用户1" initials="未" lastIdx="0" clrIdx="6"/>
  <p:cmAuthor id="8" name="幸兴" initials="幸" lastIdx="0" clrIdx="7"/>
  <p:cmAuthor id="9" name="雨林木风" initials="雨" lastIdx="0" clrIdx="8"/>
  <p:cmAuthor id="10" name="86183" initials="8" lastIdx="0" clrIdx="9"/>
  <p:cmAuthor id="11" name="Author" initials="A" lastIdx="0" clrIdx="10"/>
  <p:cmAuthor id="12" name="Lenovo" initials="L" lastIdx="0" clrIdx="1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4" Type="http://schemas.openxmlformats.org/officeDocument/2006/relationships/tags" Target="../tags/tag257.xml"/><Relationship Id="rId3" Type="http://schemas.openxmlformats.org/officeDocument/2006/relationships/tags" Target="../tags/tag256.xml"/><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4" Type="http://schemas.openxmlformats.org/officeDocument/2006/relationships/tags" Target="../tags/tag316.xml"/><Relationship Id="rId3" Type="http://schemas.openxmlformats.org/officeDocument/2006/relationships/tags" Target="../tags/tag315.xml"/><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p:cNvSpPr>
          <p:nvPr>
            <p:ph type="sldImg" idx="2"/>
            <p:custDataLst>
              <p:tags r:id="rId3"/>
            </p:custDataLst>
          </p:nvPr>
        </p:nvSpPr>
        <p:spPr/>
      </p:sp>
      <p:sp>
        <p:nvSpPr>
          <p:cNvPr id="3" name="文本占位符 2"/>
          <p:cNvSpPr txBox="1">
            <a:spLocks noGrp="1"/>
          </p:cNvSpPr>
          <p:nvPr>
            <p:ph type="body" idx="3"/>
            <p:custDataLst>
              <p:tags r:id="rId4"/>
            </p:custDataLst>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p:cNvSpPr>
          <p:nvPr>
            <p:ph type="sldImg" idx="2"/>
            <p:custDataLst>
              <p:tags r:id="rId3"/>
            </p:custDataLst>
          </p:nvPr>
        </p:nvSpPr>
        <p:spPr/>
      </p:sp>
      <p:sp>
        <p:nvSpPr>
          <p:cNvPr id="3" name="文本占位符 2"/>
          <p:cNvSpPr txBox="1">
            <a:spLocks noGrp="1"/>
          </p:cNvSpPr>
          <p:nvPr>
            <p:ph type="body" idx="3"/>
            <p:custDataLst>
              <p:tags r:id="rId4"/>
            </p:custDataLst>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image" Target="../media/image1.png"/><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0" Type="http://schemas.openxmlformats.org/officeDocument/2006/relationships/slideLayout" Target="../slideLayouts/slideLayout3.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0" Type="http://schemas.openxmlformats.org/officeDocument/2006/relationships/slideLayout" Target="../slideLayouts/slideLayout3.xml"/><Relationship Id="rId3" Type="http://schemas.openxmlformats.org/officeDocument/2006/relationships/tags" Target="../tags/tag73.xml"/><Relationship Id="rId29" Type="http://schemas.openxmlformats.org/officeDocument/2006/relationships/tags" Target="../tags/tag99.xml"/><Relationship Id="rId28" Type="http://schemas.openxmlformats.org/officeDocument/2006/relationships/tags" Target="../tags/tag98.xml"/><Relationship Id="rId27" Type="http://schemas.openxmlformats.org/officeDocument/2006/relationships/tags" Target="../tags/tag97.xml"/><Relationship Id="rId26" Type="http://schemas.openxmlformats.org/officeDocument/2006/relationships/tags" Target="../tags/tag96.xml"/><Relationship Id="rId25" Type="http://schemas.openxmlformats.org/officeDocument/2006/relationships/tags" Target="../tags/tag95.xml"/><Relationship Id="rId24" Type="http://schemas.openxmlformats.org/officeDocument/2006/relationships/tags" Target="../tags/tag94.xml"/><Relationship Id="rId23" Type="http://schemas.openxmlformats.org/officeDocument/2006/relationships/tags" Target="../tags/tag93.xml"/><Relationship Id="rId22" Type="http://schemas.openxmlformats.org/officeDocument/2006/relationships/tags" Target="../tags/tag92.xml"/><Relationship Id="rId21" Type="http://schemas.openxmlformats.org/officeDocument/2006/relationships/tags" Target="../tags/tag91.xml"/><Relationship Id="rId20" Type="http://schemas.openxmlformats.org/officeDocument/2006/relationships/tags" Target="../tags/tag90.xml"/><Relationship Id="rId2" Type="http://schemas.openxmlformats.org/officeDocument/2006/relationships/tags" Target="../tags/tag72.xml"/><Relationship Id="rId19" Type="http://schemas.openxmlformats.org/officeDocument/2006/relationships/tags" Target="../tags/tag89.xml"/><Relationship Id="rId18" Type="http://schemas.openxmlformats.org/officeDocument/2006/relationships/tags" Target="../tags/tag88.xml"/><Relationship Id="rId17" Type="http://schemas.openxmlformats.org/officeDocument/2006/relationships/tags" Target="../tags/tag87.xml"/><Relationship Id="rId16" Type="http://schemas.openxmlformats.org/officeDocument/2006/relationships/tags" Target="../tags/tag86.xml"/><Relationship Id="rId15" Type="http://schemas.openxmlformats.org/officeDocument/2006/relationships/tags" Target="../tags/tag85.xml"/><Relationship Id="rId14" Type="http://schemas.openxmlformats.org/officeDocument/2006/relationships/tags" Target="../tags/tag84.xml"/><Relationship Id="rId13" Type="http://schemas.openxmlformats.org/officeDocument/2006/relationships/tags" Target="../tags/tag83.xml"/><Relationship Id="rId12" Type="http://schemas.openxmlformats.org/officeDocument/2006/relationships/tags" Target="../tags/tag8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tags" Target="../tags/tag71.xml"/></Relationships>
</file>

<file path=ppt/slides/_rels/slide3.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0" Type="http://schemas.openxmlformats.org/officeDocument/2006/relationships/slideLayout" Target="../slideLayouts/slideLayout3.xml"/><Relationship Id="rId2" Type="http://schemas.openxmlformats.org/officeDocument/2006/relationships/tags" Target="../tags/tag101.xml"/><Relationship Id="rId19" Type="http://schemas.openxmlformats.org/officeDocument/2006/relationships/tags" Target="../tags/tag118.xml"/><Relationship Id="rId18" Type="http://schemas.openxmlformats.org/officeDocument/2006/relationships/tags" Target="../tags/tag117.xml"/><Relationship Id="rId17" Type="http://schemas.openxmlformats.org/officeDocument/2006/relationships/tags" Target="../tags/tag116.xml"/><Relationship Id="rId16" Type="http://schemas.openxmlformats.org/officeDocument/2006/relationships/tags" Target="../tags/tag115.xml"/><Relationship Id="rId15" Type="http://schemas.openxmlformats.org/officeDocument/2006/relationships/tags" Target="../tags/tag114.xml"/><Relationship Id="rId14" Type="http://schemas.openxmlformats.org/officeDocument/2006/relationships/tags" Target="../tags/tag113.xml"/><Relationship Id="rId13" Type="http://schemas.openxmlformats.org/officeDocument/2006/relationships/tags" Target="../tags/tag112.xml"/><Relationship Id="rId12" Type="http://schemas.openxmlformats.org/officeDocument/2006/relationships/tags" Target="../tags/tag11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tags" Target="../tags/tag100.xml"/></Relationships>
</file>

<file path=ppt/slides/_rels/slide4.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image" Target="../media/image2.jpeg"/><Relationship Id="rId3" Type="http://schemas.openxmlformats.org/officeDocument/2006/relationships/tags" Target="../tags/tag121.xml"/><Relationship Id="rId2" Type="http://schemas.openxmlformats.org/officeDocument/2006/relationships/tags" Target="../tags/tag120.xml"/><Relationship Id="rId14" Type="http://schemas.openxmlformats.org/officeDocument/2006/relationships/slideLayout" Target="../slideLayouts/slideLayout3.xml"/><Relationship Id="rId13" Type="http://schemas.openxmlformats.org/officeDocument/2006/relationships/tags" Target="../tags/tag130.xml"/><Relationship Id="rId12" Type="http://schemas.openxmlformats.org/officeDocument/2006/relationships/tags" Target="../tags/tag129.xml"/><Relationship Id="rId11" Type="http://schemas.openxmlformats.org/officeDocument/2006/relationships/tags" Target="../tags/tag128.xml"/><Relationship Id="rId10" Type="http://schemas.openxmlformats.org/officeDocument/2006/relationships/tags" Target="../tags/tag127.xml"/><Relationship Id="rId1" Type="http://schemas.openxmlformats.org/officeDocument/2006/relationships/tags" Target="../tags/tag119.xml"/></Relationships>
</file>

<file path=ppt/slides/_rels/slide5.xml.rels><?xml version="1.0" encoding="UTF-8" standalone="yes"?>
<Relationships xmlns="http://schemas.openxmlformats.org/package/2006/relationships"><Relationship Id="rId9" Type="http://schemas.openxmlformats.org/officeDocument/2006/relationships/tags" Target="../tags/tag139.xml"/><Relationship Id="rId8" Type="http://schemas.openxmlformats.org/officeDocument/2006/relationships/tags" Target="../tags/tag138.xml"/><Relationship Id="rId7" Type="http://schemas.openxmlformats.org/officeDocument/2006/relationships/tags" Target="../tags/tag137.xml"/><Relationship Id="rId6" Type="http://schemas.openxmlformats.org/officeDocument/2006/relationships/tags" Target="../tags/tag136.xml"/><Relationship Id="rId5" Type="http://schemas.openxmlformats.org/officeDocument/2006/relationships/tags" Target="../tags/tag135.xml"/><Relationship Id="rId4" Type="http://schemas.openxmlformats.org/officeDocument/2006/relationships/tags" Target="../tags/tag134.xml"/><Relationship Id="rId39" Type="http://schemas.openxmlformats.org/officeDocument/2006/relationships/slideLayout" Target="../slideLayouts/slideLayout3.xml"/><Relationship Id="rId38" Type="http://schemas.openxmlformats.org/officeDocument/2006/relationships/tags" Target="../tags/tag168.xml"/><Relationship Id="rId37" Type="http://schemas.openxmlformats.org/officeDocument/2006/relationships/tags" Target="../tags/tag167.xml"/><Relationship Id="rId36" Type="http://schemas.openxmlformats.org/officeDocument/2006/relationships/tags" Target="../tags/tag166.xml"/><Relationship Id="rId35" Type="http://schemas.openxmlformats.org/officeDocument/2006/relationships/tags" Target="../tags/tag165.xml"/><Relationship Id="rId34" Type="http://schemas.openxmlformats.org/officeDocument/2006/relationships/tags" Target="../tags/tag164.xml"/><Relationship Id="rId33" Type="http://schemas.openxmlformats.org/officeDocument/2006/relationships/tags" Target="../tags/tag163.xml"/><Relationship Id="rId32" Type="http://schemas.openxmlformats.org/officeDocument/2006/relationships/tags" Target="../tags/tag162.xml"/><Relationship Id="rId31" Type="http://schemas.openxmlformats.org/officeDocument/2006/relationships/tags" Target="../tags/tag161.xml"/><Relationship Id="rId30" Type="http://schemas.openxmlformats.org/officeDocument/2006/relationships/tags" Target="../tags/tag160.xml"/><Relationship Id="rId3" Type="http://schemas.openxmlformats.org/officeDocument/2006/relationships/tags" Target="../tags/tag133.xml"/><Relationship Id="rId29" Type="http://schemas.openxmlformats.org/officeDocument/2006/relationships/tags" Target="../tags/tag159.xml"/><Relationship Id="rId28" Type="http://schemas.openxmlformats.org/officeDocument/2006/relationships/tags" Target="../tags/tag158.xml"/><Relationship Id="rId27" Type="http://schemas.openxmlformats.org/officeDocument/2006/relationships/tags" Target="../tags/tag157.xml"/><Relationship Id="rId26" Type="http://schemas.openxmlformats.org/officeDocument/2006/relationships/tags" Target="../tags/tag156.xml"/><Relationship Id="rId25" Type="http://schemas.openxmlformats.org/officeDocument/2006/relationships/tags" Target="../tags/tag155.xml"/><Relationship Id="rId24" Type="http://schemas.openxmlformats.org/officeDocument/2006/relationships/tags" Target="../tags/tag154.xml"/><Relationship Id="rId23" Type="http://schemas.openxmlformats.org/officeDocument/2006/relationships/tags" Target="../tags/tag153.xml"/><Relationship Id="rId22" Type="http://schemas.openxmlformats.org/officeDocument/2006/relationships/tags" Target="../tags/tag152.xml"/><Relationship Id="rId21" Type="http://schemas.openxmlformats.org/officeDocument/2006/relationships/tags" Target="../tags/tag151.xml"/><Relationship Id="rId20" Type="http://schemas.openxmlformats.org/officeDocument/2006/relationships/tags" Target="../tags/tag150.xml"/><Relationship Id="rId2" Type="http://schemas.openxmlformats.org/officeDocument/2006/relationships/tags" Target="../tags/tag132.xml"/><Relationship Id="rId19" Type="http://schemas.openxmlformats.org/officeDocument/2006/relationships/tags" Target="../tags/tag149.xml"/><Relationship Id="rId18" Type="http://schemas.openxmlformats.org/officeDocument/2006/relationships/tags" Target="../tags/tag148.xml"/><Relationship Id="rId17" Type="http://schemas.openxmlformats.org/officeDocument/2006/relationships/tags" Target="../tags/tag147.xml"/><Relationship Id="rId16" Type="http://schemas.openxmlformats.org/officeDocument/2006/relationships/tags" Target="../tags/tag146.xml"/><Relationship Id="rId15" Type="http://schemas.openxmlformats.org/officeDocument/2006/relationships/tags" Target="../tags/tag145.xml"/><Relationship Id="rId14" Type="http://schemas.openxmlformats.org/officeDocument/2006/relationships/tags" Target="../tags/tag144.xml"/><Relationship Id="rId13" Type="http://schemas.openxmlformats.org/officeDocument/2006/relationships/tags" Target="../tags/tag143.xml"/><Relationship Id="rId12" Type="http://schemas.openxmlformats.org/officeDocument/2006/relationships/tags" Target="../tags/tag142.xml"/><Relationship Id="rId11" Type="http://schemas.openxmlformats.org/officeDocument/2006/relationships/tags" Target="../tags/tag141.xml"/><Relationship Id="rId10" Type="http://schemas.openxmlformats.org/officeDocument/2006/relationships/tags" Target="../tags/tag140.xml"/><Relationship Id="rId1" Type="http://schemas.openxmlformats.org/officeDocument/2006/relationships/tags" Target="../tags/tag131.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image" Target="../media/image3.jpeg"/><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tags" Target="../tags/tag180.xml"/><Relationship Id="rId6" Type="http://schemas.openxmlformats.org/officeDocument/2006/relationships/tags" Target="../tags/tag179.xml"/><Relationship Id="rId5" Type="http://schemas.openxmlformats.org/officeDocument/2006/relationships/tags" Target="../tags/tag178.xml"/><Relationship Id="rId4" Type="http://schemas.openxmlformats.org/officeDocument/2006/relationships/tags" Target="../tags/tag177.xml"/><Relationship Id="rId3" Type="http://schemas.openxmlformats.org/officeDocument/2006/relationships/image" Target="../media/image4.png"/><Relationship Id="rId2" Type="http://schemas.openxmlformats.org/officeDocument/2006/relationships/tags" Target="../tags/tag176.xml"/><Relationship Id="rId1" Type="http://schemas.openxmlformats.org/officeDocument/2006/relationships/tags" Target="../tags/tag175.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tags" Target="../tags/tag186.xml"/><Relationship Id="rId6" Type="http://schemas.openxmlformats.org/officeDocument/2006/relationships/tags" Target="../tags/tag185.xml"/><Relationship Id="rId5" Type="http://schemas.openxmlformats.org/officeDocument/2006/relationships/tags" Target="../tags/tag184.xml"/><Relationship Id="rId4" Type="http://schemas.openxmlformats.org/officeDocument/2006/relationships/tags" Target="../tags/tag183.xml"/><Relationship Id="rId3" Type="http://schemas.openxmlformats.org/officeDocument/2006/relationships/image" Target="../media/image5.png"/><Relationship Id="rId2" Type="http://schemas.openxmlformats.org/officeDocument/2006/relationships/tags" Target="../tags/tag182.xml"/><Relationship Id="rId1" Type="http://schemas.openxmlformats.org/officeDocument/2006/relationships/tags" Target="../tags/tag181.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tags" Target="../tags/tag192.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tags" Target="../tags/tag189.xml"/><Relationship Id="rId3" Type="http://schemas.openxmlformats.org/officeDocument/2006/relationships/image" Target="../media/image6.png"/><Relationship Id="rId2" Type="http://schemas.openxmlformats.org/officeDocument/2006/relationships/tags" Target="../tags/tag188.xml"/><Relationship Id="rId1" Type="http://schemas.openxmlformats.org/officeDocument/2006/relationships/tags" Target="../tags/tag187.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tags" Target="../tags/tag198.xml"/><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image" Target="../media/image3.jpeg"/><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tags" Target="../tags/tag204.xml"/><Relationship Id="rId6" Type="http://schemas.openxmlformats.org/officeDocument/2006/relationships/tags" Target="../tags/tag203.xml"/><Relationship Id="rId5" Type="http://schemas.openxmlformats.org/officeDocument/2006/relationships/tags" Target="../tags/tag202.xml"/><Relationship Id="rId4" Type="http://schemas.openxmlformats.org/officeDocument/2006/relationships/tags" Target="../tags/tag201.xml"/><Relationship Id="rId3" Type="http://schemas.openxmlformats.org/officeDocument/2006/relationships/image" Target="../media/image4.png"/><Relationship Id="rId2" Type="http://schemas.openxmlformats.org/officeDocument/2006/relationships/tags" Target="../tags/tag200.xml"/><Relationship Id="rId1" Type="http://schemas.openxmlformats.org/officeDocument/2006/relationships/tags" Target="../tags/tag199.xml"/></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tags" Target="../tags/tag210.xml"/><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tags" Target="../tags/tag207.xml"/><Relationship Id="rId3" Type="http://schemas.openxmlformats.org/officeDocument/2006/relationships/image" Target="../media/image5.png"/><Relationship Id="rId2" Type="http://schemas.openxmlformats.org/officeDocument/2006/relationships/tags" Target="../tags/tag206.xml"/><Relationship Id="rId1" Type="http://schemas.openxmlformats.org/officeDocument/2006/relationships/tags" Target="../tags/tag205.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tags" Target="../tags/tag216.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 Id="rId3" Type="http://schemas.openxmlformats.org/officeDocument/2006/relationships/image" Target="../media/image6.png"/><Relationship Id="rId2" Type="http://schemas.openxmlformats.org/officeDocument/2006/relationships/tags" Target="../tags/tag212.xml"/><Relationship Id="rId1" Type="http://schemas.openxmlformats.org/officeDocument/2006/relationships/tags" Target="../tags/tag211.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tags" Target="../tags/tag222.xml"/><Relationship Id="rId6" Type="http://schemas.openxmlformats.org/officeDocument/2006/relationships/image" Target="../media/image7.jpeg"/><Relationship Id="rId5" Type="http://schemas.openxmlformats.org/officeDocument/2006/relationships/tags" Target="../tags/tag221.xml"/><Relationship Id="rId4" Type="http://schemas.openxmlformats.org/officeDocument/2006/relationships/tags" Target="../tags/tag220.xml"/><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s>
</file>

<file path=ppt/slides/_rels/slide15.xml.rels><?xml version="1.0" encoding="UTF-8" standalone="yes"?>
<Relationships xmlns="http://schemas.openxmlformats.org/package/2006/relationships"><Relationship Id="rId9" Type="http://schemas.openxmlformats.org/officeDocument/2006/relationships/tags" Target="../tags/tag230.xml"/><Relationship Id="rId8" Type="http://schemas.openxmlformats.org/officeDocument/2006/relationships/tags" Target="../tags/tag229.xml"/><Relationship Id="rId7" Type="http://schemas.openxmlformats.org/officeDocument/2006/relationships/tags" Target="../tags/tag228.xml"/><Relationship Id="rId6" Type="http://schemas.openxmlformats.org/officeDocument/2006/relationships/tags" Target="../tags/tag227.xml"/><Relationship Id="rId5" Type="http://schemas.openxmlformats.org/officeDocument/2006/relationships/image" Target="../media/image8.png"/><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0" Type="http://schemas.openxmlformats.org/officeDocument/2006/relationships/slideLayout" Target="../slideLayouts/slideLayout3.xml"/><Relationship Id="rId1" Type="http://schemas.openxmlformats.org/officeDocument/2006/relationships/tags" Target="../tags/tag223.xml"/></Relationships>
</file>

<file path=ppt/slides/_rels/slide16.xml.rels><?xml version="1.0" encoding="UTF-8" standalone="yes"?>
<Relationships xmlns="http://schemas.openxmlformats.org/package/2006/relationships"><Relationship Id="rId9" Type="http://schemas.openxmlformats.org/officeDocument/2006/relationships/tags" Target="../tags/tag238.xml"/><Relationship Id="rId8" Type="http://schemas.openxmlformats.org/officeDocument/2006/relationships/tags" Target="../tags/tag237.xml"/><Relationship Id="rId7" Type="http://schemas.openxmlformats.org/officeDocument/2006/relationships/tags" Target="../tags/tag236.xml"/><Relationship Id="rId6" Type="http://schemas.openxmlformats.org/officeDocument/2006/relationships/tags" Target="../tags/tag235.xml"/><Relationship Id="rId5" Type="http://schemas.openxmlformats.org/officeDocument/2006/relationships/image" Target="../media/image8.png"/><Relationship Id="rId4" Type="http://schemas.openxmlformats.org/officeDocument/2006/relationships/tags" Target="../tags/tag234.xml"/><Relationship Id="rId3" Type="http://schemas.openxmlformats.org/officeDocument/2006/relationships/tags" Target="../tags/tag233.xml"/><Relationship Id="rId2" Type="http://schemas.openxmlformats.org/officeDocument/2006/relationships/tags" Target="../tags/tag232.xml"/><Relationship Id="rId10" Type="http://schemas.openxmlformats.org/officeDocument/2006/relationships/slideLayout" Target="../slideLayouts/slideLayout3.xml"/><Relationship Id="rId1" Type="http://schemas.openxmlformats.org/officeDocument/2006/relationships/tags" Target="../tags/tag231.xml"/></Relationships>
</file>

<file path=ppt/slides/_rels/slide17.xml.rels><?xml version="1.0" encoding="UTF-8" standalone="yes"?>
<Relationships xmlns="http://schemas.openxmlformats.org/package/2006/relationships"><Relationship Id="rId9" Type="http://schemas.openxmlformats.org/officeDocument/2006/relationships/tags" Target="../tags/tag247.xml"/><Relationship Id="rId8" Type="http://schemas.openxmlformats.org/officeDocument/2006/relationships/tags" Target="../tags/tag246.xml"/><Relationship Id="rId7" Type="http://schemas.openxmlformats.org/officeDocument/2006/relationships/tags" Target="../tags/tag245.xml"/><Relationship Id="rId6" Type="http://schemas.openxmlformats.org/officeDocument/2006/relationships/tags" Target="../tags/tag244.xml"/><Relationship Id="rId5" Type="http://schemas.openxmlformats.org/officeDocument/2006/relationships/tags" Target="../tags/tag243.xml"/><Relationship Id="rId4" Type="http://schemas.openxmlformats.org/officeDocument/2006/relationships/tags" Target="../tags/tag242.xml"/><Relationship Id="rId3" Type="http://schemas.openxmlformats.org/officeDocument/2006/relationships/tags" Target="../tags/tag241.xml"/><Relationship Id="rId2" Type="http://schemas.openxmlformats.org/officeDocument/2006/relationships/tags" Target="../tags/tag240.xml"/><Relationship Id="rId19" Type="http://schemas.openxmlformats.org/officeDocument/2006/relationships/notesSlide" Target="../notesSlides/notesSlide1.xml"/><Relationship Id="rId18" Type="http://schemas.openxmlformats.org/officeDocument/2006/relationships/slideLayout" Target="../slideLayouts/slideLayout3.xml"/><Relationship Id="rId17" Type="http://schemas.openxmlformats.org/officeDocument/2006/relationships/tags" Target="../tags/tag255.xml"/><Relationship Id="rId16" Type="http://schemas.openxmlformats.org/officeDocument/2006/relationships/tags" Target="../tags/tag254.xml"/><Relationship Id="rId15" Type="http://schemas.openxmlformats.org/officeDocument/2006/relationships/tags" Target="../tags/tag253.xml"/><Relationship Id="rId14" Type="http://schemas.openxmlformats.org/officeDocument/2006/relationships/tags" Target="../tags/tag252.xml"/><Relationship Id="rId13" Type="http://schemas.openxmlformats.org/officeDocument/2006/relationships/tags" Target="../tags/tag251.xml"/><Relationship Id="rId12" Type="http://schemas.openxmlformats.org/officeDocument/2006/relationships/tags" Target="../tags/tag250.xml"/><Relationship Id="rId11" Type="http://schemas.openxmlformats.org/officeDocument/2006/relationships/tags" Target="../tags/tag249.xml"/><Relationship Id="rId10" Type="http://schemas.openxmlformats.org/officeDocument/2006/relationships/tags" Target="../tags/tag248.xml"/><Relationship Id="rId1" Type="http://schemas.openxmlformats.org/officeDocument/2006/relationships/tags" Target="../tags/tag239.xml"/></Relationships>
</file>

<file path=ppt/slides/_rels/slide18.xml.rels><?xml version="1.0" encoding="UTF-8" standalone="yes"?>
<Relationships xmlns="http://schemas.openxmlformats.org/package/2006/relationships"><Relationship Id="rId9" Type="http://schemas.openxmlformats.org/officeDocument/2006/relationships/tags" Target="../tags/tag263.xml"/><Relationship Id="rId8" Type="http://schemas.openxmlformats.org/officeDocument/2006/relationships/tags" Target="../tags/tag262.xml"/><Relationship Id="rId7" Type="http://schemas.openxmlformats.org/officeDocument/2006/relationships/tags" Target="../tags/tag261.xml"/><Relationship Id="rId6" Type="http://schemas.openxmlformats.org/officeDocument/2006/relationships/image" Target="../media/image11.png"/><Relationship Id="rId5" Type="http://schemas.openxmlformats.org/officeDocument/2006/relationships/tags" Target="../tags/tag260.xml"/><Relationship Id="rId4" Type="http://schemas.openxmlformats.org/officeDocument/2006/relationships/image" Target="../media/image10.png"/><Relationship Id="rId3" Type="http://schemas.openxmlformats.org/officeDocument/2006/relationships/tags" Target="../tags/tag259.xml"/><Relationship Id="rId2" Type="http://schemas.openxmlformats.org/officeDocument/2006/relationships/image" Target="../media/image9.png"/><Relationship Id="rId11" Type="http://schemas.openxmlformats.org/officeDocument/2006/relationships/slideLayout" Target="../slideLayouts/slideLayout3.xml"/><Relationship Id="rId10" Type="http://schemas.openxmlformats.org/officeDocument/2006/relationships/tags" Target="../tags/tag264.xml"/><Relationship Id="rId1" Type="http://schemas.openxmlformats.org/officeDocument/2006/relationships/tags" Target="../tags/tag258.xml"/></Relationships>
</file>

<file path=ppt/slides/_rels/slide19.xml.rels><?xml version="1.0" encoding="UTF-8" standalone="yes"?>
<Relationships xmlns="http://schemas.openxmlformats.org/package/2006/relationships"><Relationship Id="rId9" Type="http://schemas.openxmlformats.org/officeDocument/2006/relationships/tags" Target="../tags/tag272.xml"/><Relationship Id="rId8" Type="http://schemas.openxmlformats.org/officeDocument/2006/relationships/tags" Target="../tags/tag271.xml"/><Relationship Id="rId7" Type="http://schemas.openxmlformats.org/officeDocument/2006/relationships/tags" Target="../tags/tag270.xml"/><Relationship Id="rId6" Type="http://schemas.openxmlformats.org/officeDocument/2006/relationships/tags" Target="../tags/tag269.xml"/><Relationship Id="rId5" Type="http://schemas.openxmlformats.org/officeDocument/2006/relationships/tags" Target="../tags/tag268.xml"/><Relationship Id="rId4" Type="http://schemas.openxmlformats.org/officeDocument/2006/relationships/image" Target="../media/image12.png"/><Relationship Id="rId3" Type="http://schemas.openxmlformats.org/officeDocument/2006/relationships/tags" Target="../tags/tag267.xml"/><Relationship Id="rId25" Type="http://schemas.openxmlformats.org/officeDocument/2006/relationships/slideLayout" Target="../slideLayouts/slideLayout3.xml"/><Relationship Id="rId24" Type="http://schemas.openxmlformats.org/officeDocument/2006/relationships/tags" Target="../tags/tag287.xml"/><Relationship Id="rId23" Type="http://schemas.openxmlformats.org/officeDocument/2006/relationships/tags" Target="../tags/tag286.xml"/><Relationship Id="rId22" Type="http://schemas.openxmlformats.org/officeDocument/2006/relationships/tags" Target="../tags/tag285.xml"/><Relationship Id="rId21" Type="http://schemas.openxmlformats.org/officeDocument/2006/relationships/tags" Target="../tags/tag284.xml"/><Relationship Id="rId20" Type="http://schemas.openxmlformats.org/officeDocument/2006/relationships/tags" Target="../tags/tag283.xml"/><Relationship Id="rId2" Type="http://schemas.openxmlformats.org/officeDocument/2006/relationships/tags" Target="../tags/tag266.xml"/><Relationship Id="rId19" Type="http://schemas.openxmlformats.org/officeDocument/2006/relationships/tags" Target="../tags/tag282.xml"/><Relationship Id="rId18" Type="http://schemas.openxmlformats.org/officeDocument/2006/relationships/tags" Target="../tags/tag281.xml"/><Relationship Id="rId17" Type="http://schemas.openxmlformats.org/officeDocument/2006/relationships/tags" Target="../tags/tag280.xml"/><Relationship Id="rId16" Type="http://schemas.openxmlformats.org/officeDocument/2006/relationships/tags" Target="../tags/tag279.xml"/><Relationship Id="rId15" Type="http://schemas.openxmlformats.org/officeDocument/2006/relationships/tags" Target="../tags/tag278.xml"/><Relationship Id="rId14" Type="http://schemas.openxmlformats.org/officeDocument/2006/relationships/tags" Target="../tags/tag277.xml"/><Relationship Id="rId13" Type="http://schemas.openxmlformats.org/officeDocument/2006/relationships/tags" Target="../tags/tag276.xml"/><Relationship Id="rId12" Type="http://schemas.openxmlformats.org/officeDocument/2006/relationships/tags" Target="../tags/tag275.xml"/><Relationship Id="rId11" Type="http://schemas.openxmlformats.org/officeDocument/2006/relationships/tags" Target="../tags/tag274.xml"/><Relationship Id="rId10" Type="http://schemas.openxmlformats.org/officeDocument/2006/relationships/tags" Target="../tags/tag273.xml"/><Relationship Id="rId1" Type="http://schemas.openxmlformats.org/officeDocument/2006/relationships/tags" Target="../tags/tag265.xml"/></Relationships>
</file>

<file path=ppt/slides/_rels/slide20.xml.rels><?xml version="1.0" encoding="UTF-8" standalone="yes"?>
<Relationships xmlns="http://schemas.openxmlformats.org/package/2006/relationships"><Relationship Id="rId9" Type="http://schemas.openxmlformats.org/officeDocument/2006/relationships/tags" Target="../tags/tag295.xml"/><Relationship Id="rId8" Type="http://schemas.openxmlformats.org/officeDocument/2006/relationships/tags" Target="../tags/tag294.xml"/><Relationship Id="rId7" Type="http://schemas.openxmlformats.org/officeDocument/2006/relationships/tags" Target="../tags/tag293.xml"/><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image" Target="../media/image12.png"/><Relationship Id="rId3" Type="http://schemas.openxmlformats.org/officeDocument/2006/relationships/tags" Target="../tags/tag290.xml"/><Relationship Id="rId2" Type="http://schemas.openxmlformats.org/officeDocument/2006/relationships/tags" Target="../tags/tag289.xml"/><Relationship Id="rId12" Type="http://schemas.openxmlformats.org/officeDocument/2006/relationships/slideLayout" Target="../slideLayouts/slideLayout3.xml"/><Relationship Id="rId11" Type="http://schemas.openxmlformats.org/officeDocument/2006/relationships/tags" Target="../tags/tag297.xml"/><Relationship Id="rId10" Type="http://schemas.openxmlformats.org/officeDocument/2006/relationships/tags" Target="../tags/tag296.xml"/><Relationship Id="rId1" Type="http://schemas.openxmlformats.org/officeDocument/2006/relationships/tags" Target="../tags/tag288.xml"/></Relationships>
</file>

<file path=ppt/slides/_rels/slide21.xml.rels><?xml version="1.0" encoding="UTF-8" standalone="yes"?>
<Relationships xmlns="http://schemas.openxmlformats.org/package/2006/relationships"><Relationship Id="rId9" Type="http://schemas.openxmlformats.org/officeDocument/2006/relationships/tags" Target="../tags/tag306.xml"/><Relationship Id="rId8" Type="http://schemas.openxmlformats.org/officeDocument/2006/relationships/tags" Target="../tags/tag305.xml"/><Relationship Id="rId7" Type="http://schemas.openxmlformats.org/officeDocument/2006/relationships/tags" Target="../tags/tag304.xml"/><Relationship Id="rId6" Type="http://schemas.openxmlformats.org/officeDocument/2006/relationships/tags" Target="../tags/tag303.xml"/><Relationship Id="rId5" Type="http://schemas.openxmlformats.org/officeDocument/2006/relationships/tags" Target="../tags/tag302.xml"/><Relationship Id="rId4" Type="http://schemas.openxmlformats.org/officeDocument/2006/relationships/tags" Target="../tags/tag301.xml"/><Relationship Id="rId3" Type="http://schemas.openxmlformats.org/officeDocument/2006/relationships/tags" Target="../tags/tag300.xml"/><Relationship Id="rId2" Type="http://schemas.openxmlformats.org/officeDocument/2006/relationships/tags" Target="../tags/tag299.xml"/><Relationship Id="rId19" Type="http://schemas.openxmlformats.org/officeDocument/2006/relationships/notesSlide" Target="../notesSlides/notesSlide2.xml"/><Relationship Id="rId18" Type="http://schemas.openxmlformats.org/officeDocument/2006/relationships/slideLayout" Target="../slideLayouts/slideLayout3.xml"/><Relationship Id="rId17" Type="http://schemas.openxmlformats.org/officeDocument/2006/relationships/tags" Target="../tags/tag314.xml"/><Relationship Id="rId16" Type="http://schemas.openxmlformats.org/officeDocument/2006/relationships/tags" Target="../tags/tag313.xml"/><Relationship Id="rId15" Type="http://schemas.openxmlformats.org/officeDocument/2006/relationships/tags" Target="../tags/tag312.xml"/><Relationship Id="rId14" Type="http://schemas.openxmlformats.org/officeDocument/2006/relationships/tags" Target="../tags/tag311.xml"/><Relationship Id="rId13" Type="http://schemas.openxmlformats.org/officeDocument/2006/relationships/tags" Target="../tags/tag310.xml"/><Relationship Id="rId12" Type="http://schemas.openxmlformats.org/officeDocument/2006/relationships/tags" Target="../tags/tag309.xml"/><Relationship Id="rId11" Type="http://schemas.openxmlformats.org/officeDocument/2006/relationships/tags" Target="../tags/tag308.xml"/><Relationship Id="rId10" Type="http://schemas.openxmlformats.org/officeDocument/2006/relationships/tags" Target="../tags/tag307.xml"/><Relationship Id="rId1" Type="http://schemas.openxmlformats.org/officeDocument/2006/relationships/tags" Target="../tags/tag298.xml"/></Relationships>
</file>

<file path=ppt/slides/_rels/slide22.xml.rels><?xml version="1.0" encoding="UTF-8" standalone="yes"?>
<Relationships xmlns="http://schemas.openxmlformats.org/package/2006/relationships"><Relationship Id="rId9" Type="http://schemas.openxmlformats.org/officeDocument/2006/relationships/tags" Target="../tags/tag324.xml"/><Relationship Id="rId8" Type="http://schemas.openxmlformats.org/officeDocument/2006/relationships/tags" Target="../tags/tag323.xml"/><Relationship Id="rId7" Type="http://schemas.openxmlformats.org/officeDocument/2006/relationships/tags" Target="../tags/tag322.xml"/><Relationship Id="rId6" Type="http://schemas.openxmlformats.org/officeDocument/2006/relationships/tags" Target="../tags/tag321.xml"/><Relationship Id="rId5" Type="http://schemas.openxmlformats.org/officeDocument/2006/relationships/image" Target="../media/image13.png"/><Relationship Id="rId4" Type="http://schemas.openxmlformats.org/officeDocument/2006/relationships/tags" Target="../tags/tag320.xml"/><Relationship Id="rId3" Type="http://schemas.openxmlformats.org/officeDocument/2006/relationships/tags" Target="../tags/tag319.xml"/><Relationship Id="rId2" Type="http://schemas.openxmlformats.org/officeDocument/2006/relationships/tags" Target="../tags/tag318.xml"/><Relationship Id="rId10" Type="http://schemas.openxmlformats.org/officeDocument/2006/relationships/slideLayout" Target="../slideLayouts/slideLayout3.xml"/><Relationship Id="rId1" Type="http://schemas.openxmlformats.org/officeDocument/2006/relationships/tags" Target="../tags/tag317.xml"/></Relationships>
</file>

<file path=ppt/slides/_rels/slide23.xml.rels><?xml version="1.0" encoding="UTF-8" standalone="yes"?>
<Relationships xmlns="http://schemas.openxmlformats.org/package/2006/relationships"><Relationship Id="rId9" Type="http://schemas.openxmlformats.org/officeDocument/2006/relationships/tags" Target="../tags/tag332.xml"/><Relationship Id="rId8" Type="http://schemas.openxmlformats.org/officeDocument/2006/relationships/tags" Target="../tags/tag331.xml"/><Relationship Id="rId7" Type="http://schemas.openxmlformats.org/officeDocument/2006/relationships/tags" Target="../tags/tag330.xml"/><Relationship Id="rId6" Type="http://schemas.openxmlformats.org/officeDocument/2006/relationships/tags" Target="../tags/tag329.xml"/><Relationship Id="rId5" Type="http://schemas.openxmlformats.org/officeDocument/2006/relationships/image" Target="../media/image13.png"/><Relationship Id="rId4" Type="http://schemas.openxmlformats.org/officeDocument/2006/relationships/tags" Target="../tags/tag328.xml"/><Relationship Id="rId3" Type="http://schemas.openxmlformats.org/officeDocument/2006/relationships/tags" Target="../tags/tag327.xml"/><Relationship Id="rId2" Type="http://schemas.openxmlformats.org/officeDocument/2006/relationships/tags" Target="../tags/tag326.xml"/><Relationship Id="rId10" Type="http://schemas.openxmlformats.org/officeDocument/2006/relationships/slideLayout" Target="../slideLayouts/slideLayout3.xml"/><Relationship Id="rId1" Type="http://schemas.openxmlformats.org/officeDocument/2006/relationships/tags" Target="../tags/tag325.xml"/></Relationships>
</file>

<file path=ppt/slides/_rels/slide24.xml.rels><?xml version="1.0" encoding="UTF-8" standalone="yes"?>
<Relationships xmlns="http://schemas.openxmlformats.org/package/2006/relationships"><Relationship Id="rId9" Type="http://schemas.openxmlformats.org/officeDocument/2006/relationships/tags" Target="../tags/tag340.xml"/><Relationship Id="rId8" Type="http://schemas.openxmlformats.org/officeDocument/2006/relationships/tags" Target="../tags/tag339.xml"/><Relationship Id="rId7" Type="http://schemas.openxmlformats.org/officeDocument/2006/relationships/tags" Target="../tags/tag338.xml"/><Relationship Id="rId6" Type="http://schemas.openxmlformats.org/officeDocument/2006/relationships/tags" Target="../tags/tag337.xml"/><Relationship Id="rId5" Type="http://schemas.openxmlformats.org/officeDocument/2006/relationships/image" Target="../media/image13.png"/><Relationship Id="rId4" Type="http://schemas.openxmlformats.org/officeDocument/2006/relationships/tags" Target="../tags/tag336.xml"/><Relationship Id="rId3" Type="http://schemas.openxmlformats.org/officeDocument/2006/relationships/tags" Target="../tags/tag335.xml"/><Relationship Id="rId2" Type="http://schemas.openxmlformats.org/officeDocument/2006/relationships/tags" Target="../tags/tag334.xml"/><Relationship Id="rId10" Type="http://schemas.openxmlformats.org/officeDocument/2006/relationships/slideLayout" Target="../slideLayouts/slideLayout3.xml"/><Relationship Id="rId1" Type="http://schemas.openxmlformats.org/officeDocument/2006/relationships/tags" Target="../tags/tag333.xml"/></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346.xml"/><Relationship Id="rId7" Type="http://schemas.openxmlformats.org/officeDocument/2006/relationships/tags" Target="../tags/tag345.xml"/><Relationship Id="rId6" Type="http://schemas.openxmlformats.org/officeDocument/2006/relationships/tags" Target="../tags/tag344.xml"/><Relationship Id="rId5" Type="http://schemas.openxmlformats.org/officeDocument/2006/relationships/image" Target="../media/image15.jpeg"/><Relationship Id="rId4" Type="http://schemas.openxmlformats.org/officeDocument/2006/relationships/tags" Target="../tags/tag343.xml"/><Relationship Id="rId3" Type="http://schemas.openxmlformats.org/officeDocument/2006/relationships/image" Target="../media/image14.jpeg"/><Relationship Id="rId2" Type="http://schemas.openxmlformats.org/officeDocument/2006/relationships/tags" Target="../tags/tag342.xml"/><Relationship Id="rId1" Type="http://schemas.openxmlformats.org/officeDocument/2006/relationships/tags" Target="../tags/tag341.xml"/></Relationships>
</file>

<file path=ppt/slides/_rels/slide26.xml.rels><?xml version="1.0" encoding="UTF-8" standalone="yes"?>
<Relationships xmlns="http://schemas.openxmlformats.org/package/2006/relationships"><Relationship Id="rId9" Type="http://schemas.openxmlformats.org/officeDocument/2006/relationships/tags" Target="../tags/tag353.xml"/><Relationship Id="rId8" Type="http://schemas.openxmlformats.org/officeDocument/2006/relationships/tags" Target="../tags/tag352.xml"/><Relationship Id="rId7" Type="http://schemas.openxmlformats.org/officeDocument/2006/relationships/tags" Target="../tags/tag351.xml"/><Relationship Id="rId6" Type="http://schemas.openxmlformats.org/officeDocument/2006/relationships/image" Target="../media/image17.png"/><Relationship Id="rId5" Type="http://schemas.openxmlformats.org/officeDocument/2006/relationships/tags" Target="../tags/tag350.xml"/><Relationship Id="rId4" Type="http://schemas.openxmlformats.org/officeDocument/2006/relationships/image" Target="../media/image16.jpeg"/><Relationship Id="rId3" Type="http://schemas.openxmlformats.org/officeDocument/2006/relationships/tags" Target="../tags/tag349.xml"/><Relationship Id="rId2" Type="http://schemas.openxmlformats.org/officeDocument/2006/relationships/tags" Target="../tags/tag348.xml"/><Relationship Id="rId10" Type="http://schemas.openxmlformats.org/officeDocument/2006/relationships/slideLayout" Target="../slideLayouts/slideLayout3.xml"/><Relationship Id="rId1" Type="http://schemas.openxmlformats.org/officeDocument/2006/relationships/tags" Target="../tags/tag347.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357.xml"/><Relationship Id="rId3" Type="http://schemas.openxmlformats.org/officeDocument/2006/relationships/tags" Target="../tags/tag356.xml"/><Relationship Id="rId2" Type="http://schemas.openxmlformats.org/officeDocument/2006/relationships/tags" Target="../tags/tag355.xml"/><Relationship Id="rId1" Type="http://schemas.openxmlformats.org/officeDocument/2006/relationships/tags" Target="../tags/tag354.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360.xml"/><Relationship Id="rId2" Type="http://schemas.openxmlformats.org/officeDocument/2006/relationships/tags" Target="../tags/tag359.xml"/><Relationship Id="rId1" Type="http://schemas.openxmlformats.org/officeDocument/2006/relationships/tags" Target="../tags/tag3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custDataLst>
              <p:tags r:id="rId2"/>
            </p:custDataLst>
          </p:nvPr>
        </p:nvSpPr>
        <p:spPr>
          <a:xfrm>
            <a:off x="371475" y="110617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1 锢囚锋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custDataLst>
              <p:tags r:id="rId3"/>
            </p:custDataLst>
          </p:nvPr>
        </p:nvSpPr>
        <p:spPr>
          <a:xfrm>
            <a:off x="329248" y="1628140"/>
            <a:ext cx="11533505" cy="1106805"/>
          </a:xfrm>
          <a:prstGeom prst="rect">
            <a:avLst/>
          </a:prstGeom>
          <a:noFill/>
          <a:ln w="9525">
            <a:noFill/>
          </a:ln>
        </p:spPr>
        <p:txBody>
          <a:bodyPr wrap="square">
            <a:spAutoFit/>
          </a:bodyPr>
          <a:lstStyle/>
          <a:p>
            <a:pPr indent="355600"/>
            <a:r>
              <a:rPr lang="zh-CN" sz="2200" b="0">
                <a:latin typeface="楷体" panose="02010609060101010101" charset="-122"/>
                <a:ea typeface="楷体" panose="02010609060101010101" charset="-122"/>
                <a:cs typeface="楷体" panose="02010609060101010101" charset="-122"/>
              </a:rPr>
              <a:t>锢囚锋是由冷锋追上暖锋或由两支冷锋迎面相遇，将锋前的暖气团抬离地面，近地面由原来的两个锋面合并后形成的新锋面，叫锢囚锋。下图示意甲地附近某次锢囚锋形成过程及当时该地区海平面气压分布。完成下面小题。</a:t>
            </a:r>
            <a:endParaRPr lang="zh-CN" sz="2200" b="0">
              <a:latin typeface="楷体" panose="02010609060101010101" charset="-122"/>
              <a:ea typeface="楷体" panose="02010609060101010101" charset="-122"/>
              <a:cs typeface="楷体" panose="02010609060101010101" charset="-122"/>
            </a:endParaRPr>
          </a:p>
        </p:txBody>
      </p:sp>
      <p:pic>
        <p:nvPicPr>
          <p:cNvPr id="100003" name="图片 100003"/>
          <p:cNvPicPr>
            <a:picLocks noChangeAspect="1"/>
          </p:cNvPicPr>
          <p:nvPr>
            <p:custDataLst>
              <p:tags r:id="rId4"/>
            </p:custDataLst>
          </p:nvPr>
        </p:nvPicPr>
        <p:blipFill>
          <a:blip r:embed="rId5"/>
          <a:stretch>
            <a:fillRect/>
          </a:stretch>
        </p:blipFill>
        <p:spPr>
          <a:xfrm>
            <a:off x="329565" y="2850515"/>
            <a:ext cx="6550660" cy="2372360"/>
          </a:xfrm>
          <a:prstGeom prst="rect">
            <a:avLst/>
          </a:prstGeom>
        </p:spPr>
      </p:pic>
      <p:sp>
        <p:nvSpPr>
          <p:cNvPr id="9" name="文本框 8"/>
          <p:cNvSpPr txBox="1"/>
          <p:nvPr>
            <p:custDataLst>
              <p:tags r:id="rId6"/>
            </p:custDataLst>
          </p:nvPr>
        </p:nvSpPr>
        <p:spPr>
          <a:xfrm>
            <a:off x="7331075" y="2524125"/>
            <a:ext cx="4531995" cy="2749550"/>
          </a:xfrm>
          <a:prstGeom prst="rect">
            <a:avLst/>
          </a:prstGeom>
          <a:noFill/>
          <a:ln w="9525">
            <a:noFill/>
          </a:ln>
        </p:spPr>
        <p:txBody>
          <a:bodyPr wrap="square">
            <a:spAutoFit/>
          </a:bodyPr>
          <a:lstStyle/>
          <a:p>
            <a:pPr indent="0">
              <a:lnSpc>
                <a:spcPct val="120000"/>
              </a:lnSpc>
            </a:pPr>
            <a:r>
              <a:rPr lang="en-US" altLang="zh-CN" sz="2400" b="0">
                <a:latin typeface="微软雅黑" panose="020B0503020204020204" charset="-122"/>
                <a:ea typeface="微软雅黑" panose="020B0503020204020204" charset="-122"/>
                <a:cs typeface="微软雅黑" panose="020B0503020204020204" charset="-122"/>
              </a:rPr>
              <a:t>2．下列叙述最能说明甲处该时段天气特点的是（       ）A．阴雨连绵无晴天	
</a:t>
            </a:r>
            <a:endParaRPr lang="en-US" altLang="zh-CN" sz="2400" b="0">
              <a:latin typeface="微软雅黑" panose="020B0503020204020204" charset="-122"/>
              <a:ea typeface="微软雅黑" panose="020B0503020204020204" charset="-122"/>
              <a:cs typeface="微软雅黑" panose="020B0503020204020204" charset="-122"/>
            </a:endParaRPr>
          </a:p>
          <a:p>
            <a:pPr indent="0">
              <a:lnSpc>
                <a:spcPct val="120000"/>
              </a:lnSpc>
            </a:pPr>
            <a:r>
              <a:rPr lang="en-US" altLang="zh-CN" sz="2400" b="0">
                <a:latin typeface="微软雅黑" panose="020B0503020204020204" charset="-122"/>
                <a:ea typeface="微软雅黑" panose="020B0503020204020204" charset="-122"/>
                <a:cs typeface="微软雅黑" panose="020B0503020204020204" charset="-122"/>
              </a:rPr>
              <a:t>B．风和日丽冰雪寒	</a:t>
            </a:r>
            <a:endParaRPr lang="en-US" altLang="zh-CN" sz="2400" b="0">
              <a:latin typeface="微软雅黑" panose="020B0503020204020204" charset="-122"/>
              <a:ea typeface="微软雅黑" panose="020B0503020204020204" charset="-122"/>
              <a:cs typeface="微软雅黑" panose="020B0503020204020204" charset="-122"/>
            </a:endParaRPr>
          </a:p>
          <a:p>
            <a:pPr indent="0">
              <a:lnSpc>
                <a:spcPct val="120000"/>
              </a:lnSpc>
            </a:pPr>
            <a:r>
              <a:rPr lang="en-US" altLang="zh-CN" sz="2400" b="0">
                <a:latin typeface="微软雅黑" panose="020B0503020204020204" charset="-122"/>
                <a:ea typeface="微软雅黑" panose="020B0503020204020204" charset="-122"/>
                <a:cs typeface="微软雅黑" panose="020B0503020204020204" charset="-122"/>
              </a:rPr>
              <a:t>C．狂风暴雨秋意浓	</a:t>
            </a:r>
            <a:endParaRPr lang="en-US" altLang="zh-CN" sz="2400" b="0">
              <a:latin typeface="微软雅黑" panose="020B0503020204020204" charset="-122"/>
              <a:ea typeface="微软雅黑" panose="020B0503020204020204" charset="-122"/>
              <a:cs typeface="微软雅黑" panose="020B0503020204020204" charset="-122"/>
            </a:endParaRPr>
          </a:p>
          <a:p>
            <a:pPr indent="0">
              <a:lnSpc>
                <a:spcPct val="120000"/>
              </a:lnSpc>
            </a:pPr>
            <a:r>
              <a:rPr lang="en-US" altLang="zh-CN" sz="2400" b="0">
                <a:latin typeface="微软雅黑" panose="020B0503020204020204" charset="-122"/>
                <a:ea typeface="微软雅黑" panose="020B0503020204020204" charset="-122"/>
                <a:cs typeface="微软雅黑" panose="020B0503020204020204" charset="-122"/>
              </a:rPr>
              <a:t>D．晴空艳阳春风暖</a:t>
            </a:r>
            <a:endParaRPr lang="en-US" altLang="zh-CN" sz="2400" b="0">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7"/>
            </p:custDataLst>
          </p:nvPr>
        </p:nvSpPr>
        <p:spPr>
          <a:xfrm>
            <a:off x="329248" y="5291455"/>
            <a:ext cx="11533505" cy="1322705"/>
          </a:xfrm>
          <a:prstGeom prst="rect">
            <a:avLst/>
          </a:prstGeom>
          <a:solidFill>
            <a:schemeClr val="bg1"/>
          </a:solidFill>
          <a:ln>
            <a:solidFill>
              <a:srgbClr val="0070C0"/>
            </a:solidFill>
            <a:prstDash val="dash"/>
          </a:ln>
        </p:spPr>
        <p:txBody>
          <a:bodyPr wrap="square" rtlCol="0" anchor="t">
            <a:noAutofit/>
          </a:bodyPr>
          <a:lstStyle/>
          <a:p>
            <a:pPr lvl="0" algn="l">
              <a:buClrTx/>
              <a:buSzTx/>
              <a:buFontTx/>
            </a:pPr>
            <a:r>
              <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rPr>
              <a:t>【解析】2．锢囚锋锋线两侧都为冷气团，分别是原先冷锋后面的冷气团和暖锋前面冷气团，暖气团被抬离地面，锢囚在高空，近地面冷气团的上方。锢囚锋具有冷暖锋的特点，锋面过境时，两侧均为降水区，先是暖锋云系和连续性降水，而后转为冷锋云系和阵性降水。因此甲处此时以降雨天气为主，BD错误。秋季气温较高，冷气团势力弱，不易形成锢囚锋，因此C选项错误，故选A。</a:t>
            </a:r>
            <a:endPar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endParaRPr>
          </a:p>
        </p:txBody>
      </p:sp>
      <p:sp>
        <p:nvSpPr>
          <p:cNvPr id="29" name="矩形 28"/>
          <p:cNvSpPr/>
          <p:nvPr>
            <p:custDataLst>
              <p:tags r:id="rId8"/>
            </p:custDataLst>
          </p:nvPr>
        </p:nvSpPr>
        <p:spPr>
          <a:xfrm>
            <a:off x="9824085" y="2734945"/>
            <a:ext cx="733425" cy="1014730"/>
          </a:xfrm>
          <a:prstGeom prst="rect">
            <a:avLst/>
          </a:prstGeom>
          <a:noFill/>
          <a:ln>
            <a:noFill/>
          </a:ln>
        </p:spPr>
        <p:txBody>
          <a:bodyPr wrap="square" rtlCol="0" anchor="t">
            <a:spAutoFit/>
            <a:scene3d>
              <a:camera prst="orthographicFront"/>
              <a:lightRig rig="soft" dir="t">
                <a:rot lat="0" lon="0" rev="15600000"/>
              </a:lightRig>
            </a:scene3d>
            <a:sp3d extrusionH="57150" prstMaterial="softEdge">
              <a:bevelT w="25400" h="38100"/>
            </a:sp3d>
          </a:bodyPr>
          <a:lstStyle/>
          <a:p>
            <a:pPr algn="ctr"/>
            <a:r>
              <a:rPr lang="en-US" altLang="zh-CN" sz="6000" b="1">
                <a:solidFill>
                  <a:srgbClr val="FF0000"/>
                </a:solidFill>
                <a:effectLst/>
                <a:latin typeface="Arial" panose="020B0604020202020204" pitchFamily="34" charset="0"/>
                <a:ea typeface="微软雅黑" panose="020B0503020204020204" charset="-122"/>
                <a:cs typeface="Arial" panose="020B0604020202020204" pitchFamily="34" charset="0"/>
              </a:rPr>
              <a:t>A</a:t>
            </a:r>
            <a:endParaRPr lang="en-US" altLang="zh-CN" sz="6000" b="1">
              <a:solidFill>
                <a:srgbClr val="FF0000"/>
              </a:solidFill>
              <a:effectLst/>
              <a:latin typeface="Arial" panose="020B0604020202020204" pitchFamily="34" charset="0"/>
              <a:ea typeface="微软雅黑" panose="020B0503020204020204" charset="-122"/>
              <a:cs typeface="Arial" panose="020B0604020202020204" pitchFamily="34" charset="0"/>
            </a:endParaRPr>
          </a:p>
        </p:txBody>
      </p:sp>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4"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a:off x="516573" y="1678940"/>
            <a:ext cx="11158855" cy="1651635"/>
          </a:xfrm>
          <a:prstGeom prst="rect">
            <a:avLst/>
          </a:prstGeom>
          <a:solidFill>
            <a:schemeClr val="accent1">
              <a:lumMod val="20000"/>
              <a:lumOff val="80000"/>
            </a:schemeClr>
          </a:solidFill>
          <a:ln>
            <a:solidFill>
              <a:schemeClr val="tx1"/>
            </a:solidFill>
            <a:prstDash val="dash"/>
          </a:ln>
        </p:spPr>
        <p:txBody>
          <a:bodyPr wrap="square">
            <a:noAutofit/>
          </a:bodyPr>
          <a:lstStyle>
            <a:defPPr>
              <a:defRPr lang="zh-CN"/>
            </a:defPPr>
            <a:lvl1pPr indent="0">
              <a:lnSpc>
                <a:spcPct val="150000"/>
              </a:lnSpc>
              <a:buFont typeface="Arial" panose="020B0604020202020204" pitchFamily="34" charset="0"/>
              <a:buNone/>
              <a:tabLst>
                <a:tab pos="2070735" algn="l"/>
              </a:tabLst>
              <a:defRPr sz="2400" kern="100">
                <a:effectLst/>
                <a:latin typeface="Times New Roman" panose="02020603050405020304" charset="0"/>
                <a:ea typeface="+mj-ea"/>
                <a:cs typeface="Times New Roman" panose="02020603050405020304" charset="0"/>
              </a:defRPr>
            </a:lvl1pPr>
          </a:lstStyle>
          <a:p>
            <a:pPr marL="342900" lvl="0" indent="-342900" algn="just" defTabSz="914400">
              <a:lnSpc>
                <a:spcPct val="140000"/>
              </a:lnSpc>
              <a:buClrTx/>
              <a:buSzTx/>
              <a:buFont typeface="Wingdings" panose="05000000000000000000" pitchFamily="2" charset="2"/>
              <a:buChar char="Ø"/>
              <a:defRPr/>
            </a:pPr>
            <a:r>
              <a:rPr lang="zh-CN" kern="1200">
                <a:latin typeface="微软雅黑" panose="020B0503020204020204" charset="-122"/>
                <a:ea typeface="微软雅黑" panose="020B0503020204020204" charset="-122"/>
                <a:cs typeface="+mn-cs"/>
                <a:sym typeface="+mn-ea"/>
              </a:rPr>
              <a:t>在锋面气旋中，由于冷气团移动较快，暖气团移动较慢，所以</a:t>
            </a:r>
            <a:r>
              <a:rPr lang="zh-CN" b="1" kern="1200">
                <a:solidFill>
                  <a:srgbClr val="0026E5"/>
                </a:solidFill>
                <a:latin typeface="微软雅黑" panose="020B0503020204020204" charset="-122"/>
                <a:ea typeface="微软雅黑" panose="020B0503020204020204" charset="-122"/>
                <a:cs typeface="+mn-cs"/>
                <a:sym typeface="+mn-ea"/>
              </a:rPr>
              <a:t>锋面气旋中的冷锋终将追上暖锋</a:t>
            </a:r>
            <a:r>
              <a:rPr lang="zh-CN" kern="1200">
                <a:latin typeface="微软雅黑" panose="020B0503020204020204" charset="-122"/>
                <a:ea typeface="微软雅黑" panose="020B0503020204020204" charset="-122"/>
                <a:cs typeface="+mn-cs"/>
                <a:sym typeface="+mn-ea"/>
              </a:rPr>
              <a:t>，最后冷锋与暖锋相叠，</a:t>
            </a:r>
            <a:r>
              <a:rPr lang="zh-CN" b="1" kern="1200">
                <a:solidFill>
                  <a:srgbClr val="0026E5"/>
                </a:solidFill>
                <a:latin typeface="微软雅黑" panose="020B0503020204020204" charset="-122"/>
                <a:ea typeface="微软雅黑" panose="020B0503020204020204" charset="-122"/>
                <a:cs typeface="+mn-cs"/>
                <a:sym typeface="+mn-ea"/>
              </a:rPr>
              <a:t>将地面的暖空气全部举升至空中</a:t>
            </a:r>
            <a:r>
              <a:rPr lang="zh-CN" kern="1200">
                <a:latin typeface="微软雅黑" panose="020B0503020204020204" charset="-122"/>
                <a:ea typeface="微软雅黑" panose="020B0503020204020204" charset="-122"/>
                <a:cs typeface="+mn-cs"/>
                <a:sym typeface="+mn-ea"/>
              </a:rPr>
              <a:t>，便形成锢囚锋。所谓锢囚，是指</a:t>
            </a:r>
            <a:r>
              <a:rPr lang="zh-CN" b="1" kern="1200">
                <a:solidFill>
                  <a:srgbClr val="0026E5"/>
                </a:solidFill>
                <a:latin typeface="微软雅黑" panose="020B0503020204020204" charset="-122"/>
                <a:ea typeface="微软雅黑" panose="020B0503020204020204" charset="-122"/>
                <a:cs typeface="+mn-cs"/>
                <a:sym typeface="+mn-ea"/>
              </a:rPr>
              <a:t>暖气团被锢囚在高空</a:t>
            </a:r>
            <a:r>
              <a:rPr lang="zh-CN" kern="1200">
                <a:latin typeface="微软雅黑" panose="020B0503020204020204" charset="-122"/>
                <a:ea typeface="微软雅黑" panose="020B0503020204020204" charset="-122"/>
                <a:cs typeface="+mn-cs"/>
                <a:sym typeface="+mn-ea"/>
              </a:rPr>
              <a:t>。</a:t>
            </a:r>
            <a:endParaRPr lang="zh-CN" kern="1200">
              <a:latin typeface="微软雅黑" panose="020B0503020204020204" charset="-122"/>
              <a:ea typeface="微软雅黑" panose="020B0503020204020204" charset="-122"/>
              <a:cs typeface="+mn-cs"/>
              <a:sym typeface="+mn-ea"/>
            </a:endParaRPr>
          </a:p>
        </p:txBody>
      </p:sp>
      <p:sp>
        <p:nvSpPr>
          <p:cNvPr id="18" name="矩形 17"/>
          <p:cNvSpPr/>
          <p:nvPr>
            <p:custDataLst>
              <p:tags r:id="rId2"/>
            </p:custDataLst>
          </p:nvPr>
        </p:nvSpPr>
        <p:spPr>
          <a:xfrm>
            <a:off x="704949" y="4844950"/>
            <a:ext cx="10791725" cy="1591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形状 27"/>
          <p:cNvSpPr/>
          <p:nvPr>
            <p:custDataLst>
              <p:tags r:id="rId3"/>
            </p:custDataLst>
          </p:nvPr>
        </p:nvSpPr>
        <p:spPr>
          <a:xfrm>
            <a:off x="1155343" y="3677311"/>
            <a:ext cx="9881313" cy="1177264"/>
          </a:xfrm>
          <a:custGeom>
            <a:avLst/>
            <a:gdLst>
              <a:gd name="connsiteX0" fmla="*/ 879859 w 9881313"/>
              <a:gd name="connsiteY0" fmla="*/ 0 h 1177264"/>
              <a:gd name="connsiteX1" fmla="*/ 9001454 w 9881313"/>
              <a:gd name="connsiteY1" fmla="*/ 0 h 1177264"/>
              <a:gd name="connsiteX2" fmla="*/ 9881313 w 9881313"/>
              <a:gd name="connsiteY2" fmla="*/ 879859 h 1177264"/>
              <a:gd name="connsiteX3" fmla="*/ 9881313 w 9881313"/>
              <a:gd name="connsiteY3" fmla="*/ 1177264 h 1177264"/>
              <a:gd name="connsiteX4" fmla="*/ 0 w 9881313"/>
              <a:gd name="connsiteY4" fmla="*/ 1177264 h 1177264"/>
              <a:gd name="connsiteX5" fmla="*/ 0 w 9881313"/>
              <a:gd name="connsiteY5" fmla="*/ 879859 h 1177264"/>
              <a:gd name="connsiteX6" fmla="*/ 879859 w 9881313"/>
              <a:gd name="connsiteY6" fmla="*/ 0 h 1177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81313" h="1177264">
                <a:moveTo>
                  <a:pt x="879859" y="0"/>
                </a:moveTo>
                <a:lnTo>
                  <a:pt x="9001454" y="0"/>
                </a:lnTo>
                <a:cubicBezTo>
                  <a:pt x="9487387" y="0"/>
                  <a:pt x="9881313" y="393926"/>
                  <a:pt x="9881313" y="879859"/>
                </a:cubicBezTo>
                <a:lnTo>
                  <a:pt x="9881313" y="1177264"/>
                </a:lnTo>
                <a:lnTo>
                  <a:pt x="0" y="1177264"/>
                </a:lnTo>
                <a:lnTo>
                  <a:pt x="0" y="879859"/>
                </a:lnTo>
                <a:cubicBezTo>
                  <a:pt x="0" y="393926"/>
                  <a:pt x="393926" y="0"/>
                  <a:pt x="879859" y="0"/>
                </a:cubicBezTo>
                <a:close/>
              </a:path>
            </a:pathLst>
          </a:custGeom>
          <a:solidFill>
            <a:srgbClr val="D7F0F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3" name="任意多边形: 形状 32"/>
          <p:cNvSpPr/>
          <p:nvPr>
            <p:custDataLst>
              <p:tags r:id="rId4"/>
            </p:custDataLst>
          </p:nvPr>
        </p:nvSpPr>
        <p:spPr>
          <a:xfrm>
            <a:off x="1155343" y="3677311"/>
            <a:ext cx="6826686" cy="1177264"/>
          </a:xfrm>
          <a:custGeom>
            <a:avLst/>
            <a:gdLst>
              <a:gd name="connsiteX0" fmla="*/ 879859 w 6826686"/>
              <a:gd name="connsiteY0" fmla="*/ 0 h 1177264"/>
              <a:gd name="connsiteX1" fmla="*/ 6826686 w 6826686"/>
              <a:gd name="connsiteY1" fmla="*/ 0 h 1177264"/>
              <a:gd name="connsiteX2" fmla="*/ 5761905 w 6826686"/>
              <a:gd name="connsiteY2" fmla="*/ 1177264 h 1177264"/>
              <a:gd name="connsiteX3" fmla="*/ 0 w 6826686"/>
              <a:gd name="connsiteY3" fmla="*/ 1177264 h 1177264"/>
              <a:gd name="connsiteX4" fmla="*/ 0 w 6826686"/>
              <a:gd name="connsiteY4" fmla="*/ 879859 h 1177264"/>
              <a:gd name="connsiteX5" fmla="*/ 879859 w 6826686"/>
              <a:gd name="connsiteY5" fmla="*/ 0 h 1177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26686" h="1177264">
                <a:moveTo>
                  <a:pt x="879859" y="0"/>
                </a:moveTo>
                <a:lnTo>
                  <a:pt x="6826686" y="0"/>
                </a:lnTo>
                <a:lnTo>
                  <a:pt x="5761905" y="1177264"/>
                </a:lnTo>
                <a:lnTo>
                  <a:pt x="0" y="1177264"/>
                </a:lnTo>
                <a:lnTo>
                  <a:pt x="0" y="879859"/>
                </a:lnTo>
                <a:cubicBezTo>
                  <a:pt x="0" y="393926"/>
                  <a:pt x="393926" y="0"/>
                  <a:pt x="879859" y="0"/>
                </a:cubicBezTo>
                <a:close/>
              </a:path>
            </a:pathLst>
          </a:custGeom>
          <a:solidFill>
            <a:srgbClr val="FEE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5" name="任意多边形: 形状 44"/>
          <p:cNvSpPr/>
          <p:nvPr>
            <p:custDataLst>
              <p:tags r:id="rId5"/>
            </p:custDataLst>
          </p:nvPr>
        </p:nvSpPr>
        <p:spPr>
          <a:xfrm>
            <a:off x="1155343" y="3677311"/>
            <a:ext cx="3674654" cy="1177264"/>
          </a:xfrm>
          <a:custGeom>
            <a:avLst/>
            <a:gdLst>
              <a:gd name="connsiteX0" fmla="*/ 879859 w 3674654"/>
              <a:gd name="connsiteY0" fmla="*/ 0 h 1177264"/>
              <a:gd name="connsiteX1" fmla="*/ 3159900 w 3674654"/>
              <a:gd name="connsiteY1" fmla="*/ 0 h 1177264"/>
              <a:gd name="connsiteX2" fmla="*/ 3674654 w 3674654"/>
              <a:gd name="connsiteY2" fmla="*/ 1177264 h 1177264"/>
              <a:gd name="connsiteX3" fmla="*/ 0 w 3674654"/>
              <a:gd name="connsiteY3" fmla="*/ 1177264 h 1177264"/>
              <a:gd name="connsiteX4" fmla="*/ 0 w 3674654"/>
              <a:gd name="connsiteY4" fmla="*/ 879859 h 1177264"/>
              <a:gd name="connsiteX5" fmla="*/ 879859 w 3674654"/>
              <a:gd name="connsiteY5" fmla="*/ 0 h 1177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4654" h="1177264">
                <a:moveTo>
                  <a:pt x="879859" y="0"/>
                </a:moveTo>
                <a:lnTo>
                  <a:pt x="3159900" y="0"/>
                </a:lnTo>
                <a:lnTo>
                  <a:pt x="3674654" y="1177264"/>
                </a:lnTo>
                <a:lnTo>
                  <a:pt x="0" y="1177264"/>
                </a:lnTo>
                <a:lnTo>
                  <a:pt x="0" y="879859"/>
                </a:lnTo>
                <a:cubicBezTo>
                  <a:pt x="0" y="393926"/>
                  <a:pt x="393926" y="0"/>
                  <a:pt x="879859" y="0"/>
                </a:cubicBezTo>
                <a:close/>
              </a:path>
            </a:pathLst>
          </a:custGeom>
          <a:solidFill>
            <a:srgbClr val="D8D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6" name="箭头: 右 45"/>
          <p:cNvSpPr/>
          <p:nvPr>
            <p:custDataLst>
              <p:tags r:id="rId6"/>
            </p:custDataLst>
          </p:nvPr>
        </p:nvSpPr>
        <p:spPr>
          <a:xfrm>
            <a:off x="4187132" y="4393688"/>
            <a:ext cx="942397" cy="119378"/>
          </a:xfrm>
          <a:prstGeom prst="rightArrow">
            <a:avLst/>
          </a:prstGeom>
          <a:solidFill>
            <a:srgbClr val="2D3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custDataLst>
              <p:tags r:id="rId7"/>
            </p:custDataLst>
          </p:nvPr>
        </p:nvSpPr>
        <p:spPr>
          <a:xfrm>
            <a:off x="1871145" y="3727559"/>
            <a:ext cx="1097280" cy="46037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冷气团</a:t>
            </a:r>
            <a:endParaRPr lang="zh-CN" altLang="en-US" sz="2400">
              <a:latin typeface="微软雅黑" panose="020B0503020204020204" charset="-122"/>
              <a:ea typeface="微软雅黑" panose="020B0503020204020204" charset="-122"/>
            </a:endParaRPr>
          </a:p>
        </p:txBody>
      </p:sp>
      <p:sp>
        <p:nvSpPr>
          <p:cNvPr id="48" name="文本框 47"/>
          <p:cNvSpPr txBox="1"/>
          <p:nvPr>
            <p:custDataLst>
              <p:tags r:id="rId8"/>
            </p:custDataLst>
          </p:nvPr>
        </p:nvSpPr>
        <p:spPr>
          <a:xfrm>
            <a:off x="5547359" y="3727559"/>
            <a:ext cx="1097280" cy="46037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暖气团</a:t>
            </a:r>
            <a:endParaRPr lang="zh-CN" altLang="en-US" sz="2400">
              <a:latin typeface="微软雅黑" panose="020B0503020204020204" charset="-122"/>
              <a:ea typeface="微软雅黑" panose="020B0503020204020204" charset="-122"/>
            </a:endParaRPr>
          </a:p>
        </p:txBody>
      </p:sp>
      <p:sp>
        <p:nvSpPr>
          <p:cNvPr id="49" name="文本框 48"/>
          <p:cNvSpPr txBox="1"/>
          <p:nvPr>
            <p:custDataLst>
              <p:tags r:id="rId9"/>
            </p:custDataLst>
          </p:nvPr>
        </p:nvSpPr>
        <p:spPr>
          <a:xfrm>
            <a:off x="8960703" y="3727559"/>
            <a:ext cx="1097280" cy="46037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冷气团</a:t>
            </a:r>
            <a:endParaRPr lang="zh-CN" altLang="en-US" sz="2400">
              <a:latin typeface="微软雅黑" panose="020B0503020204020204" charset="-122"/>
              <a:ea typeface="微软雅黑" panose="020B0503020204020204" charset="-122"/>
            </a:endParaRPr>
          </a:p>
        </p:txBody>
      </p:sp>
      <p:sp>
        <p:nvSpPr>
          <p:cNvPr id="50" name="箭头: 右 49"/>
          <p:cNvSpPr/>
          <p:nvPr>
            <p:custDataLst>
              <p:tags r:id="rId10"/>
            </p:custDataLst>
          </p:nvPr>
        </p:nvSpPr>
        <p:spPr>
          <a:xfrm>
            <a:off x="6798443" y="4393688"/>
            <a:ext cx="942397" cy="119378"/>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custDataLst>
              <p:tags r:id="rId11"/>
            </p:custDataLst>
          </p:nvPr>
        </p:nvSpPr>
        <p:spPr>
          <a:xfrm>
            <a:off x="4213838" y="3965380"/>
            <a:ext cx="792480" cy="46037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冷锋</a:t>
            </a:r>
            <a:endParaRPr lang="zh-CN" altLang="en-US" sz="2400">
              <a:latin typeface="微软雅黑" panose="020B0503020204020204" charset="-122"/>
              <a:ea typeface="微软雅黑" panose="020B0503020204020204" charset="-122"/>
            </a:endParaRPr>
          </a:p>
        </p:txBody>
      </p:sp>
      <p:sp>
        <p:nvSpPr>
          <p:cNvPr id="52" name="文本框 51"/>
          <p:cNvSpPr txBox="1"/>
          <p:nvPr>
            <p:custDataLst>
              <p:tags r:id="rId12"/>
            </p:custDataLst>
          </p:nvPr>
        </p:nvSpPr>
        <p:spPr>
          <a:xfrm>
            <a:off x="6972654" y="3996914"/>
            <a:ext cx="792480" cy="46037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暖锋</a:t>
            </a:r>
            <a:endParaRPr lang="zh-CN" altLang="en-US" sz="2400">
              <a:latin typeface="微软雅黑" panose="020B0503020204020204" charset="-122"/>
              <a:ea typeface="微软雅黑" panose="020B0503020204020204" charset="-122"/>
            </a:endParaRPr>
          </a:p>
        </p:txBody>
      </p:sp>
      <p:grpSp>
        <p:nvGrpSpPr>
          <p:cNvPr id="59" name="组合 58"/>
          <p:cNvGrpSpPr/>
          <p:nvPr>
            <p:custDataLst>
              <p:tags r:id="rId13"/>
            </p:custDataLst>
          </p:nvPr>
        </p:nvGrpSpPr>
        <p:grpSpPr>
          <a:xfrm>
            <a:off x="4827229" y="5087428"/>
            <a:ext cx="158739" cy="745067"/>
            <a:chOff x="2667000" y="-1227667"/>
            <a:chExt cx="158739" cy="745067"/>
          </a:xfrm>
        </p:grpSpPr>
        <p:cxnSp>
          <p:nvCxnSpPr>
            <p:cNvPr id="54" name="直接连接符 53"/>
            <p:cNvCxnSpPr/>
            <p:nvPr>
              <p:custDataLst>
                <p:tags r:id="rId14"/>
              </p:custDataLst>
            </p:nvPr>
          </p:nvCxnSpPr>
          <p:spPr>
            <a:xfrm flipH="1">
              <a:off x="2667000" y="-1227667"/>
              <a:ext cx="0" cy="745067"/>
            </a:xfrm>
            <a:prstGeom prst="line">
              <a:avLst/>
            </a:prstGeom>
            <a:ln w="38100">
              <a:solidFill>
                <a:srgbClr val="2D3FE5"/>
              </a:solidFill>
            </a:ln>
          </p:spPr>
          <p:style>
            <a:lnRef idx="1">
              <a:schemeClr val="accent1"/>
            </a:lnRef>
            <a:fillRef idx="0">
              <a:schemeClr val="accent1"/>
            </a:fillRef>
            <a:effectRef idx="0">
              <a:schemeClr val="accent1"/>
            </a:effectRef>
            <a:fontRef idx="minor">
              <a:schemeClr val="tx1"/>
            </a:fontRef>
          </p:style>
        </p:cxnSp>
        <p:sp>
          <p:nvSpPr>
            <p:cNvPr id="55" name="等腰三角形 54"/>
            <p:cNvSpPr/>
            <p:nvPr>
              <p:custDataLst>
                <p:tags r:id="rId15"/>
              </p:custDataLst>
            </p:nvPr>
          </p:nvSpPr>
          <p:spPr>
            <a:xfrm rot="5400000">
              <a:off x="2699667" y="-1172234"/>
              <a:ext cx="114044" cy="138100"/>
            </a:xfrm>
            <a:prstGeom prst="triangle">
              <a:avLst>
                <a:gd name="adj" fmla="val 50000"/>
              </a:avLst>
            </a:prstGeom>
            <a:solidFill>
              <a:srgbClr val="2D3FE5"/>
            </a:solidFill>
            <a:ln>
              <a:solidFill>
                <a:srgbClr val="2D3F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6"/>
              </p:custDataLst>
            </p:nvPr>
          </p:nvSpPr>
          <p:spPr>
            <a:xfrm rot="5400000">
              <a:off x="2699667" y="-1003625"/>
              <a:ext cx="114044" cy="138100"/>
            </a:xfrm>
            <a:prstGeom prst="triangle">
              <a:avLst>
                <a:gd name="adj" fmla="val 50000"/>
              </a:avLst>
            </a:prstGeom>
            <a:solidFill>
              <a:srgbClr val="2D3FE5"/>
            </a:solidFill>
            <a:ln>
              <a:solidFill>
                <a:srgbClr val="2D3F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7"/>
              </p:custDataLst>
            </p:nvPr>
          </p:nvSpPr>
          <p:spPr>
            <a:xfrm rot="5400000">
              <a:off x="2699667" y="-835016"/>
              <a:ext cx="114044" cy="138100"/>
            </a:xfrm>
            <a:prstGeom prst="triangle">
              <a:avLst>
                <a:gd name="adj" fmla="val 50000"/>
              </a:avLst>
            </a:prstGeom>
            <a:solidFill>
              <a:srgbClr val="2D3FE5"/>
            </a:solidFill>
            <a:ln>
              <a:solidFill>
                <a:srgbClr val="2D3F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8"/>
              </p:custDataLst>
            </p:nvPr>
          </p:nvSpPr>
          <p:spPr>
            <a:xfrm rot="5400000">
              <a:off x="2699667" y="-666407"/>
              <a:ext cx="114044" cy="138100"/>
            </a:xfrm>
            <a:prstGeom prst="triangle">
              <a:avLst>
                <a:gd name="adj" fmla="val 50000"/>
              </a:avLst>
            </a:prstGeom>
            <a:solidFill>
              <a:srgbClr val="2D3FE5"/>
            </a:solidFill>
            <a:ln>
              <a:solidFill>
                <a:srgbClr val="2D3F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3" name="组合 72"/>
          <p:cNvGrpSpPr/>
          <p:nvPr>
            <p:custDataLst>
              <p:tags r:id="rId19"/>
            </p:custDataLst>
          </p:nvPr>
        </p:nvGrpSpPr>
        <p:grpSpPr>
          <a:xfrm>
            <a:off x="6968784" y="5081377"/>
            <a:ext cx="103884" cy="745067"/>
            <a:chOff x="6968784" y="5394645"/>
            <a:chExt cx="103884" cy="745067"/>
          </a:xfrm>
        </p:grpSpPr>
        <p:cxnSp>
          <p:nvCxnSpPr>
            <p:cNvPr id="61" name="直接连接符 60"/>
            <p:cNvCxnSpPr/>
            <p:nvPr>
              <p:custDataLst>
                <p:tags r:id="rId20"/>
              </p:custDataLst>
            </p:nvPr>
          </p:nvCxnSpPr>
          <p:spPr>
            <a:xfrm flipH="1">
              <a:off x="6968784" y="5394645"/>
              <a:ext cx="0" cy="74506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72" name="组合 71"/>
            <p:cNvGrpSpPr/>
            <p:nvPr>
              <p:custDataLst>
                <p:tags r:id="rId21"/>
              </p:custDataLst>
            </p:nvPr>
          </p:nvGrpSpPr>
          <p:grpSpPr>
            <a:xfrm>
              <a:off x="6991704" y="5483161"/>
              <a:ext cx="80964" cy="568034"/>
              <a:chOff x="6991704" y="5459999"/>
              <a:chExt cx="80964" cy="568034"/>
            </a:xfrm>
          </p:grpSpPr>
          <p:sp>
            <p:nvSpPr>
              <p:cNvPr id="69" name="任意多边形: 形状 68"/>
              <p:cNvSpPr/>
              <p:nvPr>
                <p:custDataLst>
                  <p:tags r:id="rId22"/>
                </p:custDataLst>
              </p:nvPr>
            </p:nvSpPr>
            <p:spPr>
              <a:xfrm>
                <a:off x="6991704" y="5459999"/>
                <a:ext cx="80964" cy="159106"/>
              </a:xfrm>
              <a:custGeom>
                <a:avLst/>
                <a:gdLst>
                  <a:gd name="connsiteX0" fmla="*/ 1411 w 80964"/>
                  <a:gd name="connsiteY0" fmla="*/ 0 h 159106"/>
                  <a:gd name="connsiteX1" fmla="*/ 80964 w 80964"/>
                  <a:gd name="connsiteY1" fmla="*/ 79553 h 159106"/>
                  <a:gd name="connsiteX2" fmla="*/ 1411 w 80964"/>
                  <a:gd name="connsiteY2" fmla="*/ 159106 h 159106"/>
                  <a:gd name="connsiteX3" fmla="*/ 0 w 80964"/>
                  <a:gd name="connsiteY3" fmla="*/ 158821 h 159106"/>
                  <a:gd name="connsiteX4" fmla="*/ 0 w 80964"/>
                  <a:gd name="connsiteY4" fmla="*/ 285 h 159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964" h="159106">
                    <a:moveTo>
                      <a:pt x="1411" y="0"/>
                    </a:moveTo>
                    <a:cubicBezTo>
                      <a:pt x="45347" y="0"/>
                      <a:pt x="80964" y="35617"/>
                      <a:pt x="80964" y="79553"/>
                    </a:cubicBezTo>
                    <a:cubicBezTo>
                      <a:pt x="80964" y="123489"/>
                      <a:pt x="45347" y="159106"/>
                      <a:pt x="1411" y="159106"/>
                    </a:cubicBezTo>
                    <a:lnTo>
                      <a:pt x="0" y="158821"/>
                    </a:lnTo>
                    <a:lnTo>
                      <a:pt x="0" y="285"/>
                    </a:lnTo>
                    <a:close/>
                  </a:path>
                </a:pathLst>
              </a:cu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0" name="任意多边形: 形状 69"/>
              <p:cNvSpPr/>
              <p:nvPr>
                <p:custDataLst>
                  <p:tags r:id="rId23"/>
                </p:custDataLst>
              </p:nvPr>
            </p:nvSpPr>
            <p:spPr>
              <a:xfrm>
                <a:off x="6991704" y="5664463"/>
                <a:ext cx="80964" cy="159106"/>
              </a:xfrm>
              <a:custGeom>
                <a:avLst/>
                <a:gdLst>
                  <a:gd name="connsiteX0" fmla="*/ 1411 w 80964"/>
                  <a:gd name="connsiteY0" fmla="*/ 0 h 159106"/>
                  <a:gd name="connsiteX1" fmla="*/ 80964 w 80964"/>
                  <a:gd name="connsiteY1" fmla="*/ 79553 h 159106"/>
                  <a:gd name="connsiteX2" fmla="*/ 1411 w 80964"/>
                  <a:gd name="connsiteY2" fmla="*/ 159106 h 159106"/>
                  <a:gd name="connsiteX3" fmla="*/ 0 w 80964"/>
                  <a:gd name="connsiteY3" fmla="*/ 158821 h 159106"/>
                  <a:gd name="connsiteX4" fmla="*/ 0 w 80964"/>
                  <a:gd name="connsiteY4" fmla="*/ 285 h 159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964" h="159106">
                    <a:moveTo>
                      <a:pt x="1411" y="0"/>
                    </a:moveTo>
                    <a:cubicBezTo>
                      <a:pt x="45347" y="0"/>
                      <a:pt x="80964" y="35617"/>
                      <a:pt x="80964" y="79553"/>
                    </a:cubicBezTo>
                    <a:cubicBezTo>
                      <a:pt x="80964" y="123489"/>
                      <a:pt x="45347" y="159106"/>
                      <a:pt x="1411" y="159106"/>
                    </a:cubicBezTo>
                    <a:lnTo>
                      <a:pt x="0" y="158821"/>
                    </a:lnTo>
                    <a:lnTo>
                      <a:pt x="0" y="285"/>
                    </a:lnTo>
                    <a:close/>
                  </a:path>
                </a:pathLst>
              </a:cu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1" name="任意多边形: 形状 70"/>
              <p:cNvSpPr/>
              <p:nvPr>
                <p:custDataLst>
                  <p:tags r:id="rId24"/>
                </p:custDataLst>
              </p:nvPr>
            </p:nvSpPr>
            <p:spPr>
              <a:xfrm>
                <a:off x="6991704" y="5868927"/>
                <a:ext cx="80964" cy="159106"/>
              </a:xfrm>
              <a:custGeom>
                <a:avLst/>
                <a:gdLst>
                  <a:gd name="connsiteX0" fmla="*/ 1411 w 80964"/>
                  <a:gd name="connsiteY0" fmla="*/ 0 h 159106"/>
                  <a:gd name="connsiteX1" fmla="*/ 80964 w 80964"/>
                  <a:gd name="connsiteY1" fmla="*/ 79553 h 159106"/>
                  <a:gd name="connsiteX2" fmla="*/ 1411 w 80964"/>
                  <a:gd name="connsiteY2" fmla="*/ 159106 h 159106"/>
                  <a:gd name="connsiteX3" fmla="*/ 0 w 80964"/>
                  <a:gd name="connsiteY3" fmla="*/ 158821 h 159106"/>
                  <a:gd name="connsiteX4" fmla="*/ 0 w 80964"/>
                  <a:gd name="connsiteY4" fmla="*/ 285 h 159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964" h="159106">
                    <a:moveTo>
                      <a:pt x="1411" y="0"/>
                    </a:moveTo>
                    <a:cubicBezTo>
                      <a:pt x="45347" y="0"/>
                      <a:pt x="80964" y="35617"/>
                      <a:pt x="80964" y="79553"/>
                    </a:cubicBezTo>
                    <a:cubicBezTo>
                      <a:pt x="80964" y="123489"/>
                      <a:pt x="45347" y="159106"/>
                      <a:pt x="1411" y="159106"/>
                    </a:cubicBezTo>
                    <a:lnTo>
                      <a:pt x="0" y="158821"/>
                    </a:lnTo>
                    <a:lnTo>
                      <a:pt x="0" y="285"/>
                    </a:lnTo>
                    <a:close/>
                  </a:path>
                </a:pathLst>
              </a:cu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
        <p:nvSpPr>
          <p:cNvPr id="74" name="文本框 73"/>
          <p:cNvSpPr txBox="1"/>
          <p:nvPr>
            <p:custDataLst>
              <p:tags r:id="rId25"/>
            </p:custDataLst>
          </p:nvPr>
        </p:nvSpPr>
        <p:spPr>
          <a:xfrm>
            <a:off x="4126189" y="5847753"/>
            <a:ext cx="1402080" cy="46037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移动较快</a:t>
            </a:r>
            <a:endParaRPr lang="zh-CN" altLang="en-US" sz="2400">
              <a:latin typeface="微软雅黑" panose="020B0503020204020204" charset="-122"/>
              <a:ea typeface="微软雅黑" panose="020B0503020204020204" charset="-122"/>
            </a:endParaRPr>
          </a:p>
        </p:txBody>
      </p:sp>
      <p:sp>
        <p:nvSpPr>
          <p:cNvPr id="75" name="文本框 74"/>
          <p:cNvSpPr txBox="1"/>
          <p:nvPr>
            <p:custDataLst>
              <p:tags r:id="rId26"/>
            </p:custDataLst>
          </p:nvPr>
        </p:nvSpPr>
        <p:spPr>
          <a:xfrm>
            <a:off x="6290664" y="5847753"/>
            <a:ext cx="1402080" cy="46037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移动较慢</a:t>
            </a:r>
            <a:endParaRPr lang="zh-CN" altLang="en-US" sz="2400">
              <a:latin typeface="微软雅黑" panose="020B0503020204020204" charset="-122"/>
              <a:ea typeface="微软雅黑" panose="020B0503020204020204" charset="-122"/>
            </a:endParaRPr>
          </a:p>
        </p:txBody>
      </p:sp>
      <p:sp>
        <p:nvSpPr>
          <p:cNvPr id="3" name="文本框 2"/>
          <p:cNvSpPr txBox="1"/>
          <p:nvPr>
            <p:custDataLst>
              <p:tags r:id="rId27"/>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custDataLst>
              <p:tags r:id="rId28"/>
            </p:custDataLst>
          </p:nvPr>
        </p:nvSpPr>
        <p:spPr>
          <a:xfrm>
            <a:off x="371475" y="110617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1 锢囚锋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2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任意多边形: 形状 27"/>
          <p:cNvSpPr/>
          <p:nvPr>
            <p:custDataLst>
              <p:tags r:id="rId1"/>
            </p:custDataLst>
          </p:nvPr>
        </p:nvSpPr>
        <p:spPr>
          <a:xfrm>
            <a:off x="1155343" y="3677311"/>
            <a:ext cx="9881313" cy="1177264"/>
          </a:xfrm>
          <a:custGeom>
            <a:avLst/>
            <a:gdLst>
              <a:gd name="connsiteX0" fmla="*/ 879859 w 9881313"/>
              <a:gd name="connsiteY0" fmla="*/ 0 h 1177264"/>
              <a:gd name="connsiteX1" fmla="*/ 9001454 w 9881313"/>
              <a:gd name="connsiteY1" fmla="*/ 0 h 1177264"/>
              <a:gd name="connsiteX2" fmla="*/ 9881313 w 9881313"/>
              <a:gd name="connsiteY2" fmla="*/ 879859 h 1177264"/>
              <a:gd name="connsiteX3" fmla="*/ 9881313 w 9881313"/>
              <a:gd name="connsiteY3" fmla="*/ 1177264 h 1177264"/>
              <a:gd name="connsiteX4" fmla="*/ 0 w 9881313"/>
              <a:gd name="connsiteY4" fmla="*/ 1177264 h 1177264"/>
              <a:gd name="connsiteX5" fmla="*/ 0 w 9881313"/>
              <a:gd name="connsiteY5" fmla="*/ 879859 h 1177264"/>
              <a:gd name="connsiteX6" fmla="*/ 879859 w 9881313"/>
              <a:gd name="connsiteY6" fmla="*/ 0 h 1177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81313" h="1177264">
                <a:moveTo>
                  <a:pt x="879859" y="0"/>
                </a:moveTo>
                <a:lnTo>
                  <a:pt x="9001454" y="0"/>
                </a:lnTo>
                <a:cubicBezTo>
                  <a:pt x="9487387" y="0"/>
                  <a:pt x="9881313" y="393926"/>
                  <a:pt x="9881313" y="879859"/>
                </a:cubicBezTo>
                <a:lnTo>
                  <a:pt x="9881313" y="1177264"/>
                </a:lnTo>
                <a:lnTo>
                  <a:pt x="0" y="1177264"/>
                </a:lnTo>
                <a:lnTo>
                  <a:pt x="0" y="879859"/>
                </a:lnTo>
                <a:cubicBezTo>
                  <a:pt x="0" y="393926"/>
                  <a:pt x="393926" y="0"/>
                  <a:pt x="879859" y="0"/>
                </a:cubicBezTo>
                <a:close/>
              </a:path>
            </a:pathLst>
          </a:custGeom>
          <a:solidFill>
            <a:srgbClr val="D7F0F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3" name="任意多边形: 形状 32"/>
          <p:cNvSpPr/>
          <p:nvPr>
            <p:custDataLst>
              <p:tags r:id="rId2"/>
            </p:custDataLst>
          </p:nvPr>
        </p:nvSpPr>
        <p:spPr>
          <a:xfrm>
            <a:off x="1155343" y="3677311"/>
            <a:ext cx="6826686" cy="1177264"/>
          </a:xfrm>
          <a:custGeom>
            <a:avLst/>
            <a:gdLst>
              <a:gd name="connsiteX0" fmla="*/ 879859 w 6826686"/>
              <a:gd name="connsiteY0" fmla="*/ 0 h 1177264"/>
              <a:gd name="connsiteX1" fmla="*/ 6826686 w 6826686"/>
              <a:gd name="connsiteY1" fmla="*/ 0 h 1177264"/>
              <a:gd name="connsiteX2" fmla="*/ 5761905 w 6826686"/>
              <a:gd name="connsiteY2" fmla="*/ 1177264 h 1177264"/>
              <a:gd name="connsiteX3" fmla="*/ 0 w 6826686"/>
              <a:gd name="connsiteY3" fmla="*/ 1177264 h 1177264"/>
              <a:gd name="connsiteX4" fmla="*/ 0 w 6826686"/>
              <a:gd name="connsiteY4" fmla="*/ 879859 h 1177264"/>
              <a:gd name="connsiteX5" fmla="*/ 879859 w 6826686"/>
              <a:gd name="connsiteY5" fmla="*/ 0 h 1177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26686" h="1177264">
                <a:moveTo>
                  <a:pt x="879859" y="0"/>
                </a:moveTo>
                <a:lnTo>
                  <a:pt x="6826686" y="0"/>
                </a:lnTo>
                <a:lnTo>
                  <a:pt x="5761905" y="1177264"/>
                </a:lnTo>
                <a:lnTo>
                  <a:pt x="0" y="1177264"/>
                </a:lnTo>
                <a:lnTo>
                  <a:pt x="0" y="879859"/>
                </a:lnTo>
                <a:cubicBezTo>
                  <a:pt x="0" y="393926"/>
                  <a:pt x="393926" y="0"/>
                  <a:pt x="879859" y="0"/>
                </a:cubicBezTo>
                <a:close/>
              </a:path>
            </a:pathLst>
          </a:custGeom>
          <a:solidFill>
            <a:srgbClr val="FEE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5" name="任意多边形: 形状 34"/>
          <p:cNvSpPr/>
          <p:nvPr>
            <p:custDataLst>
              <p:tags r:id="rId3"/>
            </p:custDataLst>
          </p:nvPr>
        </p:nvSpPr>
        <p:spPr>
          <a:xfrm>
            <a:off x="1155343" y="3677311"/>
            <a:ext cx="6102957" cy="1177264"/>
          </a:xfrm>
          <a:custGeom>
            <a:avLst/>
            <a:gdLst>
              <a:gd name="connsiteX0" fmla="*/ 879859 w 6102957"/>
              <a:gd name="connsiteY0" fmla="*/ 0 h 1177264"/>
              <a:gd name="connsiteX1" fmla="*/ 5590245 w 6102957"/>
              <a:gd name="connsiteY1" fmla="*/ 0 h 1177264"/>
              <a:gd name="connsiteX2" fmla="*/ 6102957 w 6102957"/>
              <a:gd name="connsiteY2" fmla="*/ 1177264 h 1177264"/>
              <a:gd name="connsiteX3" fmla="*/ 0 w 6102957"/>
              <a:gd name="connsiteY3" fmla="*/ 1177264 h 1177264"/>
              <a:gd name="connsiteX4" fmla="*/ 0 w 6102957"/>
              <a:gd name="connsiteY4" fmla="*/ 879859 h 1177264"/>
              <a:gd name="connsiteX5" fmla="*/ 879859 w 6102957"/>
              <a:gd name="connsiteY5" fmla="*/ 0 h 1177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02957" h="1177264">
                <a:moveTo>
                  <a:pt x="879859" y="0"/>
                </a:moveTo>
                <a:lnTo>
                  <a:pt x="5590245" y="0"/>
                </a:lnTo>
                <a:lnTo>
                  <a:pt x="6102957" y="1177264"/>
                </a:lnTo>
                <a:lnTo>
                  <a:pt x="0" y="1177264"/>
                </a:lnTo>
                <a:lnTo>
                  <a:pt x="0" y="879859"/>
                </a:lnTo>
                <a:cubicBezTo>
                  <a:pt x="0" y="393926"/>
                  <a:pt x="393926" y="0"/>
                  <a:pt x="879859" y="0"/>
                </a:cubicBezTo>
                <a:close/>
              </a:path>
            </a:pathLst>
          </a:custGeom>
          <a:solidFill>
            <a:srgbClr val="D8D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矩形 2"/>
          <p:cNvSpPr/>
          <p:nvPr>
            <p:custDataLst>
              <p:tags r:id="rId4"/>
            </p:custDataLst>
          </p:nvPr>
        </p:nvSpPr>
        <p:spPr>
          <a:xfrm>
            <a:off x="704949" y="4844950"/>
            <a:ext cx="10791725" cy="1591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5"/>
            </p:custDataLst>
          </p:nvPr>
        </p:nvSpPr>
        <p:spPr>
          <a:xfrm>
            <a:off x="1871145" y="3727559"/>
            <a:ext cx="1097280" cy="46037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冷气团</a:t>
            </a:r>
            <a:endParaRPr lang="zh-CN" altLang="en-US" sz="2400">
              <a:latin typeface="微软雅黑" panose="020B0503020204020204" charset="-122"/>
              <a:ea typeface="微软雅黑" panose="020B0503020204020204" charset="-122"/>
            </a:endParaRPr>
          </a:p>
        </p:txBody>
      </p:sp>
      <p:sp>
        <p:nvSpPr>
          <p:cNvPr id="12" name="文本框 11"/>
          <p:cNvSpPr txBox="1"/>
          <p:nvPr>
            <p:custDataLst>
              <p:tags r:id="rId6"/>
            </p:custDataLst>
          </p:nvPr>
        </p:nvSpPr>
        <p:spPr>
          <a:xfrm>
            <a:off x="5547359" y="3727559"/>
            <a:ext cx="1097280" cy="46037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暖气团</a:t>
            </a:r>
            <a:endParaRPr lang="zh-CN" altLang="en-US" sz="2400">
              <a:latin typeface="微软雅黑" panose="020B0503020204020204" charset="-122"/>
              <a:ea typeface="微软雅黑" panose="020B0503020204020204" charset="-122"/>
            </a:endParaRPr>
          </a:p>
        </p:txBody>
      </p:sp>
      <p:sp>
        <p:nvSpPr>
          <p:cNvPr id="13" name="文本框 12"/>
          <p:cNvSpPr txBox="1"/>
          <p:nvPr>
            <p:custDataLst>
              <p:tags r:id="rId7"/>
            </p:custDataLst>
          </p:nvPr>
        </p:nvSpPr>
        <p:spPr>
          <a:xfrm>
            <a:off x="8960703" y="3727559"/>
            <a:ext cx="1097280" cy="46037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冷气团</a:t>
            </a:r>
            <a:endParaRPr lang="zh-CN" altLang="en-US" sz="2400">
              <a:latin typeface="微软雅黑" panose="020B0503020204020204" charset="-122"/>
              <a:ea typeface="微软雅黑" panose="020B0503020204020204" charset="-122"/>
            </a:endParaRPr>
          </a:p>
        </p:txBody>
      </p:sp>
      <p:sp>
        <p:nvSpPr>
          <p:cNvPr id="14" name="箭头: 右 13"/>
          <p:cNvSpPr/>
          <p:nvPr>
            <p:custDataLst>
              <p:tags r:id="rId8"/>
            </p:custDataLst>
          </p:nvPr>
        </p:nvSpPr>
        <p:spPr>
          <a:xfrm>
            <a:off x="6798443" y="4393688"/>
            <a:ext cx="942397" cy="119378"/>
          </a:xfrm>
          <a:prstGeom prst="right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custDataLst>
              <p:tags r:id="rId9"/>
            </p:custDataLst>
          </p:nvPr>
        </p:nvSpPr>
        <p:spPr>
          <a:xfrm>
            <a:off x="6709659" y="3986511"/>
            <a:ext cx="1097280" cy="46037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锢囚锋</a:t>
            </a:r>
            <a:endParaRPr lang="zh-CN" altLang="en-US" sz="2400">
              <a:latin typeface="微软雅黑" panose="020B0503020204020204" charset="-122"/>
              <a:ea typeface="微软雅黑" panose="020B0503020204020204" charset="-122"/>
            </a:endParaRPr>
          </a:p>
        </p:txBody>
      </p:sp>
      <p:grpSp>
        <p:nvGrpSpPr>
          <p:cNvPr id="36" name="组合 35"/>
          <p:cNvGrpSpPr/>
          <p:nvPr>
            <p:custDataLst>
              <p:tags r:id="rId10"/>
            </p:custDataLst>
          </p:nvPr>
        </p:nvGrpSpPr>
        <p:grpSpPr>
          <a:xfrm>
            <a:off x="7228522" y="5087428"/>
            <a:ext cx="158739" cy="745067"/>
            <a:chOff x="4827229" y="5087428"/>
            <a:chExt cx="158739" cy="745067"/>
          </a:xfrm>
        </p:grpSpPr>
        <p:cxnSp>
          <p:nvCxnSpPr>
            <p:cNvPr id="19" name="直接连接符 18"/>
            <p:cNvCxnSpPr/>
            <p:nvPr>
              <p:custDataLst>
                <p:tags r:id="rId11"/>
              </p:custDataLst>
            </p:nvPr>
          </p:nvCxnSpPr>
          <p:spPr>
            <a:xfrm flipH="1">
              <a:off x="4827229" y="5087428"/>
              <a:ext cx="0" cy="745067"/>
            </a:xfrm>
            <a:prstGeom prst="line">
              <a:avLst/>
            </a:prstGeom>
            <a:solidFill>
              <a:srgbClr val="7030A0"/>
            </a:solidFill>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20" name="等腰三角形 19"/>
            <p:cNvSpPr/>
            <p:nvPr>
              <p:custDataLst>
                <p:tags r:id="rId12"/>
              </p:custDataLst>
            </p:nvPr>
          </p:nvSpPr>
          <p:spPr>
            <a:xfrm rot="5400000">
              <a:off x="4859896" y="5163277"/>
              <a:ext cx="114044" cy="138100"/>
            </a:xfrm>
            <a:prstGeom prst="triangle">
              <a:avLst>
                <a:gd name="adj" fmla="val 50000"/>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13"/>
              </p:custDataLst>
            </p:nvPr>
          </p:nvSpPr>
          <p:spPr>
            <a:xfrm rot="5400000">
              <a:off x="4859896" y="5627572"/>
              <a:ext cx="114044" cy="138100"/>
            </a:xfrm>
            <a:prstGeom prst="triangle">
              <a:avLst>
                <a:gd name="adj" fmla="val 50000"/>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形状 26"/>
            <p:cNvSpPr/>
            <p:nvPr>
              <p:custDataLst>
                <p:tags r:id="rId14"/>
              </p:custDataLst>
            </p:nvPr>
          </p:nvSpPr>
          <p:spPr>
            <a:xfrm>
              <a:off x="4847868" y="5385561"/>
              <a:ext cx="80964" cy="159106"/>
            </a:xfrm>
            <a:custGeom>
              <a:avLst/>
              <a:gdLst>
                <a:gd name="connsiteX0" fmla="*/ 1411 w 80964"/>
                <a:gd name="connsiteY0" fmla="*/ 0 h 159106"/>
                <a:gd name="connsiteX1" fmla="*/ 80964 w 80964"/>
                <a:gd name="connsiteY1" fmla="*/ 79553 h 159106"/>
                <a:gd name="connsiteX2" fmla="*/ 1411 w 80964"/>
                <a:gd name="connsiteY2" fmla="*/ 159106 h 159106"/>
                <a:gd name="connsiteX3" fmla="*/ 0 w 80964"/>
                <a:gd name="connsiteY3" fmla="*/ 158821 h 159106"/>
                <a:gd name="connsiteX4" fmla="*/ 0 w 80964"/>
                <a:gd name="connsiteY4" fmla="*/ 285 h 159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964" h="159106">
                  <a:moveTo>
                    <a:pt x="1411" y="0"/>
                  </a:moveTo>
                  <a:cubicBezTo>
                    <a:pt x="45347" y="0"/>
                    <a:pt x="80964" y="35617"/>
                    <a:pt x="80964" y="79553"/>
                  </a:cubicBezTo>
                  <a:cubicBezTo>
                    <a:pt x="80964" y="123489"/>
                    <a:pt x="45347" y="159106"/>
                    <a:pt x="1411" y="159106"/>
                  </a:cubicBezTo>
                  <a:lnTo>
                    <a:pt x="0" y="158821"/>
                  </a:lnTo>
                  <a:lnTo>
                    <a:pt x="0" y="285"/>
                  </a:lnTo>
                  <a:close/>
                </a:path>
              </a:pathLst>
            </a:cu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31" name="文本框 30"/>
          <p:cNvSpPr txBox="1"/>
          <p:nvPr>
            <p:custDataLst>
              <p:tags r:id="rId15"/>
            </p:custDataLst>
          </p:nvPr>
        </p:nvSpPr>
        <p:spPr>
          <a:xfrm>
            <a:off x="6222681" y="5847753"/>
            <a:ext cx="2011680" cy="46037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冷锋追上暖锋</a:t>
            </a:r>
            <a:endParaRPr lang="zh-CN" altLang="en-US" sz="2400">
              <a:latin typeface="微软雅黑" panose="020B0503020204020204" charset="-122"/>
              <a:ea typeface="微软雅黑" panose="020B0503020204020204" charset="-122"/>
            </a:endParaRPr>
          </a:p>
        </p:txBody>
      </p:sp>
      <p:sp>
        <p:nvSpPr>
          <p:cNvPr id="4" name="文本框 3"/>
          <p:cNvSpPr txBox="1"/>
          <p:nvPr>
            <p:custDataLst>
              <p:tags r:id="rId16"/>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custDataLst>
              <p:tags r:id="rId17"/>
            </p:custDataLst>
          </p:nvPr>
        </p:nvSpPr>
        <p:spPr>
          <a:xfrm>
            <a:off x="371475" y="110617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1 锢囚锋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
        <p:nvSpPr>
          <p:cNvPr id="6" name="矩形 5"/>
          <p:cNvSpPr/>
          <p:nvPr>
            <p:custDataLst>
              <p:tags r:id="rId18"/>
            </p:custDataLst>
          </p:nvPr>
        </p:nvSpPr>
        <p:spPr>
          <a:xfrm>
            <a:off x="516573" y="1678940"/>
            <a:ext cx="11158855" cy="1651635"/>
          </a:xfrm>
          <a:prstGeom prst="rect">
            <a:avLst/>
          </a:prstGeom>
          <a:solidFill>
            <a:schemeClr val="accent1">
              <a:lumMod val="20000"/>
              <a:lumOff val="80000"/>
            </a:schemeClr>
          </a:solidFill>
          <a:ln>
            <a:solidFill>
              <a:schemeClr val="tx1"/>
            </a:solidFill>
            <a:prstDash val="dash"/>
          </a:ln>
        </p:spPr>
        <p:txBody>
          <a:bodyPr wrap="square">
            <a:noAutofit/>
          </a:bodyPr>
          <a:lstStyle>
            <a:defPPr>
              <a:defRPr lang="zh-CN"/>
            </a:defPPr>
            <a:lvl1pPr indent="0">
              <a:lnSpc>
                <a:spcPct val="150000"/>
              </a:lnSpc>
              <a:buFont typeface="Arial" panose="020B0604020202020204" pitchFamily="34" charset="0"/>
              <a:buNone/>
              <a:tabLst>
                <a:tab pos="2070735" algn="l"/>
              </a:tabLst>
              <a:defRPr sz="2400" kern="100">
                <a:effectLst/>
                <a:latin typeface="Times New Roman" panose="02020603050405020304" charset="0"/>
                <a:ea typeface="+mj-ea"/>
                <a:cs typeface="Times New Roman" panose="02020603050405020304" charset="0"/>
              </a:defRPr>
            </a:lvl1pPr>
          </a:lstStyle>
          <a:p>
            <a:pPr marL="342900" lvl="0" indent="-342900" algn="just" defTabSz="914400">
              <a:lnSpc>
                <a:spcPct val="140000"/>
              </a:lnSpc>
              <a:buClrTx/>
              <a:buSzTx/>
              <a:buFont typeface="Wingdings" panose="05000000000000000000" pitchFamily="2" charset="2"/>
              <a:buChar char="Ø"/>
              <a:defRPr/>
            </a:pPr>
            <a:r>
              <a:rPr lang="zh-CN" kern="1200">
                <a:latin typeface="微软雅黑" panose="020B0503020204020204" charset="-122"/>
                <a:ea typeface="微软雅黑" panose="020B0503020204020204" charset="-122"/>
                <a:cs typeface="+mn-cs"/>
                <a:sym typeface="+mn-ea"/>
              </a:rPr>
              <a:t>在锋面气旋中，由于冷气团移动较快，暖气团移动较慢，所以</a:t>
            </a:r>
            <a:r>
              <a:rPr lang="zh-CN" b="1" kern="1200">
                <a:solidFill>
                  <a:srgbClr val="0026E5"/>
                </a:solidFill>
                <a:latin typeface="微软雅黑" panose="020B0503020204020204" charset="-122"/>
                <a:ea typeface="微软雅黑" panose="020B0503020204020204" charset="-122"/>
                <a:cs typeface="+mn-cs"/>
                <a:sym typeface="+mn-ea"/>
              </a:rPr>
              <a:t>锋面气旋中的冷锋终将追上暖锋</a:t>
            </a:r>
            <a:r>
              <a:rPr lang="zh-CN" kern="1200">
                <a:latin typeface="微软雅黑" panose="020B0503020204020204" charset="-122"/>
                <a:ea typeface="微软雅黑" panose="020B0503020204020204" charset="-122"/>
                <a:cs typeface="+mn-cs"/>
                <a:sym typeface="+mn-ea"/>
              </a:rPr>
              <a:t>，最后冷锋与暖锋相叠，</a:t>
            </a:r>
            <a:r>
              <a:rPr lang="zh-CN" b="1" kern="1200">
                <a:solidFill>
                  <a:srgbClr val="0026E5"/>
                </a:solidFill>
                <a:latin typeface="微软雅黑" panose="020B0503020204020204" charset="-122"/>
                <a:ea typeface="微软雅黑" panose="020B0503020204020204" charset="-122"/>
                <a:cs typeface="+mn-cs"/>
                <a:sym typeface="+mn-ea"/>
              </a:rPr>
              <a:t>将地面的暖空气全部举升至空中</a:t>
            </a:r>
            <a:r>
              <a:rPr lang="zh-CN" kern="1200">
                <a:latin typeface="微软雅黑" panose="020B0503020204020204" charset="-122"/>
                <a:ea typeface="微软雅黑" panose="020B0503020204020204" charset="-122"/>
                <a:cs typeface="+mn-cs"/>
                <a:sym typeface="+mn-ea"/>
              </a:rPr>
              <a:t>，便形成锢囚锋。所谓锢囚，是指</a:t>
            </a:r>
            <a:r>
              <a:rPr lang="zh-CN" b="1" kern="1200">
                <a:solidFill>
                  <a:srgbClr val="0026E5"/>
                </a:solidFill>
                <a:latin typeface="微软雅黑" panose="020B0503020204020204" charset="-122"/>
                <a:ea typeface="微软雅黑" panose="020B0503020204020204" charset="-122"/>
                <a:cs typeface="+mn-cs"/>
                <a:sym typeface="+mn-ea"/>
              </a:rPr>
              <a:t>暖气团被锢囚在高空</a:t>
            </a:r>
            <a:r>
              <a:rPr lang="zh-CN" kern="1200">
                <a:latin typeface="微软雅黑" panose="020B0503020204020204" charset="-122"/>
                <a:ea typeface="微软雅黑" panose="020B0503020204020204" charset="-122"/>
                <a:cs typeface="+mn-cs"/>
                <a:sym typeface="+mn-ea"/>
              </a:rPr>
              <a:t>。</a:t>
            </a:r>
            <a:endParaRPr lang="zh-CN" kern="1200">
              <a:latin typeface="微软雅黑" panose="020B0503020204020204" charset="-122"/>
              <a:ea typeface="微软雅黑" panose="020B0503020204020204" charset="-122"/>
              <a:cs typeface="+mn-cs"/>
              <a:sym typeface="+mn-ea"/>
            </a:endParaRPr>
          </a:p>
        </p:txBody>
      </p:sp>
    </p:spTree>
    <p:custDataLst>
      <p:tags r:id="rId1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a:off x="465773" y="1794510"/>
            <a:ext cx="11260455" cy="2226945"/>
          </a:xfrm>
          <a:prstGeom prst="rect">
            <a:avLst/>
          </a:prstGeom>
          <a:solidFill>
            <a:schemeClr val="accent1">
              <a:lumMod val="20000"/>
              <a:lumOff val="80000"/>
            </a:schemeClr>
          </a:solidFill>
          <a:ln>
            <a:solidFill>
              <a:schemeClr val="tx1"/>
            </a:solidFill>
            <a:prstDash val="dash"/>
          </a:ln>
        </p:spPr>
        <p:txBody>
          <a:bodyPr wrap="square">
            <a:noAutofit/>
          </a:bodyPr>
          <a:lstStyle>
            <a:defPPr>
              <a:defRPr lang="zh-CN"/>
            </a:defPPr>
            <a:lvl1pPr indent="0">
              <a:lnSpc>
                <a:spcPct val="150000"/>
              </a:lnSpc>
              <a:buFont typeface="Arial" panose="020B0604020202020204" pitchFamily="34" charset="0"/>
              <a:buNone/>
              <a:tabLst>
                <a:tab pos="2070735" algn="l"/>
              </a:tabLst>
              <a:defRPr sz="2400" kern="100">
                <a:effectLst/>
                <a:latin typeface="Times New Roman" panose="02020603050405020304" charset="0"/>
                <a:ea typeface="+mj-ea"/>
                <a:cs typeface="Times New Roman" panose="02020603050405020304" charset="0"/>
              </a:defRPr>
            </a:lvl1pPr>
          </a:lstStyle>
          <a:p>
            <a:pPr marL="342900" lvl="0" indent="-342900" algn="just" defTabSz="914400">
              <a:lnSpc>
                <a:spcPct val="140000"/>
              </a:lnSpc>
              <a:buClrTx/>
              <a:buSzTx/>
              <a:buFont typeface="Wingdings" panose="05000000000000000000" pitchFamily="2" charset="2"/>
              <a:buChar char="Ø"/>
              <a:defRPr/>
            </a:pPr>
            <a:r>
              <a:rPr lang="zh-CN" kern="1200">
                <a:latin typeface="微软雅黑" panose="020B0503020204020204" charset="-122"/>
                <a:ea typeface="微软雅黑" panose="020B0503020204020204" charset="-122"/>
                <a:cs typeface="+mn-cs"/>
                <a:sym typeface="+mn-ea"/>
              </a:rPr>
              <a:t>在我国，</a:t>
            </a:r>
            <a:r>
              <a:rPr lang="zh-CN" b="1" kern="1200">
                <a:solidFill>
                  <a:srgbClr val="0026E5"/>
                </a:solidFill>
                <a:latin typeface="微软雅黑" panose="020B0503020204020204" charset="-122"/>
                <a:ea typeface="微软雅黑" panose="020B0503020204020204" charset="-122"/>
                <a:cs typeface="+mn-cs"/>
                <a:sym typeface="+mn-ea"/>
              </a:rPr>
              <a:t>温带气旋(锋面气旋)中冷锋追上暖锋而形成锢囚锋的现象十分常见</a:t>
            </a:r>
            <a:r>
              <a:rPr lang="zh-CN" kern="1200">
                <a:latin typeface="微软雅黑" panose="020B0503020204020204" charset="-122"/>
                <a:ea typeface="微软雅黑" panose="020B0503020204020204" charset="-122"/>
                <a:cs typeface="+mn-cs"/>
                <a:sym typeface="+mn-ea"/>
              </a:rPr>
              <a:t>。下图代表了锋面气旋从产生到最终消亡的全过程，D过程开始出现锢囚锋，当暖空气完全被囚锢到高空之后，由于地面气温差异减小，气压差异减小，气团驱动力逐渐消失，锋面气旋也最终消亡。</a:t>
            </a:r>
            <a:endParaRPr lang="zh-CN" kern="1200">
              <a:latin typeface="微软雅黑" panose="020B0503020204020204" charset="-122"/>
              <a:ea typeface="微软雅黑" panose="020B0503020204020204" charset="-122"/>
              <a:cs typeface="+mn-cs"/>
              <a:sym typeface="+mn-ea"/>
            </a:endParaRPr>
          </a:p>
        </p:txBody>
      </p:sp>
      <p:grpSp>
        <p:nvGrpSpPr>
          <p:cNvPr id="3" name="组合 2"/>
          <p:cNvGrpSpPr/>
          <p:nvPr>
            <p:custDataLst>
              <p:tags r:id="rId2"/>
            </p:custDataLst>
          </p:nvPr>
        </p:nvGrpSpPr>
        <p:grpSpPr>
          <a:xfrm>
            <a:off x="385836" y="4092681"/>
            <a:ext cx="11420329" cy="1917541"/>
            <a:chOff x="486122" y="2620279"/>
            <a:chExt cx="12891246" cy="2164517"/>
          </a:xfrm>
        </p:grpSpPr>
        <p:pic>
          <p:nvPicPr>
            <p:cNvPr id="4" name="图片 3" descr="图示  描述已自动生成"/>
            <p:cNvPicPr>
              <a:picLocks noChangeAspect="1"/>
            </p:cNvPicPr>
            <p:nvPr>
              <p:custDataLst>
                <p:tags r:id="rId3"/>
              </p:custDataLst>
            </p:nvPr>
          </p:nvPicPr>
          <p:blipFill>
            <a:blip r:embed="rId4">
              <a:extLst>
                <a:ext uri="{28A0092B-C50C-407E-A947-70E740481C1C}">
                  <a14:useLocalDpi xmlns:a14="http://schemas.microsoft.com/office/drawing/2010/main" val="0"/>
                </a:ext>
              </a:extLst>
            </a:blip>
            <a:srcRect r="2281" b="49620"/>
            <a:stretch>
              <a:fillRect/>
            </a:stretch>
          </p:blipFill>
          <p:spPr>
            <a:xfrm>
              <a:off x="486122" y="2620279"/>
              <a:ext cx="7457231" cy="2164517"/>
            </a:xfrm>
            <a:prstGeom prst="rect">
              <a:avLst/>
            </a:prstGeom>
          </p:spPr>
        </p:pic>
        <p:pic>
          <p:nvPicPr>
            <p:cNvPr id="2" name="图片 1" descr="图示  描述已自动生成"/>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l="15598" t="49620" r="14029"/>
            <a:stretch>
              <a:fillRect/>
            </a:stretch>
          </p:blipFill>
          <p:spPr>
            <a:xfrm>
              <a:off x="8006963" y="2620279"/>
              <a:ext cx="5370405" cy="2164517"/>
            </a:xfrm>
            <a:prstGeom prst="rect">
              <a:avLst/>
            </a:prstGeom>
          </p:spPr>
        </p:pic>
      </p:grpSp>
      <p:sp>
        <p:nvSpPr>
          <p:cNvPr id="8" name="文本框 7"/>
          <p:cNvSpPr txBox="1"/>
          <p:nvPr>
            <p:custDataLst>
              <p:tags r:id="rId6"/>
            </p:custDataLst>
          </p:nvPr>
        </p:nvSpPr>
        <p:spPr>
          <a:xfrm>
            <a:off x="3102928" y="1106170"/>
            <a:ext cx="5986145" cy="527685"/>
          </a:xfrm>
          <a:prstGeom prst="rect">
            <a:avLst/>
          </a:prstGeom>
          <a:solidFill>
            <a:srgbClr val="FFD34D"/>
          </a:solidFill>
          <a:ln w="3175">
            <a:solidFill>
              <a:schemeClr val="tx1"/>
            </a:solidFill>
            <a:prstDash val="dash"/>
          </a:ln>
          <a:effectLst/>
        </p:spPr>
        <p:txBody>
          <a:bodyPr wrap="none" rtlCol="0">
            <a:noAutofit/>
          </a:bodyPr>
          <a:lstStyle/>
          <a:p>
            <a:pPr lvl="0" algn="ctr">
              <a:lnSpc>
                <a:spcPct val="110000"/>
              </a:lnSpc>
              <a:buClrTx/>
              <a:buSzTx/>
              <a:buFontTx/>
            </a:pPr>
            <a:r>
              <a:rPr lang="zh-CN" altLang="zh-CN" sz="2400" b="1" kern="0" spc="200">
                <a:latin typeface="微软雅黑" panose="020B0503020204020204" charset="-122"/>
                <a:ea typeface="微软雅黑" panose="020B0503020204020204" charset="-122"/>
                <a:cs typeface="微软雅黑" panose="020B0503020204020204" charset="-122"/>
                <a:sym typeface="+mn-ea"/>
              </a:rPr>
              <a:t>锋面气旋(温带气旋) 形成锢囚锋的过程</a:t>
            </a:r>
            <a:endParaRPr lang="zh-CN" altLang="zh-CN" sz="2400" b="1" kern="0" spc="200">
              <a:latin typeface="微软雅黑" panose="020B0503020204020204" charset="-122"/>
              <a:ea typeface="微软雅黑" panose="020B0503020204020204" charset="-122"/>
              <a:cs typeface="微软雅黑" panose="020B0503020204020204" charset="-122"/>
              <a:sym typeface="+mn-ea"/>
            </a:endParaRPr>
          </a:p>
        </p:txBody>
      </p:sp>
      <p:sp>
        <p:nvSpPr>
          <p:cNvPr id="12" name="文本框 11"/>
          <p:cNvSpPr txBox="1"/>
          <p:nvPr>
            <p:custDataLst>
              <p:tags r:id="rId7"/>
            </p:custDataLst>
          </p:nvPr>
        </p:nvSpPr>
        <p:spPr>
          <a:xfrm>
            <a:off x="929818" y="6044617"/>
            <a:ext cx="1364649" cy="368300"/>
          </a:xfrm>
          <a:prstGeom prst="rect">
            <a:avLst/>
          </a:prstGeom>
          <a:noFill/>
        </p:spPr>
        <p:txBody>
          <a:bodyPr wrap="square">
            <a:spAutoFit/>
          </a:bodyPr>
          <a:lstStyle/>
          <a:p>
            <a:pPr algn="ctr"/>
            <a:r>
              <a:rPr lang="zh-CN" altLang="en-US" b="1" i="0">
                <a:solidFill>
                  <a:srgbClr val="7030A0"/>
                </a:solidFill>
                <a:effectLst/>
                <a:latin typeface="微软雅黑" panose="020B0503020204020204" charset="-122"/>
                <a:ea typeface="微软雅黑" panose="020B0503020204020204" charset="-122"/>
              </a:rPr>
              <a:t>初生阶段</a:t>
            </a:r>
            <a:endParaRPr lang="zh-CN" altLang="en-US" b="1" i="0">
              <a:solidFill>
                <a:srgbClr val="7030A0"/>
              </a:solidFill>
              <a:effectLst/>
              <a:latin typeface="微软雅黑" panose="020B0503020204020204" charset="-122"/>
              <a:ea typeface="微软雅黑" panose="020B0503020204020204" charset="-122"/>
            </a:endParaRPr>
          </a:p>
        </p:txBody>
      </p:sp>
      <p:sp>
        <p:nvSpPr>
          <p:cNvPr id="13" name="文本框 12"/>
          <p:cNvSpPr txBox="1"/>
          <p:nvPr>
            <p:custDataLst>
              <p:tags r:id="rId8"/>
            </p:custDataLst>
          </p:nvPr>
        </p:nvSpPr>
        <p:spPr>
          <a:xfrm>
            <a:off x="4240285" y="6044617"/>
            <a:ext cx="1364649" cy="368300"/>
          </a:xfrm>
          <a:prstGeom prst="rect">
            <a:avLst/>
          </a:prstGeom>
          <a:noFill/>
        </p:spPr>
        <p:txBody>
          <a:bodyPr wrap="square">
            <a:spAutoFit/>
          </a:bodyPr>
          <a:lstStyle/>
          <a:p>
            <a:pPr algn="ctr"/>
            <a:r>
              <a:rPr lang="zh-CN" altLang="en-US" b="1" i="0">
                <a:solidFill>
                  <a:srgbClr val="7030A0"/>
                </a:solidFill>
                <a:effectLst/>
                <a:latin typeface="微软雅黑" panose="020B0503020204020204" charset="-122"/>
                <a:ea typeface="微软雅黑" panose="020B0503020204020204" charset="-122"/>
              </a:rPr>
              <a:t>发展阶段</a:t>
            </a:r>
            <a:endParaRPr lang="zh-CN" altLang="en-US" b="1" i="0">
              <a:solidFill>
                <a:srgbClr val="7030A0"/>
              </a:solidFill>
              <a:effectLst/>
              <a:latin typeface="微软雅黑" panose="020B0503020204020204" charset="-122"/>
              <a:ea typeface="微软雅黑" panose="020B0503020204020204" charset="-122"/>
            </a:endParaRPr>
          </a:p>
        </p:txBody>
      </p:sp>
      <p:sp>
        <p:nvSpPr>
          <p:cNvPr id="14" name="文本框 13"/>
          <p:cNvSpPr txBox="1"/>
          <p:nvPr>
            <p:custDataLst>
              <p:tags r:id="rId9"/>
            </p:custDataLst>
          </p:nvPr>
        </p:nvSpPr>
        <p:spPr>
          <a:xfrm>
            <a:off x="7550752" y="6044617"/>
            <a:ext cx="1364649" cy="368300"/>
          </a:xfrm>
          <a:prstGeom prst="rect">
            <a:avLst/>
          </a:prstGeom>
          <a:noFill/>
        </p:spPr>
        <p:txBody>
          <a:bodyPr wrap="square">
            <a:spAutoFit/>
          </a:bodyPr>
          <a:lstStyle/>
          <a:p>
            <a:pPr algn="ctr"/>
            <a:r>
              <a:rPr lang="zh-CN" altLang="en-US" b="1" i="0">
                <a:solidFill>
                  <a:srgbClr val="7030A0"/>
                </a:solidFill>
                <a:effectLst/>
                <a:latin typeface="微软雅黑" panose="020B0503020204020204" charset="-122"/>
                <a:ea typeface="微软雅黑" panose="020B0503020204020204" charset="-122"/>
              </a:rPr>
              <a:t>锢囚阶段</a:t>
            </a:r>
            <a:endParaRPr lang="zh-CN" altLang="en-US" b="1" i="0">
              <a:solidFill>
                <a:srgbClr val="7030A0"/>
              </a:solidFill>
              <a:effectLst/>
              <a:latin typeface="微软雅黑" panose="020B0503020204020204" charset="-122"/>
              <a:ea typeface="微软雅黑" panose="020B0503020204020204" charset="-122"/>
            </a:endParaRPr>
          </a:p>
        </p:txBody>
      </p:sp>
      <p:sp>
        <p:nvSpPr>
          <p:cNvPr id="15" name="文本框 14"/>
          <p:cNvSpPr txBox="1"/>
          <p:nvPr>
            <p:custDataLst>
              <p:tags r:id="rId10"/>
            </p:custDataLst>
          </p:nvPr>
        </p:nvSpPr>
        <p:spPr>
          <a:xfrm>
            <a:off x="10132026" y="6044617"/>
            <a:ext cx="1364649" cy="368300"/>
          </a:xfrm>
          <a:prstGeom prst="rect">
            <a:avLst/>
          </a:prstGeom>
          <a:noFill/>
        </p:spPr>
        <p:txBody>
          <a:bodyPr wrap="square">
            <a:spAutoFit/>
          </a:bodyPr>
          <a:lstStyle/>
          <a:p>
            <a:pPr algn="ctr"/>
            <a:r>
              <a:rPr lang="zh-CN" altLang="en-US" b="1" i="0">
                <a:solidFill>
                  <a:srgbClr val="7030A0"/>
                </a:solidFill>
                <a:effectLst/>
                <a:latin typeface="微软雅黑" panose="020B0503020204020204" charset="-122"/>
                <a:ea typeface="微软雅黑" panose="020B0503020204020204" charset="-122"/>
              </a:rPr>
              <a:t>消亡阶段</a:t>
            </a:r>
            <a:endParaRPr lang="zh-CN" altLang="en-US" b="1" i="0">
              <a:solidFill>
                <a:srgbClr val="7030A0"/>
              </a:solidFill>
              <a:effectLst/>
              <a:latin typeface="微软雅黑" panose="020B0503020204020204" charset="-122"/>
              <a:ea typeface="微软雅黑" panose="020B0503020204020204" charset="-122"/>
            </a:endParaRPr>
          </a:p>
        </p:txBody>
      </p:sp>
      <p:sp>
        <p:nvSpPr>
          <p:cNvPr id="9" name="文本框 8"/>
          <p:cNvSpPr txBox="1"/>
          <p:nvPr>
            <p:custDataLst>
              <p:tags r:id="rId11"/>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custDataLst>
              <p:tags r:id="rId12"/>
            </p:custDataLst>
          </p:nvPr>
        </p:nvSpPr>
        <p:spPr>
          <a:xfrm>
            <a:off x="371475" y="110617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1 锢囚锋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13"/>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42" presetClass="entr" presetSubtype="0" fill="hold" grpId="0" nodeType="afterEffect">
                                  <p:stCondLst>
                                    <p:cond delay="25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anim calcmode="lin" valueType="num">
                                      <p:cBhvr>
                                        <p:cTn id="16" dur="1000" fill="hold"/>
                                        <p:tgtEl>
                                          <p:spTgt spid="12"/>
                                        </p:tgtEl>
                                        <p:attrNameLst>
                                          <p:attrName>ppt_x</p:attrName>
                                        </p:attrNameLst>
                                      </p:cBhvr>
                                      <p:tavLst>
                                        <p:tav tm="0">
                                          <p:val>
                                            <p:strVal val="#ppt_x"/>
                                          </p:val>
                                        </p:tav>
                                        <p:tav tm="100000">
                                          <p:val>
                                            <p:strVal val="#ppt_x"/>
                                          </p:val>
                                        </p:tav>
                                      </p:tavLst>
                                    </p:anim>
                                    <p:anim calcmode="lin" valueType="num">
                                      <p:cBhvr>
                                        <p:cTn id="17" dur="1000" fill="hold"/>
                                        <p:tgtEl>
                                          <p:spTgt spid="12"/>
                                        </p:tgtEl>
                                        <p:attrNameLst>
                                          <p:attrName>ppt_y</p:attrName>
                                        </p:attrNameLst>
                                      </p:cBhvr>
                                      <p:tavLst>
                                        <p:tav tm="0">
                                          <p:val>
                                            <p:strVal val="#ppt_y+.1"/>
                                          </p:val>
                                        </p:tav>
                                        <p:tav tm="100000">
                                          <p:val>
                                            <p:strVal val="#ppt_y"/>
                                          </p:val>
                                        </p:tav>
                                      </p:tavLst>
                                    </p:anim>
                                  </p:childTnLst>
                                </p:cTn>
                              </p:par>
                            </p:childTnLst>
                          </p:cTn>
                        </p:par>
                        <p:par>
                          <p:cTn id="18" fill="hold">
                            <p:stCondLst>
                              <p:cond delay="2250"/>
                            </p:stCondLst>
                            <p:childTnLst>
                              <p:par>
                                <p:cTn id="19" presetID="42" presetClass="entr" presetSubtype="0" fill="hold" grpId="0" nodeType="afterEffect">
                                  <p:stCondLst>
                                    <p:cond delay="25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childTnLst>
                          </p:cTn>
                        </p:par>
                        <p:par>
                          <p:cTn id="24" fill="hold">
                            <p:stCondLst>
                              <p:cond delay="3500"/>
                            </p:stCondLst>
                            <p:childTnLst>
                              <p:par>
                                <p:cTn id="25" presetID="42" presetClass="entr" presetSubtype="0" fill="hold" grpId="0" nodeType="afterEffect">
                                  <p:stCondLst>
                                    <p:cond delay="25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childTnLst>
                          </p:cTn>
                        </p:par>
                        <p:par>
                          <p:cTn id="30" fill="hold">
                            <p:stCondLst>
                              <p:cond delay="4750"/>
                            </p:stCondLst>
                            <p:childTnLst>
                              <p:par>
                                <p:cTn id="31" presetID="42" presetClass="entr" presetSubtype="0" fill="hold" grpId="0" nodeType="afterEffect">
                                  <p:stCondLst>
                                    <p:cond delay="25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1000"/>
                                        <p:tgtEl>
                                          <p:spTgt spid="15"/>
                                        </p:tgtEl>
                                      </p:cBhvr>
                                    </p:animEffect>
                                    <p:anim calcmode="lin" valueType="num">
                                      <p:cBhvr>
                                        <p:cTn id="34" dur="1000" fill="hold"/>
                                        <p:tgtEl>
                                          <p:spTgt spid="15"/>
                                        </p:tgtEl>
                                        <p:attrNameLst>
                                          <p:attrName>ppt_x</p:attrName>
                                        </p:attrNameLst>
                                      </p:cBhvr>
                                      <p:tavLst>
                                        <p:tav tm="0">
                                          <p:val>
                                            <p:strVal val="#ppt_x"/>
                                          </p:val>
                                        </p:tav>
                                        <p:tav tm="100000">
                                          <p:val>
                                            <p:strVal val="#ppt_x"/>
                                          </p:val>
                                        </p:tav>
                                      </p:tavLst>
                                    </p:anim>
                                    <p:anim calcmode="lin" valueType="num">
                                      <p:cBhvr>
                                        <p:cTn id="3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custDataLst>
              <p:tags r:id="rId1"/>
            </p:custDataLst>
          </p:nvPr>
        </p:nvSpPr>
        <p:spPr>
          <a:xfrm>
            <a:off x="465455" y="1781810"/>
            <a:ext cx="2263775" cy="554355"/>
          </a:xfrm>
          <a:prstGeom prst="rect">
            <a:avLst/>
          </a:prstGeom>
          <a:solidFill>
            <a:srgbClr val="FFD34D"/>
          </a:solidFill>
          <a:ln w="3175">
            <a:solidFill>
              <a:schemeClr val="tx1"/>
            </a:solidFill>
            <a:prstDash val="dash"/>
          </a:ln>
          <a:effectLst/>
        </p:spPr>
        <p:txBody>
          <a:bodyPr wrap="none" rtlCol="0">
            <a:noAutofit/>
          </a:bodyPr>
          <a:lstStyle/>
          <a:p>
            <a:pPr lvl="0" algn="ctr">
              <a:lnSpc>
                <a:spcPct val="110000"/>
              </a:lnSpc>
              <a:buClrTx/>
              <a:buSzTx/>
              <a:buFontTx/>
            </a:pPr>
            <a:r>
              <a:rPr lang="zh-CN" altLang="zh-CN" sz="2400" b="1" kern="0" spc="200">
                <a:latin typeface="微软雅黑" panose="020B0503020204020204" charset="-122"/>
                <a:ea typeface="微软雅黑" panose="020B0503020204020204" charset="-122"/>
                <a:cs typeface="微软雅黑" panose="020B0503020204020204" charset="-122"/>
                <a:sym typeface="+mn-ea"/>
              </a:rPr>
              <a:t>锢囚锋的分类</a:t>
            </a:r>
            <a:endParaRPr lang="zh-CN" altLang="zh-CN" sz="2400" b="1" kern="0" spc="200">
              <a:latin typeface="微软雅黑" panose="020B0503020204020204" charset="-122"/>
              <a:ea typeface="微软雅黑" panose="020B0503020204020204" charset="-122"/>
              <a:cs typeface="微软雅黑" panose="020B0503020204020204" charset="-122"/>
              <a:sym typeface="+mn-ea"/>
            </a:endParaRPr>
          </a:p>
        </p:txBody>
      </p:sp>
      <p:grpSp>
        <p:nvGrpSpPr>
          <p:cNvPr id="26" name="组合 25"/>
          <p:cNvGrpSpPr/>
          <p:nvPr>
            <p:custDataLst>
              <p:tags r:id="rId2"/>
            </p:custDataLst>
          </p:nvPr>
        </p:nvGrpSpPr>
        <p:grpSpPr>
          <a:xfrm>
            <a:off x="1670678" y="2360912"/>
            <a:ext cx="4188256" cy="2304233"/>
            <a:chOff x="1670678" y="2704239"/>
            <a:chExt cx="4188256" cy="2304233"/>
          </a:xfrm>
        </p:grpSpPr>
        <p:grpSp>
          <p:nvGrpSpPr>
            <p:cNvPr id="8" name="组合 7"/>
            <p:cNvGrpSpPr/>
            <p:nvPr>
              <p:custDataLst>
                <p:tags r:id="rId3"/>
              </p:custDataLst>
            </p:nvPr>
          </p:nvGrpSpPr>
          <p:grpSpPr>
            <a:xfrm>
              <a:off x="1735667" y="4832351"/>
              <a:ext cx="4123267" cy="176121"/>
              <a:chOff x="1735667" y="4832351"/>
              <a:chExt cx="4123267" cy="176121"/>
            </a:xfrm>
          </p:grpSpPr>
          <p:sp>
            <p:nvSpPr>
              <p:cNvPr id="2" name="矩形 1"/>
              <p:cNvSpPr/>
              <p:nvPr>
                <p:custDataLst>
                  <p:tags r:id="rId4"/>
                </p:custDataLst>
              </p:nvPr>
            </p:nvSpPr>
            <p:spPr>
              <a:xfrm>
                <a:off x="1735667" y="4832351"/>
                <a:ext cx="4123267" cy="176121"/>
              </a:xfrm>
              <a:prstGeom prst="rect">
                <a:avLst/>
              </a:prstGeom>
              <a:pattFill prst="wdUp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cxnSp>
            <p:nvCxnSpPr>
              <p:cNvPr id="6" name="直接连接符 5"/>
              <p:cNvCxnSpPr/>
              <p:nvPr>
                <p:custDataLst>
                  <p:tags r:id="rId5"/>
                </p:custDataLst>
              </p:nvPr>
            </p:nvCxnSpPr>
            <p:spPr>
              <a:xfrm>
                <a:off x="1735667" y="4832351"/>
                <a:ext cx="4123267" cy="0"/>
              </a:xfrm>
              <a:prstGeom prst="line">
                <a:avLst/>
              </a:prstGeom>
            </p:spPr>
            <p:style>
              <a:lnRef idx="1">
                <a:schemeClr val="dk1"/>
              </a:lnRef>
              <a:fillRef idx="0">
                <a:schemeClr val="dk1"/>
              </a:fillRef>
              <a:effectRef idx="0">
                <a:schemeClr val="dk1"/>
              </a:effectRef>
              <a:fontRef idx="minor">
                <a:schemeClr val="tx1"/>
              </a:fontRef>
            </p:style>
          </p:cxnSp>
        </p:grpSp>
        <p:sp>
          <p:nvSpPr>
            <p:cNvPr id="11" name="任意多边形: 形状 10"/>
            <p:cNvSpPr/>
            <p:nvPr>
              <p:custDataLst>
                <p:tags r:id="rId6"/>
              </p:custDataLst>
            </p:nvPr>
          </p:nvSpPr>
          <p:spPr>
            <a:xfrm>
              <a:off x="1735667" y="3560363"/>
              <a:ext cx="2175933" cy="1271987"/>
            </a:xfrm>
            <a:custGeom>
              <a:avLst/>
              <a:gdLst>
                <a:gd name="connsiteX0" fmla="*/ 0 w 2175933"/>
                <a:gd name="connsiteY0" fmla="*/ 1987 h 1271987"/>
                <a:gd name="connsiteX1" fmla="*/ 694267 w 2175933"/>
                <a:gd name="connsiteY1" fmla="*/ 35853 h 1271987"/>
                <a:gd name="connsiteX2" fmla="*/ 1329267 w 2175933"/>
                <a:gd name="connsiteY2" fmla="*/ 247520 h 1271987"/>
                <a:gd name="connsiteX3" fmla="*/ 1930400 w 2175933"/>
                <a:gd name="connsiteY3" fmla="*/ 730120 h 1271987"/>
                <a:gd name="connsiteX4" fmla="*/ 2175933 w 2175933"/>
                <a:gd name="connsiteY4" fmla="*/ 1271987 h 1271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5933" h="1271987">
                  <a:moveTo>
                    <a:pt x="0" y="1987"/>
                  </a:moveTo>
                  <a:cubicBezTo>
                    <a:pt x="236361" y="-1541"/>
                    <a:pt x="472723" y="-5069"/>
                    <a:pt x="694267" y="35853"/>
                  </a:cubicBezTo>
                  <a:cubicBezTo>
                    <a:pt x="915812" y="76775"/>
                    <a:pt x="1123245" y="131809"/>
                    <a:pt x="1329267" y="247520"/>
                  </a:cubicBezTo>
                  <a:cubicBezTo>
                    <a:pt x="1535289" y="363231"/>
                    <a:pt x="1789289" y="559376"/>
                    <a:pt x="1930400" y="730120"/>
                  </a:cubicBezTo>
                  <a:cubicBezTo>
                    <a:pt x="2071511" y="900865"/>
                    <a:pt x="2123722" y="1086426"/>
                    <a:pt x="2175933" y="1271987"/>
                  </a:cubicBezTo>
                </a:path>
              </a:pathLst>
            </a:cu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latin typeface="微软雅黑" panose="020B0503020204020204" charset="-122"/>
                <a:ea typeface="微软雅黑" panose="020B0503020204020204" charset="-122"/>
              </a:endParaRPr>
            </a:p>
          </p:txBody>
        </p:sp>
        <p:cxnSp>
          <p:nvCxnSpPr>
            <p:cNvPr id="13" name="直接连接符 12"/>
            <p:cNvCxnSpPr/>
            <p:nvPr>
              <p:custDataLst>
                <p:tags r:id="rId7"/>
              </p:custDataLst>
            </p:nvPr>
          </p:nvCxnSpPr>
          <p:spPr>
            <a:xfrm flipV="1">
              <a:off x="3771900" y="3694945"/>
              <a:ext cx="1887182" cy="755232"/>
            </a:xfrm>
            <a:prstGeom prst="line">
              <a:avLst/>
            </a:prstGeom>
            <a:ln w="38100"/>
          </p:spPr>
          <p:style>
            <a:lnRef idx="1">
              <a:schemeClr val="dk1"/>
            </a:lnRef>
            <a:fillRef idx="0">
              <a:schemeClr val="dk1"/>
            </a:fillRef>
            <a:effectRef idx="0">
              <a:schemeClr val="dk1"/>
            </a:effectRef>
            <a:fontRef idx="minor">
              <a:schemeClr val="tx1"/>
            </a:fontRef>
          </p:style>
        </p:cxnSp>
        <p:grpSp>
          <p:nvGrpSpPr>
            <p:cNvPr id="18" name="组合 17"/>
            <p:cNvGrpSpPr/>
            <p:nvPr>
              <p:custDataLst>
                <p:tags r:id="rId8"/>
              </p:custDataLst>
            </p:nvPr>
          </p:nvGrpSpPr>
          <p:grpSpPr>
            <a:xfrm>
              <a:off x="3357602" y="2704239"/>
              <a:ext cx="1107996" cy="530757"/>
              <a:chOff x="6806670" y="3982309"/>
              <a:chExt cx="1107996" cy="530757"/>
            </a:xfrm>
          </p:grpSpPr>
          <p:sp>
            <p:nvSpPr>
              <p:cNvPr id="16" name="箭头: 右 15"/>
              <p:cNvSpPr/>
              <p:nvPr>
                <p:custDataLst>
                  <p:tags r:id="rId9"/>
                </p:custDataLst>
              </p:nvPr>
            </p:nvSpPr>
            <p:spPr>
              <a:xfrm>
                <a:off x="6889470" y="4393688"/>
                <a:ext cx="942397" cy="11937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7" name="文本框 16"/>
              <p:cNvSpPr txBox="1"/>
              <p:nvPr>
                <p:custDataLst>
                  <p:tags r:id="rId10"/>
                </p:custDataLst>
              </p:nvPr>
            </p:nvSpPr>
            <p:spPr>
              <a:xfrm>
                <a:off x="6806670" y="3982309"/>
                <a:ext cx="1107996" cy="461665"/>
              </a:xfrm>
              <a:prstGeom prst="rect">
                <a:avLst/>
              </a:prstGeom>
              <a:noFill/>
            </p:spPr>
            <p:txBody>
              <a:bodyPr wrap="none" rtlCol="0">
                <a:spAutoFit/>
              </a:bodyPr>
              <a:lstStyle/>
              <a:p>
                <a:pPr algn="ctr"/>
                <a:r>
                  <a:rPr lang="zh-CN" altLang="en-US" sz="2400">
                    <a:solidFill>
                      <a:srgbClr val="FF0000"/>
                    </a:solidFill>
                    <a:latin typeface="微软雅黑" panose="020B0503020204020204" charset="-122"/>
                    <a:ea typeface="微软雅黑" panose="020B0503020204020204" charset="-122"/>
                  </a:rPr>
                  <a:t>暖气团</a:t>
                </a:r>
                <a:endParaRPr lang="zh-CN" altLang="en-US" sz="2400">
                  <a:solidFill>
                    <a:srgbClr val="FF0000"/>
                  </a:solidFill>
                  <a:latin typeface="微软雅黑" panose="020B0503020204020204" charset="-122"/>
                  <a:ea typeface="微软雅黑" panose="020B0503020204020204" charset="-122"/>
                </a:endParaRPr>
              </a:p>
            </p:txBody>
          </p:sp>
        </p:grpSp>
        <p:grpSp>
          <p:nvGrpSpPr>
            <p:cNvPr id="20" name="组合 19"/>
            <p:cNvGrpSpPr/>
            <p:nvPr>
              <p:custDataLst>
                <p:tags r:id="rId11"/>
              </p:custDataLst>
            </p:nvPr>
          </p:nvGrpSpPr>
          <p:grpSpPr>
            <a:xfrm>
              <a:off x="1670678" y="4165051"/>
              <a:ext cx="1415772" cy="516152"/>
              <a:chOff x="6652782" y="3996914"/>
              <a:chExt cx="1415772" cy="516152"/>
            </a:xfrm>
          </p:grpSpPr>
          <p:sp>
            <p:nvSpPr>
              <p:cNvPr id="21" name="箭头: 右 20"/>
              <p:cNvSpPr/>
              <p:nvPr>
                <p:custDataLst>
                  <p:tags r:id="rId12"/>
                </p:custDataLst>
              </p:nvPr>
            </p:nvSpPr>
            <p:spPr>
              <a:xfrm>
                <a:off x="6889470" y="4393688"/>
                <a:ext cx="942397" cy="119378"/>
              </a:xfrm>
              <a:prstGeom prst="rightArrow">
                <a:avLst/>
              </a:prstGeom>
              <a:solidFill>
                <a:srgbClr val="2D3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2" name="文本框 21"/>
              <p:cNvSpPr txBox="1"/>
              <p:nvPr>
                <p:custDataLst>
                  <p:tags r:id="rId13"/>
                </p:custDataLst>
              </p:nvPr>
            </p:nvSpPr>
            <p:spPr>
              <a:xfrm>
                <a:off x="6652782" y="3996914"/>
                <a:ext cx="1415772" cy="46166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更冷气团</a:t>
                </a:r>
                <a:endParaRPr lang="zh-CN" altLang="en-US" sz="2400">
                  <a:latin typeface="微软雅黑" panose="020B0503020204020204" charset="-122"/>
                  <a:ea typeface="微软雅黑" panose="020B0503020204020204" charset="-122"/>
                </a:endParaRPr>
              </a:p>
            </p:txBody>
          </p:sp>
        </p:grpSp>
        <p:grpSp>
          <p:nvGrpSpPr>
            <p:cNvPr id="23" name="组合 22"/>
            <p:cNvGrpSpPr/>
            <p:nvPr>
              <p:custDataLst>
                <p:tags r:id="rId14"/>
              </p:custDataLst>
            </p:nvPr>
          </p:nvGrpSpPr>
          <p:grpSpPr>
            <a:xfrm>
              <a:off x="4619486" y="4165051"/>
              <a:ext cx="1107996" cy="516152"/>
              <a:chOff x="6806670" y="3996914"/>
              <a:chExt cx="1107996" cy="516152"/>
            </a:xfrm>
          </p:grpSpPr>
          <p:sp>
            <p:nvSpPr>
              <p:cNvPr id="24" name="箭头: 右 23"/>
              <p:cNvSpPr/>
              <p:nvPr>
                <p:custDataLst>
                  <p:tags r:id="rId15"/>
                </p:custDataLst>
              </p:nvPr>
            </p:nvSpPr>
            <p:spPr>
              <a:xfrm>
                <a:off x="6889470" y="4393688"/>
                <a:ext cx="942397" cy="119378"/>
              </a:xfrm>
              <a:prstGeom prst="righ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5" name="文本框 24"/>
              <p:cNvSpPr txBox="1"/>
              <p:nvPr>
                <p:custDataLst>
                  <p:tags r:id="rId16"/>
                </p:custDataLst>
              </p:nvPr>
            </p:nvSpPr>
            <p:spPr>
              <a:xfrm>
                <a:off x="6806670" y="3996914"/>
                <a:ext cx="1107996" cy="46166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冷气团</a:t>
                </a:r>
                <a:endParaRPr lang="zh-CN" altLang="en-US" sz="2400">
                  <a:latin typeface="微软雅黑" panose="020B0503020204020204" charset="-122"/>
                  <a:ea typeface="微软雅黑" panose="020B0503020204020204" charset="-122"/>
                </a:endParaRPr>
              </a:p>
            </p:txBody>
          </p:sp>
        </p:grpSp>
      </p:grpSp>
      <p:grpSp>
        <p:nvGrpSpPr>
          <p:cNvPr id="44" name="组合 43"/>
          <p:cNvGrpSpPr/>
          <p:nvPr>
            <p:custDataLst>
              <p:tags r:id="rId17"/>
            </p:custDataLst>
          </p:nvPr>
        </p:nvGrpSpPr>
        <p:grpSpPr>
          <a:xfrm>
            <a:off x="6984297" y="2375517"/>
            <a:ext cx="4123267" cy="2289628"/>
            <a:chOff x="6984297" y="2692949"/>
            <a:chExt cx="4123267" cy="2289628"/>
          </a:xfrm>
        </p:grpSpPr>
        <p:grpSp>
          <p:nvGrpSpPr>
            <p:cNvPr id="28" name="组合 27"/>
            <p:cNvGrpSpPr/>
            <p:nvPr>
              <p:custDataLst>
                <p:tags r:id="rId18"/>
              </p:custDataLst>
            </p:nvPr>
          </p:nvGrpSpPr>
          <p:grpSpPr>
            <a:xfrm>
              <a:off x="6984297" y="4806456"/>
              <a:ext cx="4123267" cy="176121"/>
              <a:chOff x="1735667" y="4832351"/>
              <a:chExt cx="4123267" cy="176121"/>
            </a:xfrm>
          </p:grpSpPr>
          <p:sp>
            <p:nvSpPr>
              <p:cNvPr id="40" name="矩形 39"/>
              <p:cNvSpPr/>
              <p:nvPr>
                <p:custDataLst>
                  <p:tags r:id="rId19"/>
                </p:custDataLst>
              </p:nvPr>
            </p:nvSpPr>
            <p:spPr>
              <a:xfrm>
                <a:off x="1735667" y="4832351"/>
                <a:ext cx="4123267" cy="176121"/>
              </a:xfrm>
              <a:prstGeom prst="rect">
                <a:avLst/>
              </a:prstGeom>
              <a:pattFill prst="wdUp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cxnSp>
            <p:nvCxnSpPr>
              <p:cNvPr id="41" name="直接连接符 40"/>
              <p:cNvCxnSpPr/>
              <p:nvPr>
                <p:custDataLst>
                  <p:tags r:id="rId20"/>
                </p:custDataLst>
              </p:nvPr>
            </p:nvCxnSpPr>
            <p:spPr>
              <a:xfrm>
                <a:off x="1735667" y="4832351"/>
                <a:ext cx="4123267" cy="0"/>
              </a:xfrm>
              <a:prstGeom prst="line">
                <a:avLst/>
              </a:prstGeom>
            </p:spPr>
            <p:style>
              <a:lnRef idx="1">
                <a:schemeClr val="dk1"/>
              </a:lnRef>
              <a:fillRef idx="0">
                <a:schemeClr val="dk1"/>
              </a:fillRef>
              <a:effectRef idx="0">
                <a:schemeClr val="dk1"/>
              </a:effectRef>
              <a:fontRef idx="minor">
                <a:schemeClr val="tx1"/>
              </a:fontRef>
            </p:style>
          </p:cxnSp>
        </p:grpSp>
        <p:sp>
          <p:nvSpPr>
            <p:cNvPr id="29" name="任意多边形: 形状 28"/>
            <p:cNvSpPr/>
            <p:nvPr>
              <p:custDataLst>
                <p:tags r:id="rId21"/>
              </p:custDataLst>
            </p:nvPr>
          </p:nvSpPr>
          <p:spPr>
            <a:xfrm>
              <a:off x="6984298" y="3534468"/>
              <a:ext cx="2063450" cy="946975"/>
            </a:xfrm>
            <a:custGeom>
              <a:avLst/>
              <a:gdLst>
                <a:gd name="connsiteX0" fmla="*/ 0 w 2175933"/>
                <a:gd name="connsiteY0" fmla="*/ 1987 h 1271987"/>
                <a:gd name="connsiteX1" fmla="*/ 694267 w 2175933"/>
                <a:gd name="connsiteY1" fmla="*/ 35853 h 1271987"/>
                <a:gd name="connsiteX2" fmla="*/ 1329267 w 2175933"/>
                <a:gd name="connsiteY2" fmla="*/ 247520 h 1271987"/>
                <a:gd name="connsiteX3" fmla="*/ 1930400 w 2175933"/>
                <a:gd name="connsiteY3" fmla="*/ 730120 h 1271987"/>
                <a:gd name="connsiteX4" fmla="*/ 2175933 w 2175933"/>
                <a:gd name="connsiteY4" fmla="*/ 1271987 h 1271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5933" h="1271987">
                  <a:moveTo>
                    <a:pt x="0" y="1987"/>
                  </a:moveTo>
                  <a:cubicBezTo>
                    <a:pt x="236361" y="-1541"/>
                    <a:pt x="472723" y="-5069"/>
                    <a:pt x="694267" y="35853"/>
                  </a:cubicBezTo>
                  <a:cubicBezTo>
                    <a:pt x="915812" y="76775"/>
                    <a:pt x="1123245" y="131809"/>
                    <a:pt x="1329267" y="247520"/>
                  </a:cubicBezTo>
                  <a:cubicBezTo>
                    <a:pt x="1535289" y="363231"/>
                    <a:pt x="1789289" y="559376"/>
                    <a:pt x="1930400" y="730120"/>
                  </a:cubicBezTo>
                  <a:cubicBezTo>
                    <a:pt x="2071511" y="900865"/>
                    <a:pt x="2123722" y="1086426"/>
                    <a:pt x="2175933" y="1271987"/>
                  </a:cubicBezTo>
                </a:path>
              </a:pathLst>
            </a:cu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latin typeface="微软雅黑" panose="020B0503020204020204" charset="-122"/>
                <a:ea typeface="微软雅黑" panose="020B0503020204020204" charset="-122"/>
              </a:endParaRPr>
            </a:p>
          </p:txBody>
        </p:sp>
        <p:cxnSp>
          <p:nvCxnSpPr>
            <p:cNvPr id="30" name="直接连接符 29"/>
            <p:cNvCxnSpPr/>
            <p:nvPr>
              <p:custDataLst>
                <p:tags r:id="rId22"/>
              </p:custDataLst>
            </p:nvPr>
          </p:nvCxnSpPr>
          <p:spPr>
            <a:xfrm flipV="1">
              <a:off x="8393541" y="3669050"/>
              <a:ext cx="2514171" cy="1149603"/>
            </a:xfrm>
            <a:prstGeom prst="line">
              <a:avLst/>
            </a:prstGeom>
            <a:ln w="38100"/>
          </p:spPr>
          <p:style>
            <a:lnRef idx="1">
              <a:schemeClr val="dk1"/>
            </a:lnRef>
            <a:fillRef idx="0">
              <a:schemeClr val="dk1"/>
            </a:fillRef>
            <a:effectRef idx="0">
              <a:schemeClr val="dk1"/>
            </a:effectRef>
            <a:fontRef idx="minor">
              <a:schemeClr val="tx1"/>
            </a:fontRef>
          </p:style>
        </p:cxnSp>
        <p:grpSp>
          <p:nvGrpSpPr>
            <p:cNvPr id="31" name="组合 30"/>
            <p:cNvGrpSpPr/>
            <p:nvPr>
              <p:custDataLst>
                <p:tags r:id="rId23"/>
              </p:custDataLst>
            </p:nvPr>
          </p:nvGrpSpPr>
          <p:grpSpPr>
            <a:xfrm>
              <a:off x="8606232" y="2692949"/>
              <a:ext cx="1107996" cy="516152"/>
              <a:chOff x="6806670" y="3996914"/>
              <a:chExt cx="1107996" cy="516152"/>
            </a:xfrm>
          </p:grpSpPr>
          <p:sp>
            <p:nvSpPr>
              <p:cNvPr id="38" name="箭头: 右 37"/>
              <p:cNvSpPr/>
              <p:nvPr>
                <p:custDataLst>
                  <p:tags r:id="rId24"/>
                </p:custDataLst>
              </p:nvPr>
            </p:nvSpPr>
            <p:spPr>
              <a:xfrm>
                <a:off x="6889470" y="4393688"/>
                <a:ext cx="942397" cy="11937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9" name="文本框 38"/>
              <p:cNvSpPr txBox="1"/>
              <p:nvPr>
                <p:custDataLst>
                  <p:tags r:id="rId25"/>
                </p:custDataLst>
              </p:nvPr>
            </p:nvSpPr>
            <p:spPr>
              <a:xfrm>
                <a:off x="6806670" y="3996914"/>
                <a:ext cx="1107996" cy="461665"/>
              </a:xfrm>
              <a:prstGeom prst="rect">
                <a:avLst/>
              </a:prstGeom>
              <a:noFill/>
            </p:spPr>
            <p:txBody>
              <a:bodyPr wrap="none" rtlCol="0">
                <a:spAutoFit/>
              </a:bodyPr>
              <a:lstStyle/>
              <a:p>
                <a:pPr algn="ctr"/>
                <a:r>
                  <a:rPr lang="zh-CN" altLang="en-US" sz="2400">
                    <a:solidFill>
                      <a:srgbClr val="FF0000"/>
                    </a:solidFill>
                    <a:latin typeface="微软雅黑" panose="020B0503020204020204" charset="-122"/>
                    <a:ea typeface="微软雅黑" panose="020B0503020204020204" charset="-122"/>
                  </a:rPr>
                  <a:t>暖气团</a:t>
                </a:r>
                <a:endParaRPr lang="zh-CN" altLang="en-US" sz="2400">
                  <a:solidFill>
                    <a:srgbClr val="FF0000"/>
                  </a:solidFill>
                  <a:latin typeface="微软雅黑" panose="020B0503020204020204" charset="-122"/>
                  <a:ea typeface="微软雅黑" panose="020B0503020204020204" charset="-122"/>
                </a:endParaRPr>
              </a:p>
            </p:txBody>
          </p:sp>
        </p:grpSp>
        <p:grpSp>
          <p:nvGrpSpPr>
            <p:cNvPr id="32" name="组合 31"/>
            <p:cNvGrpSpPr/>
            <p:nvPr>
              <p:custDataLst>
                <p:tags r:id="rId26"/>
              </p:custDataLst>
            </p:nvPr>
          </p:nvGrpSpPr>
          <p:grpSpPr>
            <a:xfrm>
              <a:off x="9631429" y="4162930"/>
              <a:ext cx="1415772" cy="516152"/>
              <a:chOff x="6652782" y="3996914"/>
              <a:chExt cx="1415772" cy="516152"/>
            </a:xfrm>
          </p:grpSpPr>
          <p:sp>
            <p:nvSpPr>
              <p:cNvPr id="36" name="箭头: 右 35"/>
              <p:cNvSpPr/>
              <p:nvPr>
                <p:custDataLst>
                  <p:tags r:id="rId27"/>
                </p:custDataLst>
              </p:nvPr>
            </p:nvSpPr>
            <p:spPr>
              <a:xfrm>
                <a:off x="6889470" y="4393688"/>
                <a:ext cx="942397" cy="119378"/>
              </a:xfrm>
              <a:prstGeom prst="rightArrow">
                <a:avLst/>
              </a:prstGeom>
              <a:solidFill>
                <a:srgbClr val="2D3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7" name="文本框 36"/>
              <p:cNvSpPr txBox="1"/>
              <p:nvPr>
                <p:custDataLst>
                  <p:tags r:id="rId28"/>
                </p:custDataLst>
              </p:nvPr>
            </p:nvSpPr>
            <p:spPr>
              <a:xfrm>
                <a:off x="6652782" y="3996914"/>
                <a:ext cx="1415772" cy="46166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更冷气团</a:t>
                </a:r>
                <a:endParaRPr lang="zh-CN" altLang="en-US" sz="2400">
                  <a:latin typeface="微软雅黑" panose="020B0503020204020204" charset="-122"/>
                  <a:ea typeface="微软雅黑" panose="020B0503020204020204" charset="-122"/>
                </a:endParaRPr>
              </a:p>
            </p:txBody>
          </p:sp>
        </p:grpSp>
        <p:grpSp>
          <p:nvGrpSpPr>
            <p:cNvPr id="33" name="组合 32"/>
            <p:cNvGrpSpPr/>
            <p:nvPr>
              <p:custDataLst>
                <p:tags r:id="rId29"/>
              </p:custDataLst>
            </p:nvPr>
          </p:nvGrpSpPr>
          <p:grpSpPr>
            <a:xfrm>
              <a:off x="7249085" y="4162930"/>
              <a:ext cx="1107996" cy="516152"/>
              <a:chOff x="6806670" y="3996914"/>
              <a:chExt cx="1107996" cy="516152"/>
            </a:xfrm>
          </p:grpSpPr>
          <p:sp>
            <p:nvSpPr>
              <p:cNvPr id="34" name="箭头: 右 33"/>
              <p:cNvSpPr/>
              <p:nvPr>
                <p:custDataLst>
                  <p:tags r:id="rId30"/>
                </p:custDataLst>
              </p:nvPr>
            </p:nvSpPr>
            <p:spPr>
              <a:xfrm>
                <a:off x="6889470" y="4393688"/>
                <a:ext cx="942397" cy="119378"/>
              </a:xfrm>
              <a:prstGeom prst="righ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5" name="文本框 34"/>
              <p:cNvSpPr txBox="1"/>
              <p:nvPr>
                <p:custDataLst>
                  <p:tags r:id="rId31"/>
                </p:custDataLst>
              </p:nvPr>
            </p:nvSpPr>
            <p:spPr>
              <a:xfrm>
                <a:off x="6806670" y="3996914"/>
                <a:ext cx="1107996" cy="461665"/>
              </a:xfrm>
              <a:prstGeom prst="rect">
                <a:avLst/>
              </a:prstGeom>
              <a:noFill/>
            </p:spPr>
            <p:txBody>
              <a:bodyPr wrap="none" rtlCol="0">
                <a:spAutoFit/>
              </a:bodyPr>
              <a:lstStyle/>
              <a:p>
                <a:pPr algn="ctr"/>
                <a:r>
                  <a:rPr lang="zh-CN" altLang="en-US" sz="2400">
                    <a:latin typeface="微软雅黑" panose="020B0503020204020204" charset="-122"/>
                    <a:ea typeface="微软雅黑" panose="020B0503020204020204" charset="-122"/>
                  </a:rPr>
                  <a:t>冷气团</a:t>
                </a:r>
                <a:endParaRPr lang="zh-CN" altLang="en-US" sz="2400">
                  <a:latin typeface="微软雅黑" panose="020B0503020204020204" charset="-122"/>
                  <a:ea typeface="微软雅黑" panose="020B0503020204020204" charset="-122"/>
                </a:endParaRPr>
              </a:p>
            </p:txBody>
          </p:sp>
        </p:grpSp>
      </p:grpSp>
      <p:sp>
        <p:nvSpPr>
          <p:cNvPr id="46" name="文本框 45"/>
          <p:cNvSpPr txBox="1"/>
          <p:nvPr>
            <p:custDataLst>
              <p:tags r:id="rId32"/>
            </p:custDataLst>
          </p:nvPr>
        </p:nvSpPr>
        <p:spPr>
          <a:xfrm>
            <a:off x="2908192" y="4762927"/>
            <a:ext cx="1713230" cy="460375"/>
          </a:xfrm>
          <a:prstGeom prst="rect">
            <a:avLst/>
          </a:prstGeom>
          <a:noFill/>
        </p:spPr>
        <p:txBody>
          <a:bodyPr wrap="none" rtlCol="0">
            <a:spAutoFit/>
          </a:bodyPr>
          <a:lstStyle/>
          <a:p>
            <a:pPr algn="ctr"/>
            <a:r>
              <a:rPr lang="zh-CN" altLang="en-US" sz="2400" b="1">
                <a:solidFill>
                  <a:srgbClr val="7030A0"/>
                </a:solidFill>
                <a:latin typeface="微软雅黑" panose="020B0503020204020204" charset="-122"/>
                <a:ea typeface="微软雅黑" panose="020B0503020204020204" charset="-122"/>
              </a:rPr>
              <a:t>冷型锢囚锋</a:t>
            </a:r>
            <a:endParaRPr lang="zh-CN" altLang="en-US" sz="2400" b="1">
              <a:solidFill>
                <a:srgbClr val="7030A0"/>
              </a:solidFill>
              <a:latin typeface="微软雅黑" panose="020B0503020204020204" charset="-122"/>
              <a:ea typeface="微软雅黑" panose="020B0503020204020204" charset="-122"/>
            </a:endParaRPr>
          </a:p>
        </p:txBody>
      </p:sp>
      <p:sp>
        <p:nvSpPr>
          <p:cNvPr id="47" name="文本框 46"/>
          <p:cNvSpPr txBox="1"/>
          <p:nvPr>
            <p:custDataLst>
              <p:tags r:id="rId33"/>
            </p:custDataLst>
          </p:nvPr>
        </p:nvSpPr>
        <p:spPr>
          <a:xfrm>
            <a:off x="8189315" y="4792145"/>
            <a:ext cx="1713230" cy="460375"/>
          </a:xfrm>
          <a:prstGeom prst="rect">
            <a:avLst/>
          </a:prstGeom>
          <a:noFill/>
        </p:spPr>
        <p:txBody>
          <a:bodyPr wrap="none" rtlCol="0">
            <a:spAutoFit/>
          </a:bodyPr>
          <a:lstStyle/>
          <a:p>
            <a:pPr algn="ctr"/>
            <a:r>
              <a:rPr lang="zh-CN" altLang="en-US" sz="2400" b="1">
                <a:solidFill>
                  <a:srgbClr val="7030A0"/>
                </a:solidFill>
                <a:latin typeface="微软雅黑" panose="020B0503020204020204" charset="-122"/>
                <a:ea typeface="微软雅黑" panose="020B0503020204020204" charset="-122"/>
              </a:rPr>
              <a:t>暖型锢囚锋</a:t>
            </a:r>
            <a:endParaRPr lang="zh-CN" altLang="en-US" sz="2400" b="1">
              <a:solidFill>
                <a:srgbClr val="7030A0"/>
              </a:solidFill>
              <a:latin typeface="微软雅黑" panose="020B0503020204020204" charset="-122"/>
              <a:ea typeface="微软雅黑" panose="020B0503020204020204" charset="-122"/>
            </a:endParaRPr>
          </a:p>
        </p:txBody>
      </p:sp>
      <p:sp>
        <p:nvSpPr>
          <p:cNvPr id="49" name="文本框 48"/>
          <p:cNvSpPr txBox="1"/>
          <p:nvPr>
            <p:custDataLst>
              <p:tags r:id="rId34"/>
            </p:custDataLst>
          </p:nvPr>
        </p:nvSpPr>
        <p:spPr>
          <a:xfrm>
            <a:off x="2149366" y="5236569"/>
            <a:ext cx="3230880" cy="1198880"/>
          </a:xfrm>
          <a:prstGeom prst="rect">
            <a:avLst/>
          </a:prstGeom>
          <a:solidFill>
            <a:schemeClr val="accent1">
              <a:lumMod val="20000"/>
              <a:lumOff val="80000"/>
            </a:schemeClr>
          </a:solidFill>
          <a:ln>
            <a:solidFill>
              <a:schemeClr val="tx1"/>
            </a:solidFill>
            <a:prstDash val="dash"/>
          </a:ln>
        </p:spPr>
        <p:txBody>
          <a:bodyPr wrap="none" rtlCol="0">
            <a:spAutoFit/>
          </a:bodyPr>
          <a:lstStyle>
            <a:defPPr>
              <a:defRPr lang="zh-CN"/>
            </a:defPPr>
            <a:lvl1pPr algn="ctr">
              <a:defRPr sz="2400"/>
            </a:lvl1pPr>
          </a:lstStyle>
          <a:p>
            <a:pPr>
              <a:lnSpc>
                <a:spcPct val="150000"/>
              </a:lnSpc>
            </a:pPr>
            <a:r>
              <a:rPr lang="zh-CN" altLang="en-US">
                <a:latin typeface="微软雅黑" panose="020B0503020204020204" charset="-122"/>
                <a:ea typeface="微软雅黑" panose="020B0503020204020204" charset="-122"/>
              </a:rPr>
              <a:t>冷锋后的冷气团</a:t>
            </a:r>
            <a:endParaRPr lang="en-US" altLang="zh-CN">
              <a:latin typeface="微软雅黑" panose="020B0503020204020204" charset="-122"/>
              <a:ea typeface="微软雅黑" panose="020B0503020204020204" charset="-122"/>
            </a:endParaRPr>
          </a:p>
          <a:p>
            <a:pPr>
              <a:lnSpc>
                <a:spcPct val="150000"/>
              </a:lnSpc>
            </a:pPr>
            <a:r>
              <a:rPr lang="zh-CN" altLang="en-US">
                <a:latin typeface="微软雅黑" panose="020B0503020204020204" charset="-122"/>
                <a:ea typeface="微软雅黑" panose="020B0503020204020204" charset="-122"/>
              </a:rPr>
              <a:t>比暖锋前的冷气团更冷</a:t>
            </a:r>
            <a:endParaRPr lang="zh-CN" altLang="en-US">
              <a:latin typeface="微软雅黑" panose="020B0503020204020204" charset="-122"/>
              <a:ea typeface="微软雅黑" panose="020B0503020204020204" charset="-122"/>
            </a:endParaRPr>
          </a:p>
        </p:txBody>
      </p:sp>
      <p:sp>
        <p:nvSpPr>
          <p:cNvPr id="51" name="文本框 50"/>
          <p:cNvSpPr txBox="1"/>
          <p:nvPr>
            <p:custDataLst>
              <p:tags r:id="rId35"/>
            </p:custDataLst>
          </p:nvPr>
        </p:nvSpPr>
        <p:spPr>
          <a:xfrm>
            <a:off x="7430490" y="5247999"/>
            <a:ext cx="3230880" cy="1198880"/>
          </a:xfrm>
          <a:prstGeom prst="rect">
            <a:avLst/>
          </a:prstGeom>
          <a:solidFill>
            <a:schemeClr val="accent1">
              <a:lumMod val="20000"/>
              <a:lumOff val="80000"/>
            </a:schemeClr>
          </a:solidFill>
          <a:ln>
            <a:solidFill>
              <a:schemeClr val="tx1"/>
            </a:solidFill>
            <a:prstDash val="dash"/>
          </a:ln>
        </p:spPr>
        <p:txBody>
          <a:bodyPr wrap="none" rtlCol="0">
            <a:spAutoFit/>
          </a:bodyPr>
          <a:lstStyle>
            <a:defPPr>
              <a:defRPr lang="zh-CN"/>
            </a:defPPr>
            <a:lvl1pPr algn="ctr">
              <a:defRPr sz="2400"/>
            </a:lvl1pPr>
          </a:lstStyle>
          <a:p>
            <a:pPr lvl="0" algn="ctr">
              <a:lnSpc>
                <a:spcPct val="150000"/>
              </a:lnSpc>
              <a:buClrTx/>
              <a:buSzTx/>
              <a:buFontTx/>
            </a:pPr>
            <a:r>
              <a:rPr lang="zh-CN" altLang="en-US">
                <a:latin typeface="微软雅黑" panose="020B0503020204020204" charset="-122"/>
                <a:ea typeface="微软雅黑" panose="020B0503020204020204" charset="-122"/>
                <a:sym typeface="+mn-ea"/>
              </a:rPr>
              <a:t>暖锋前的冷气团</a:t>
            </a:r>
            <a:endParaRPr lang="zh-CN" altLang="en-US">
              <a:latin typeface="微软雅黑" panose="020B0503020204020204" charset="-122"/>
              <a:ea typeface="微软雅黑" panose="020B0503020204020204" charset="-122"/>
              <a:sym typeface="+mn-ea"/>
            </a:endParaRPr>
          </a:p>
          <a:p>
            <a:pPr lvl="0" algn="ctr">
              <a:lnSpc>
                <a:spcPct val="150000"/>
              </a:lnSpc>
              <a:buClrTx/>
              <a:buSzTx/>
              <a:buFontTx/>
            </a:pPr>
            <a:r>
              <a:rPr lang="zh-CN" altLang="en-US">
                <a:latin typeface="微软雅黑" panose="020B0503020204020204" charset="-122"/>
                <a:ea typeface="微软雅黑" panose="020B0503020204020204" charset="-122"/>
                <a:sym typeface="+mn-ea"/>
              </a:rPr>
              <a:t>比冷锋后的冷气团更冷</a:t>
            </a:r>
            <a:endParaRPr lang="zh-CN" altLang="en-US">
              <a:latin typeface="微软雅黑" panose="020B0503020204020204" charset="-122"/>
              <a:ea typeface="微软雅黑" panose="020B0503020204020204" charset="-122"/>
              <a:sym typeface="+mn-ea"/>
            </a:endParaRPr>
          </a:p>
        </p:txBody>
      </p:sp>
      <p:sp>
        <p:nvSpPr>
          <p:cNvPr id="3" name="文本框 2"/>
          <p:cNvSpPr txBox="1"/>
          <p:nvPr>
            <p:custDataLst>
              <p:tags r:id="rId36"/>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custDataLst>
              <p:tags r:id="rId37"/>
            </p:custDataLst>
          </p:nvPr>
        </p:nvSpPr>
        <p:spPr>
          <a:xfrm>
            <a:off x="371475" y="110617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1 锢囚锋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38"/>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ldLvl="0" animBg="1"/>
      <p:bldP spid="51"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custDataLst>
              <p:tags r:id="rId1"/>
            </p:custDataLst>
          </p:nvPr>
        </p:nvSpPr>
        <p:spPr>
          <a:xfrm>
            <a:off x="398780" y="1737360"/>
            <a:ext cx="4688205" cy="488315"/>
          </a:xfrm>
          <a:prstGeom prst="rect">
            <a:avLst/>
          </a:prstGeom>
          <a:solidFill>
            <a:srgbClr val="FFD34D"/>
          </a:solidFill>
          <a:ln w="3175">
            <a:solidFill>
              <a:schemeClr val="tx1"/>
            </a:solidFill>
            <a:prstDash val="dash"/>
          </a:ln>
          <a:effectLst/>
        </p:spPr>
        <p:txBody>
          <a:bodyPr wrap="none" rtlCol="0">
            <a:noAutofit/>
          </a:bodyPr>
          <a:lstStyle/>
          <a:p>
            <a:pPr lvl="0" algn="ctr">
              <a:lnSpc>
                <a:spcPct val="110000"/>
              </a:lnSpc>
              <a:buClrTx/>
              <a:buSzTx/>
              <a:buFontTx/>
            </a:pPr>
            <a:r>
              <a:rPr lang="zh-CN" altLang="zh-CN" sz="2400" b="1" kern="0" spc="200">
                <a:latin typeface="微软雅黑" panose="020B0503020204020204" charset="-122"/>
                <a:ea typeface="微软雅黑" panose="020B0503020204020204" charset="-122"/>
                <a:cs typeface="微软雅黑" panose="020B0503020204020204" charset="-122"/>
                <a:sym typeface="+mn-ea"/>
              </a:rPr>
              <a:t>锢囚锋形成的三种情况</a:t>
            </a:r>
            <a:endParaRPr lang="zh-CN" altLang="zh-CN" sz="2400" b="1" kern="0" spc="200">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custDataLst>
              <p:tags r:id="rId2"/>
            </p:custDataLst>
          </p:nvPr>
        </p:nvSpPr>
        <p:spPr>
          <a:xfrm>
            <a:off x="398780" y="2498725"/>
            <a:ext cx="4688205" cy="3307080"/>
          </a:xfrm>
          <a:prstGeom prst="rect">
            <a:avLst/>
          </a:prstGeom>
          <a:solidFill>
            <a:schemeClr val="accent3">
              <a:lumMod val="20000"/>
              <a:lumOff val="80000"/>
            </a:schemeClr>
          </a:solidFill>
          <a:ln>
            <a:solidFill>
              <a:schemeClr val="tx1"/>
            </a:solidFill>
            <a:prstDash val="dash"/>
          </a:ln>
        </p:spPr>
        <p:txBody>
          <a:bodyPr wrap="square">
            <a:noAutofit/>
          </a:bodyPr>
          <a:lstStyle>
            <a:defPPr>
              <a:defRPr lang="zh-CN"/>
            </a:defPPr>
            <a:lvl1pPr indent="0">
              <a:lnSpc>
                <a:spcPct val="150000"/>
              </a:lnSpc>
              <a:buFont typeface="Arial" panose="020B0604020202020204" pitchFamily="34" charset="0"/>
              <a:buNone/>
              <a:tabLst>
                <a:tab pos="2070735" algn="l"/>
              </a:tabLst>
              <a:defRPr sz="2400" kern="100">
                <a:effectLst/>
                <a:latin typeface="Times New Roman" panose="02020603050405020304" charset="0"/>
                <a:ea typeface="+mj-ea"/>
                <a:cs typeface="Times New Roman" panose="02020603050405020304" charset="0"/>
              </a:defRPr>
            </a:lvl1pPr>
          </a:lstStyle>
          <a:p>
            <a:pPr marL="342900" lvl="0" indent="-342900" algn="just" defTabSz="914400">
              <a:lnSpc>
                <a:spcPct val="140000"/>
              </a:lnSpc>
              <a:buClrTx/>
              <a:buSzTx/>
              <a:buFont typeface="Wingdings" panose="05000000000000000000" pitchFamily="2" charset="2"/>
              <a:buChar char="Ø"/>
              <a:defRPr/>
            </a:pPr>
            <a:r>
              <a:rPr lang="zh-CN" b="1" kern="1200">
                <a:solidFill>
                  <a:srgbClr val="0026E5"/>
                </a:solidFill>
                <a:latin typeface="微软雅黑" panose="020B0503020204020204" charset="-122"/>
                <a:ea typeface="微软雅黑" panose="020B0503020204020204" charset="-122"/>
                <a:cs typeface="+mn-cs"/>
                <a:sym typeface="+mn-ea"/>
              </a:rPr>
              <a:t>①温带气旋中冷锋追上暖锋</a:t>
            </a:r>
            <a:endParaRPr lang="zh-CN" b="1" kern="1200">
              <a:solidFill>
                <a:srgbClr val="0026E5"/>
              </a:solidFill>
              <a:latin typeface="微软雅黑" panose="020B0503020204020204" charset="-122"/>
              <a:ea typeface="微软雅黑" panose="020B0503020204020204" charset="-122"/>
              <a:cs typeface="+mn-cs"/>
              <a:sym typeface="+mn-ea"/>
            </a:endParaRPr>
          </a:p>
          <a:p>
            <a:pPr marL="342900" lvl="0" indent="-342900" algn="just" defTabSz="914400">
              <a:lnSpc>
                <a:spcPct val="140000"/>
              </a:lnSpc>
              <a:buClrTx/>
              <a:buSzTx/>
              <a:buFont typeface="Wingdings" panose="05000000000000000000" pitchFamily="2" charset="2"/>
              <a:buChar char="Ø"/>
              <a:defRPr/>
            </a:pPr>
            <a:r>
              <a:rPr lang="zh-CN" kern="1200">
                <a:latin typeface="微软雅黑" panose="020B0503020204020204" charset="-122"/>
                <a:ea typeface="微软雅黑" panose="020B0503020204020204" charset="-122"/>
                <a:cs typeface="+mn-cs"/>
                <a:sym typeface="+mn-ea"/>
              </a:rPr>
              <a:t>左侧的冷锋移动较快，追上了前面的暖锋，冷锋前的暖空气都被抬离地面，锢囚到高空。冷锋后面的冷气团和暖锋前面冷气团的交界面称为锢囚锋。</a:t>
            </a:r>
            <a:endParaRPr lang="zh-CN" kern="1200">
              <a:latin typeface="微软雅黑" panose="020B0503020204020204" charset="-122"/>
              <a:ea typeface="微软雅黑" panose="020B0503020204020204" charset="-122"/>
              <a:cs typeface="+mn-cs"/>
              <a:sym typeface="+mn-ea"/>
            </a:endParaRPr>
          </a:p>
        </p:txBody>
      </p:sp>
      <p:pic>
        <p:nvPicPr>
          <p:cNvPr id="6" name="图片 5"/>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5234136" y="1565776"/>
            <a:ext cx="6812065" cy="4811021"/>
          </a:xfrm>
          <a:prstGeom prst="rect">
            <a:avLst/>
          </a:prstGeom>
        </p:spPr>
      </p:pic>
      <p:sp>
        <p:nvSpPr>
          <p:cNvPr id="2" name="文本框 1"/>
          <p:cNvSpPr txBox="1"/>
          <p:nvPr>
            <p:custDataLst>
              <p:tags r:id="rId5"/>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custDataLst>
              <p:tags r:id="rId6"/>
            </p:custDataLst>
          </p:nvPr>
        </p:nvSpPr>
        <p:spPr>
          <a:xfrm>
            <a:off x="371475" y="110617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1 锢囚锋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371475" y="2483485"/>
            <a:ext cx="5619115" cy="3778885"/>
          </a:xfrm>
          <a:prstGeom prst="rect">
            <a:avLst/>
          </a:prstGeom>
          <a:solidFill>
            <a:schemeClr val="accent3">
              <a:lumMod val="20000"/>
              <a:lumOff val="80000"/>
            </a:schemeClr>
          </a:solidFill>
          <a:ln>
            <a:solidFill>
              <a:schemeClr val="tx1"/>
            </a:solidFill>
            <a:prstDash val="dash"/>
          </a:ln>
        </p:spPr>
        <p:txBody>
          <a:bodyPr wrap="square">
            <a:noAutofit/>
          </a:bodyPr>
          <a:lstStyle>
            <a:defPPr>
              <a:defRPr lang="zh-CN"/>
            </a:defPPr>
            <a:lvl1pPr indent="0">
              <a:lnSpc>
                <a:spcPct val="150000"/>
              </a:lnSpc>
              <a:buFont typeface="Arial" panose="020B0604020202020204" pitchFamily="34" charset="0"/>
              <a:buNone/>
              <a:tabLst>
                <a:tab pos="2070735" algn="l"/>
              </a:tabLst>
              <a:defRPr sz="2400" kern="100">
                <a:effectLst/>
                <a:latin typeface="Times New Roman" panose="02020603050405020304" charset="0"/>
                <a:ea typeface="+mj-ea"/>
                <a:cs typeface="Times New Roman" panose="02020603050405020304" charset="0"/>
              </a:defRPr>
            </a:lvl1pPr>
          </a:lstStyle>
          <a:p>
            <a:pPr marL="342900" lvl="0" indent="-342900" algn="just" defTabSz="914400">
              <a:lnSpc>
                <a:spcPct val="140000"/>
              </a:lnSpc>
              <a:buClrTx/>
              <a:buSzTx/>
              <a:buFont typeface="Wingdings" panose="05000000000000000000" pitchFamily="2" charset="2"/>
              <a:buChar char="Ø"/>
              <a:defRPr/>
            </a:pPr>
            <a:r>
              <a:rPr lang="zh-CN" b="1" kern="1200">
                <a:solidFill>
                  <a:srgbClr val="0026E5"/>
                </a:solidFill>
                <a:latin typeface="微软雅黑" panose="020B0503020204020204" charset="-122"/>
                <a:ea typeface="微软雅黑" panose="020B0503020204020204" charset="-122"/>
                <a:cs typeface="+mn-cs"/>
                <a:sym typeface="+mn-ea"/>
              </a:rPr>
              <a:t>②锋面受山脉阻挡形成的地形锢囚锋</a:t>
            </a:r>
            <a:endParaRPr lang="zh-CN" kern="1200">
              <a:latin typeface="微软雅黑" panose="020B0503020204020204" charset="-122"/>
              <a:ea typeface="微软雅黑" panose="020B0503020204020204" charset="-122"/>
              <a:cs typeface="+mn-cs"/>
              <a:sym typeface="+mn-ea"/>
            </a:endParaRPr>
          </a:p>
          <a:p>
            <a:pPr marL="342900" lvl="0" indent="-342900" algn="just" defTabSz="914400">
              <a:lnSpc>
                <a:spcPct val="140000"/>
              </a:lnSpc>
              <a:buClrTx/>
              <a:buSzTx/>
              <a:buFont typeface="Wingdings" panose="05000000000000000000" pitchFamily="2" charset="2"/>
              <a:buChar char="Ø"/>
              <a:defRPr/>
            </a:pPr>
            <a:r>
              <a:rPr lang="zh-CN" kern="1200">
                <a:latin typeface="微软雅黑" panose="020B0503020204020204" charset="-122"/>
                <a:ea typeface="微软雅黑" panose="020B0503020204020204" charset="-122"/>
                <a:cs typeface="+mn-cs"/>
                <a:sym typeface="+mn-ea"/>
              </a:rPr>
              <a:t>华南锢囚锋：每年的4-6月份，我国冷锋南下经过南岭（两广丘陵）受地形阻挡，风速减慢，到达华南沿海地区时，冷气团逐渐变性，锋面稳定少动，当第二条冷锋南下，两者相遇形成华南锢囚锋。如右图：</a:t>
            </a:r>
            <a:endParaRPr lang="zh-CN" kern="1200">
              <a:latin typeface="微软雅黑" panose="020B0503020204020204" charset="-122"/>
              <a:ea typeface="微软雅黑" panose="020B0503020204020204" charset="-122"/>
              <a:cs typeface="+mn-cs"/>
              <a:sym typeface="+mn-ea"/>
            </a:endParaRPr>
          </a:p>
        </p:txBody>
      </p:sp>
      <p:pic>
        <p:nvPicPr>
          <p:cNvPr id="5" name="图片 4"/>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6207626" y="2481496"/>
            <a:ext cx="5779269" cy="3640323"/>
          </a:xfrm>
          <a:prstGeom prst="rect">
            <a:avLst/>
          </a:prstGeom>
        </p:spPr>
      </p:pic>
      <p:sp>
        <p:nvSpPr>
          <p:cNvPr id="2" name="文本框 4"/>
          <p:cNvSpPr txBox="1"/>
          <p:nvPr>
            <p:custDataLst>
              <p:tags r:id="rId4"/>
            </p:custDataLst>
          </p:nvPr>
        </p:nvSpPr>
        <p:spPr>
          <a:xfrm>
            <a:off x="398780" y="1737360"/>
            <a:ext cx="4688205" cy="488315"/>
          </a:xfrm>
          <a:prstGeom prst="rect">
            <a:avLst/>
          </a:prstGeom>
          <a:solidFill>
            <a:srgbClr val="FFD34D"/>
          </a:solidFill>
          <a:ln w="3175">
            <a:solidFill>
              <a:schemeClr val="tx1"/>
            </a:solidFill>
            <a:prstDash val="dash"/>
          </a:ln>
          <a:effectLst/>
        </p:spPr>
        <p:txBody>
          <a:bodyPr wrap="none" rtlCol="0">
            <a:noAutofit/>
          </a:bodyPr>
          <a:lstStyle/>
          <a:p>
            <a:pPr lvl="0" algn="ctr">
              <a:lnSpc>
                <a:spcPct val="110000"/>
              </a:lnSpc>
              <a:buClrTx/>
              <a:buSzTx/>
              <a:buFontTx/>
            </a:pPr>
            <a:r>
              <a:rPr lang="zh-CN" altLang="zh-CN" sz="2400" b="1" kern="0" spc="200">
                <a:latin typeface="微软雅黑" panose="020B0503020204020204" charset="-122"/>
                <a:ea typeface="微软雅黑" panose="020B0503020204020204" charset="-122"/>
                <a:cs typeface="微软雅黑" panose="020B0503020204020204" charset="-122"/>
                <a:sym typeface="+mn-ea"/>
              </a:rPr>
              <a:t>锢囚锋形成的三种情况</a:t>
            </a:r>
            <a:endParaRPr lang="zh-CN" altLang="zh-CN" sz="2400" b="1" kern="0" spc="200">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custDataLst>
              <p:tags r:id="rId5"/>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custDataLst>
              <p:tags r:id="rId6"/>
            </p:custDataLst>
          </p:nvPr>
        </p:nvSpPr>
        <p:spPr>
          <a:xfrm>
            <a:off x="371475" y="110617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1 锢囚锋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399415" y="2165985"/>
            <a:ext cx="11355070" cy="4225925"/>
          </a:xfrm>
          <a:prstGeom prst="rect">
            <a:avLst/>
          </a:prstGeom>
          <a:solidFill>
            <a:schemeClr val="accent3">
              <a:lumMod val="20000"/>
              <a:lumOff val="80000"/>
            </a:schemeClr>
          </a:solidFill>
          <a:ln>
            <a:solidFill>
              <a:schemeClr val="tx1"/>
            </a:solidFill>
            <a:prstDash val="dash"/>
          </a:ln>
        </p:spPr>
        <p:txBody>
          <a:bodyPr wrap="square">
            <a:spAutoFit/>
          </a:bodyPr>
          <a:lstStyle>
            <a:defPPr>
              <a:defRPr lang="zh-CN"/>
            </a:defPPr>
            <a:lvl1pPr indent="0">
              <a:lnSpc>
                <a:spcPct val="150000"/>
              </a:lnSpc>
              <a:buFont typeface="Arial" panose="020B0604020202020204" pitchFamily="34" charset="0"/>
              <a:buNone/>
              <a:tabLst>
                <a:tab pos="2070735" algn="l"/>
              </a:tabLst>
              <a:defRPr sz="2400" kern="100">
                <a:effectLst/>
                <a:latin typeface="Times New Roman" panose="02020603050405020304" charset="0"/>
                <a:ea typeface="+mj-ea"/>
                <a:cs typeface="Times New Roman" panose="02020603050405020304" charset="0"/>
              </a:defRPr>
            </a:lvl1pPr>
          </a:lstStyle>
          <a:p>
            <a:pPr>
              <a:lnSpc>
                <a:spcPct val="140000"/>
              </a:lnSpc>
            </a:pPr>
            <a:r>
              <a:rPr lang="zh-CN" altLang="en-US" b="1">
                <a:solidFill>
                  <a:srgbClr val="0026E5"/>
                </a:solidFill>
                <a:latin typeface="微软雅黑" panose="020B0503020204020204" charset="-122"/>
                <a:ea typeface="微软雅黑" panose="020B0503020204020204" charset="-122"/>
                <a:sym typeface="+mn-ea"/>
              </a:rPr>
              <a:t>③两条冷锋迎面相遇</a:t>
            </a:r>
            <a:endParaRPr lang="zh-CN" altLang="en-US" b="1" i="0">
              <a:solidFill>
                <a:srgbClr val="0026E5"/>
              </a:solidFill>
              <a:effectLst/>
              <a:latin typeface="微软雅黑" panose="020B0503020204020204" charset="-122"/>
              <a:ea typeface="微软雅黑" panose="020B0503020204020204" charset="-122"/>
            </a:endParaRPr>
          </a:p>
          <a:p>
            <a:pPr>
              <a:lnSpc>
                <a:spcPct val="140000"/>
              </a:lnSpc>
            </a:pPr>
            <a:r>
              <a:rPr lang="zh-CN" altLang="en-US" b="1" i="0">
                <a:solidFill>
                  <a:srgbClr val="0026E5"/>
                </a:solidFill>
                <a:effectLst/>
                <a:latin typeface="微软雅黑" panose="020B0503020204020204" charset="-122"/>
                <a:ea typeface="微软雅黑" panose="020B0503020204020204" charset="-122"/>
              </a:rPr>
              <a:t>青藏湖锢囚锋：</a:t>
            </a:r>
            <a:r>
              <a:rPr lang="zh-CN" altLang="en-US" b="0" i="0">
                <a:solidFill>
                  <a:srgbClr val="222222"/>
                </a:solidFill>
                <a:effectLst/>
                <a:latin typeface="微软雅黑" panose="020B0503020204020204" charset="-122"/>
                <a:ea typeface="微软雅黑" panose="020B0503020204020204" charset="-122"/>
              </a:rPr>
              <a:t>冬季时，冷空气受祁连山脉</a:t>
            </a:r>
            <a:endParaRPr lang="en-US" altLang="zh-CN" b="0" i="0">
              <a:solidFill>
                <a:srgbClr val="222222"/>
              </a:solidFill>
              <a:effectLst/>
              <a:latin typeface="微软雅黑" panose="020B0503020204020204" charset="-122"/>
              <a:ea typeface="微软雅黑" panose="020B0503020204020204" charset="-122"/>
            </a:endParaRPr>
          </a:p>
          <a:p>
            <a:pPr>
              <a:lnSpc>
                <a:spcPct val="140000"/>
              </a:lnSpc>
            </a:pPr>
            <a:r>
              <a:rPr lang="zh-CN" altLang="en-US" b="0" i="0">
                <a:solidFill>
                  <a:srgbClr val="222222"/>
                </a:solidFill>
                <a:effectLst/>
                <a:latin typeface="微软雅黑" panose="020B0503020204020204" charset="-122"/>
                <a:ea typeface="微软雅黑" panose="020B0503020204020204" charset="-122"/>
              </a:rPr>
              <a:t>的影响分为东西两股，一股是经南疆盆地后，</a:t>
            </a:r>
            <a:endParaRPr lang="en-US" altLang="zh-CN" b="0" i="0">
              <a:solidFill>
                <a:srgbClr val="222222"/>
              </a:solidFill>
              <a:effectLst/>
              <a:latin typeface="微软雅黑" panose="020B0503020204020204" charset="-122"/>
              <a:ea typeface="微软雅黑" panose="020B0503020204020204" charset="-122"/>
            </a:endParaRPr>
          </a:p>
          <a:p>
            <a:pPr>
              <a:lnSpc>
                <a:spcPct val="140000"/>
              </a:lnSpc>
            </a:pPr>
            <a:r>
              <a:rPr lang="zh-CN" altLang="en-US" b="0" i="0">
                <a:solidFill>
                  <a:srgbClr val="222222"/>
                </a:solidFill>
                <a:effectLst/>
                <a:latin typeface="微软雅黑" panose="020B0503020204020204" charset="-122"/>
                <a:ea typeface="微软雅黑" panose="020B0503020204020204" charset="-122"/>
              </a:rPr>
              <a:t>逐渐溢入青藏高原西侧阿尔金山山口进入青</a:t>
            </a:r>
            <a:endParaRPr lang="en-US" altLang="zh-CN" b="0" i="0">
              <a:solidFill>
                <a:srgbClr val="222222"/>
              </a:solidFill>
              <a:effectLst/>
              <a:latin typeface="微软雅黑" panose="020B0503020204020204" charset="-122"/>
              <a:ea typeface="微软雅黑" panose="020B0503020204020204" charset="-122"/>
            </a:endParaRPr>
          </a:p>
          <a:p>
            <a:pPr>
              <a:lnSpc>
                <a:spcPct val="140000"/>
              </a:lnSpc>
            </a:pPr>
            <a:r>
              <a:rPr lang="zh-CN" altLang="en-US" b="0" i="0">
                <a:solidFill>
                  <a:srgbClr val="222222"/>
                </a:solidFill>
                <a:effectLst/>
                <a:latin typeface="微软雅黑" panose="020B0503020204020204" charset="-122"/>
                <a:ea typeface="微软雅黑" panose="020B0503020204020204" charset="-122"/>
              </a:rPr>
              <a:t>海西北部的“西路冷空气”；另一股是经河</a:t>
            </a:r>
            <a:endParaRPr lang="en-US" altLang="zh-CN" b="0" i="0">
              <a:solidFill>
                <a:srgbClr val="222222"/>
              </a:solidFill>
              <a:effectLst/>
              <a:latin typeface="微软雅黑" panose="020B0503020204020204" charset="-122"/>
              <a:ea typeface="微软雅黑" panose="020B0503020204020204" charset="-122"/>
            </a:endParaRPr>
          </a:p>
          <a:p>
            <a:pPr>
              <a:lnSpc>
                <a:spcPct val="140000"/>
              </a:lnSpc>
            </a:pPr>
            <a:r>
              <a:rPr lang="zh-CN" altLang="en-US" b="0" i="0">
                <a:solidFill>
                  <a:srgbClr val="222222"/>
                </a:solidFill>
                <a:effectLst/>
                <a:latin typeface="微软雅黑" panose="020B0503020204020204" charset="-122"/>
                <a:ea typeface="微软雅黑" panose="020B0503020204020204" charset="-122"/>
              </a:rPr>
              <a:t>西走廊南下，在青藏高原东北部河谷地区向西回流倒灌的“东路冷空气”。这两股冷空气在青海湖附近迎面相遇，形成青海湖锢囚锋。冷锋前的暖空气都被抬离地面，锢囚到高空。冷锋后面的冷气团和暖锋前面冷气团的交界面称为锢囚锋。如右图：</a:t>
            </a:r>
            <a:endParaRPr lang="zh-CN" altLang="en-US"/>
          </a:p>
        </p:txBody>
      </p:sp>
      <p:pic>
        <p:nvPicPr>
          <p:cNvPr id="6" name="图片 5"/>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6905625" y="1627505"/>
            <a:ext cx="4957445" cy="3151505"/>
          </a:xfrm>
          <a:prstGeom prst="rect">
            <a:avLst/>
          </a:prstGeom>
        </p:spPr>
      </p:pic>
      <p:sp>
        <p:nvSpPr>
          <p:cNvPr id="2" name="文本框 4"/>
          <p:cNvSpPr txBox="1"/>
          <p:nvPr>
            <p:custDataLst>
              <p:tags r:id="rId4"/>
            </p:custDataLst>
          </p:nvPr>
        </p:nvSpPr>
        <p:spPr>
          <a:xfrm>
            <a:off x="398780" y="1628140"/>
            <a:ext cx="4688205" cy="488315"/>
          </a:xfrm>
          <a:prstGeom prst="rect">
            <a:avLst/>
          </a:prstGeom>
          <a:solidFill>
            <a:srgbClr val="FFD34D"/>
          </a:solidFill>
          <a:ln w="3175">
            <a:solidFill>
              <a:schemeClr val="tx1"/>
            </a:solidFill>
            <a:prstDash val="dash"/>
          </a:ln>
          <a:effectLst/>
        </p:spPr>
        <p:txBody>
          <a:bodyPr wrap="none" rtlCol="0">
            <a:noAutofit/>
          </a:bodyPr>
          <a:lstStyle/>
          <a:p>
            <a:pPr lvl="0" algn="ctr">
              <a:lnSpc>
                <a:spcPct val="110000"/>
              </a:lnSpc>
              <a:buClrTx/>
              <a:buSzTx/>
              <a:buFontTx/>
            </a:pPr>
            <a:r>
              <a:rPr lang="zh-CN" altLang="zh-CN" sz="2400" b="1" kern="0" spc="200">
                <a:latin typeface="微软雅黑" panose="020B0503020204020204" charset="-122"/>
                <a:ea typeface="微软雅黑" panose="020B0503020204020204" charset="-122"/>
                <a:cs typeface="微软雅黑" panose="020B0503020204020204" charset="-122"/>
                <a:sym typeface="+mn-ea"/>
              </a:rPr>
              <a:t>锢囚锋形成的三种情况</a:t>
            </a:r>
            <a:endParaRPr lang="zh-CN" altLang="zh-CN" sz="2400" b="1" kern="0" spc="200">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custDataLst>
              <p:tags r:id="rId5"/>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custDataLst>
              <p:tags r:id="rId6"/>
            </p:custDataLst>
          </p:nvPr>
        </p:nvSpPr>
        <p:spPr>
          <a:xfrm>
            <a:off x="371475" y="110617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1 锢囚锋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398780" y="2508250"/>
            <a:ext cx="5995670" cy="3765550"/>
          </a:xfrm>
          <a:prstGeom prst="rect">
            <a:avLst/>
          </a:prstGeom>
          <a:solidFill>
            <a:schemeClr val="accent3">
              <a:lumMod val="20000"/>
              <a:lumOff val="80000"/>
            </a:schemeClr>
          </a:solidFill>
          <a:ln>
            <a:solidFill>
              <a:schemeClr val="tx1"/>
            </a:solidFill>
            <a:prstDash val="dash"/>
          </a:ln>
        </p:spPr>
        <p:txBody>
          <a:bodyPr wrap="square">
            <a:noAutofit/>
          </a:bodyPr>
          <a:lstStyle>
            <a:defPPr>
              <a:defRPr lang="zh-CN"/>
            </a:defPPr>
            <a:lvl1pPr indent="0">
              <a:lnSpc>
                <a:spcPct val="150000"/>
              </a:lnSpc>
              <a:buFont typeface="Arial" panose="020B0604020202020204" pitchFamily="34" charset="0"/>
              <a:buNone/>
              <a:tabLst>
                <a:tab pos="2070735" algn="l"/>
              </a:tabLst>
              <a:defRPr sz="2400" kern="100">
                <a:effectLst/>
                <a:latin typeface="Times New Roman" panose="02020603050405020304" charset="0"/>
                <a:ea typeface="+mj-ea"/>
                <a:cs typeface="Times New Roman" panose="02020603050405020304" charset="0"/>
              </a:defRPr>
            </a:lvl1pPr>
          </a:lstStyle>
          <a:p>
            <a:pPr lvl="0" algn="l">
              <a:lnSpc>
                <a:spcPct val="140000"/>
              </a:lnSpc>
              <a:tabLst>
                <a:tab pos="2070735" algn="l"/>
              </a:tabLst>
            </a:pPr>
            <a:r>
              <a:rPr lang="zh-CN" altLang="en-US" b="1">
                <a:solidFill>
                  <a:srgbClr val="0026E5"/>
                </a:solidFill>
                <a:latin typeface="微软雅黑" panose="020B0503020204020204" charset="-122"/>
                <a:ea typeface="微软雅黑" panose="020B0503020204020204" charset="-122"/>
                <a:sym typeface="+mn-ea"/>
              </a:rPr>
              <a:t>③两条冷锋迎面相遇</a:t>
            </a:r>
            <a:r>
              <a:rPr lang="zh-CN" kern="1200">
                <a:latin typeface="微软雅黑" panose="020B0503020204020204" charset="-122"/>
                <a:ea typeface="微软雅黑" panose="020B0503020204020204" charset="-122"/>
                <a:cs typeface="+mn-cs"/>
                <a:sym typeface="+mn-ea"/>
              </a:rPr>
              <a:t>：</a:t>
            </a:r>
            <a:endParaRPr lang="zh-CN" kern="1200">
              <a:latin typeface="微软雅黑" panose="020B0503020204020204" charset="-122"/>
              <a:ea typeface="微软雅黑" panose="020B0503020204020204" charset="-122"/>
              <a:cs typeface="+mn-cs"/>
              <a:sym typeface="+mn-ea"/>
            </a:endParaRPr>
          </a:p>
          <a:p>
            <a:pPr marL="342900" lvl="0" indent="-342900" algn="just" defTabSz="914400">
              <a:lnSpc>
                <a:spcPct val="140000"/>
              </a:lnSpc>
              <a:buClrTx/>
              <a:buSzTx/>
              <a:buFont typeface="Wingdings" panose="05000000000000000000" pitchFamily="2" charset="2"/>
              <a:buChar char="Ø"/>
              <a:defRPr/>
            </a:pPr>
            <a:r>
              <a:rPr lang="zh-CN" kern="1200">
                <a:latin typeface="微软雅黑" panose="020B0503020204020204" charset="-122"/>
                <a:ea typeface="微软雅黑" panose="020B0503020204020204" charset="-122"/>
                <a:cs typeface="+mn-cs"/>
                <a:sym typeface="+mn-ea"/>
              </a:rPr>
              <a:t>云贵高原锢囚低涡：当较强的偏北风遇到秦岭阻挡分支南下，一支绕流四川盆地，一支绕流江汉平原，两支气流在贵州北部辐合而形成“锢囚低涡"，冷锋前的暖空气都被抬离地面，锢囚到高空，其强度较小，但带来的降水量较大。</a:t>
            </a:r>
            <a:endParaRPr lang="zh-CN" kern="1200">
              <a:latin typeface="微软雅黑" panose="020B0503020204020204" charset="-122"/>
              <a:ea typeface="微软雅黑" panose="020B0503020204020204" charset="-122"/>
              <a:cs typeface="+mn-cs"/>
              <a:sym typeface="+mn-ea"/>
            </a:endParaRPr>
          </a:p>
        </p:txBody>
      </p:sp>
      <p:pic>
        <p:nvPicPr>
          <p:cNvPr id="5" name="图片 4"/>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6543675" y="2520950"/>
            <a:ext cx="5307330" cy="3752215"/>
          </a:xfrm>
          <a:prstGeom prst="rect">
            <a:avLst/>
          </a:prstGeom>
        </p:spPr>
      </p:pic>
      <p:sp>
        <p:nvSpPr>
          <p:cNvPr id="6" name="文本框 4"/>
          <p:cNvSpPr txBox="1"/>
          <p:nvPr>
            <p:custDataLst>
              <p:tags r:id="rId4"/>
            </p:custDataLst>
          </p:nvPr>
        </p:nvSpPr>
        <p:spPr>
          <a:xfrm>
            <a:off x="398780" y="1777365"/>
            <a:ext cx="4688205" cy="488315"/>
          </a:xfrm>
          <a:prstGeom prst="rect">
            <a:avLst/>
          </a:prstGeom>
          <a:solidFill>
            <a:srgbClr val="FFD34D"/>
          </a:solidFill>
          <a:ln w="3175">
            <a:solidFill>
              <a:schemeClr val="tx1"/>
            </a:solidFill>
            <a:prstDash val="dash"/>
          </a:ln>
          <a:effectLst/>
        </p:spPr>
        <p:txBody>
          <a:bodyPr wrap="none" rtlCol="0">
            <a:noAutofit/>
          </a:bodyPr>
          <a:lstStyle/>
          <a:p>
            <a:pPr lvl="0" algn="ctr">
              <a:lnSpc>
                <a:spcPct val="110000"/>
              </a:lnSpc>
              <a:buClrTx/>
              <a:buSzTx/>
              <a:buFontTx/>
            </a:pPr>
            <a:r>
              <a:rPr lang="zh-CN" altLang="zh-CN" sz="2400" b="1" kern="0" spc="200">
                <a:latin typeface="微软雅黑" panose="020B0503020204020204" charset="-122"/>
                <a:ea typeface="微软雅黑" panose="020B0503020204020204" charset="-122"/>
                <a:cs typeface="微软雅黑" panose="020B0503020204020204" charset="-122"/>
                <a:sym typeface="+mn-ea"/>
              </a:rPr>
              <a:t>锢囚锋形成的三种情况</a:t>
            </a:r>
            <a:endParaRPr lang="zh-CN" altLang="zh-CN" sz="2400" b="1" kern="0" spc="200">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custDataLst>
              <p:tags r:id="rId5"/>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custDataLst>
              <p:tags r:id="rId6"/>
            </p:custDataLst>
          </p:nvPr>
        </p:nvSpPr>
        <p:spPr>
          <a:xfrm>
            <a:off x="371475" y="110617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1 锢囚锋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custDataLst>
              <p:tags r:id="rId1"/>
            </p:custDataLst>
          </p:nvPr>
        </p:nvSpPr>
        <p:spPr>
          <a:xfrm>
            <a:off x="398780" y="1737360"/>
            <a:ext cx="4688205" cy="488315"/>
          </a:xfrm>
          <a:prstGeom prst="rect">
            <a:avLst/>
          </a:prstGeom>
          <a:solidFill>
            <a:srgbClr val="FFD34D"/>
          </a:solidFill>
          <a:ln w="3175">
            <a:solidFill>
              <a:schemeClr val="tx1"/>
            </a:solidFill>
            <a:prstDash val="dash"/>
          </a:ln>
          <a:effectLst/>
        </p:spPr>
        <p:txBody>
          <a:bodyPr wrap="none" rtlCol="0">
            <a:noAutofit/>
          </a:bodyPr>
          <a:lstStyle/>
          <a:p>
            <a:pPr lvl="0" algn="ctr">
              <a:lnSpc>
                <a:spcPct val="110000"/>
              </a:lnSpc>
              <a:buClrTx/>
              <a:buSzTx/>
              <a:buFontTx/>
            </a:pPr>
            <a:r>
              <a:rPr lang="zh-CN" altLang="zh-CN" sz="2400" b="1" kern="0" spc="200">
                <a:latin typeface="微软雅黑" panose="020B0503020204020204" charset="-122"/>
                <a:ea typeface="微软雅黑" panose="020B0503020204020204" charset="-122"/>
                <a:cs typeface="微软雅黑" panose="020B0503020204020204" charset="-122"/>
                <a:sym typeface="+mn-ea"/>
              </a:rPr>
              <a:t>锢囚锋形成的三种情况</a:t>
            </a:r>
            <a:endParaRPr lang="zh-CN" altLang="zh-CN" sz="2400" b="1" kern="0" spc="200">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custDataLst>
              <p:tags r:id="rId2"/>
            </p:custDataLst>
          </p:nvPr>
        </p:nvSpPr>
        <p:spPr>
          <a:xfrm>
            <a:off x="398780" y="2498725"/>
            <a:ext cx="4688205" cy="3307080"/>
          </a:xfrm>
          <a:prstGeom prst="rect">
            <a:avLst/>
          </a:prstGeom>
          <a:solidFill>
            <a:schemeClr val="accent3">
              <a:lumMod val="20000"/>
              <a:lumOff val="80000"/>
            </a:schemeClr>
          </a:solidFill>
          <a:ln>
            <a:solidFill>
              <a:schemeClr val="tx1"/>
            </a:solidFill>
            <a:prstDash val="dash"/>
          </a:ln>
        </p:spPr>
        <p:txBody>
          <a:bodyPr wrap="square">
            <a:noAutofit/>
          </a:bodyPr>
          <a:lstStyle>
            <a:defPPr>
              <a:defRPr lang="zh-CN"/>
            </a:defPPr>
            <a:lvl1pPr indent="0">
              <a:lnSpc>
                <a:spcPct val="150000"/>
              </a:lnSpc>
              <a:buFont typeface="Arial" panose="020B0604020202020204" pitchFamily="34" charset="0"/>
              <a:buNone/>
              <a:tabLst>
                <a:tab pos="2070735" algn="l"/>
              </a:tabLst>
              <a:defRPr sz="2400" kern="100">
                <a:effectLst/>
                <a:latin typeface="Times New Roman" panose="02020603050405020304" charset="0"/>
                <a:ea typeface="+mj-ea"/>
                <a:cs typeface="Times New Roman" panose="02020603050405020304" charset="0"/>
              </a:defRPr>
            </a:lvl1pPr>
          </a:lstStyle>
          <a:p>
            <a:pPr marL="342900" lvl="0" indent="-342900" algn="just" defTabSz="914400">
              <a:lnSpc>
                <a:spcPct val="140000"/>
              </a:lnSpc>
              <a:buClrTx/>
              <a:buSzTx/>
              <a:buFont typeface="Wingdings" panose="05000000000000000000" pitchFamily="2" charset="2"/>
              <a:buChar char="Ø"/>
              <a:defRPr/>
            </a:pPr>
            <a:r>
              <a:rPr lang="zh-CN" b="1" kern="1200">
                <a:solidFill>
                  <a:srgbClr val="0026E5"/>
                </a:solidFill>
                <a:latin typeface="微软雅黑" panose="020B0503020204020204" charset="-122"/>
                <a:ea typeface="微软雅黑" panose="020B0503020204020204" charset="-122"/>
                <a:cs typeface="+mn-cs"/>
                <a:sym typeface="+mn-ea"/>
              </a:rPr>
              <a:t>①温带气旋中冷锋追上暖锋</a:t>
            </a:r>
            <a:endParaRPr lang="zh-CN" b="1" kern="1200">
              <a:solidFill>
                <a:srgbClr val="0026E5"/>
              </a:solidFill>
              <a:latin typeface="微软雅黑" panose="020B0503020204020204" charset="-122"/>
              <a:ea typeface="微软雅黑" panose="020B0503020204020204" charset="-122"/>
              <a:cs typeface="+mn-cs"/>
              <a:sym typeface="+mn-ea"/>
            </a:endParaRPr>
          </a:p>
          <a:p>
            <a:pPr marL="342900" lvl="0" indent="-342900" algn="just" defTabSz="914400">
              <a:lnSpc>
                <a:spcPct val="140000"/>
              </a:lnSpc>
              <a:buClrTx/>
              <a:buSzTx/>
              <a:buFont typeface="Wingdings" panose="05000000000000000000" pitchFamily="2" charset="2"/>
              <a:buChar char="Ø"/>
              <a:defRPr/>
            </a:pPr>
            <a:r>
              <a:rPr lang="zh-CN" kern="1200">
                <a:latin typeface="微软雅黑" panose="020B0503020204020204" charset="-122"/>
                <a:ea typeface="微软雅黑" panose="020B0503020204020204" charset="-122"/>
                <a:cs typeface="+mn-cs"/>
                <a:sym typeface="+mn-ea"/>
              </a:rPr>
              <a:t>左侧的冷锋移动较快，追上了前面的暖锋，冷锋前的暖空气都被抬离地面，锢囚到高空。冷锋后面的冷气团和暖锋前面冷气团的交界面称为锢囚锋。</a:t>
            </a:r>
            <a:endParaRPr lang="zh-CN" kern="1200">
              <a:latin typeface="微软雅黑" panose="020B0503020204020204" charset="-122"/>
              <a:ea typeface="微软雅黑" panose="020B0503020204020204" charset="-122"/>
              <a:cs typeface="+mn-cs"/>
              <a:sym typeface="+mn-ea"/>
            </a:endParaRPr>
          </a:p>
        </p:txBody>
      </p:sp>
      <p:pic>
        <p:nvPicPr>
          <p:cNvPr id="6" name="图片 5"/>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5234136" y="1565776"/>
            <a:ext cx="6812065" cy="4811021"/>
          </a:xfrm>
          <a:prstGeom prst="rect">
            <a:avLst/>
          </a:prstGeom>
        </p:spPr>
      </p:pic>
      <p:sp>
        <p:nvSpPr>
          <p:cNvPr id="2" name="文本框 1"/>
          <p:cNvSpPr txBox="1"/>
          <p:nvPr>
            <p:custDataLst>
              <p:tags r:id="rId5"/>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custDataLst>
              <p:tags r:id="rId6"/>
            </p:custDataLst>
          </p:nvPr>
        </p:nvSpPr>
        <p:spPr>
          <a:xfrm>
            <a:off x="371475" y="110617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1 锢囚锋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371475" y="2483485"/>
            <a:ext cx="5619115" cy="3778885"/>
          </a:xfrm>
          <a:prstGeom prst="rect">
            <a:avLst/>
          </a:prstGeom>
          <a:solidFill>
            <a:schemeClr val="accent3">
              <a:lumMod val="20000"/>
              <a:lumOff val="80000"/>
            </a:schemeClr>
          </a:solidFill>
          <a:ln>
            <a:solidFill>
              <a:schemeClr val="tx1"/>
            </a:solidFill>
            <a:prstDash val="dash"/>
          </a:ln>
        </p:spPr>
        <p:txBody>
          <a:bodyPr wrap="square">
            <a:noAutofit/>
          </a:bodyPr>
          <a:lstStyle>
            <a:defPPr>
              <a:defRPr lang="zh-CN"/>
            </a:defPPr>
            <a:lvl1pPr indent="0">
              <a:lnSpc>
                <a:spcPct val="150000"/>
              </a:lnSpc>
              <a:buFont typeface="Arial" panose="020B0604020202020204" pitchFamily="34" charset="0"/>
              <a:buNone/>
              <a:tabLst>
                <a:tab pos="2070735" algn="l"/>
              </a:tabLst>
              <a:defRPr sz="2400" kern="100">
                <a:effectLst/>
                <a:latin typeface="Times New Roman" panose="02020603050405020304" charset="0"/>
                <a:ea typeface="+mj-ea"/>
                <a:cs typeface="Times New Roman" panose="02020603050405020304" charset="0"/>
              </a:defRPr>
            </a:lvl1pPr>
          </a:lstStyle>
          <a:p>
            <a:pPr marL="342900" lvl="0" indent="-342900" algn="just" defTabSz="914400">
              <a:lnSpc>
                <a:spcPct val="140000"/>
              </a:lnSpc>
              <a:buClrTx/>
              <a:buSzTx/>
              <a:buFont typeface="Wingdings" panose="05000000000000000000" pitchFamily="2" charset="2"/>
              <a:buChar char="Ø"/>
              <a:defRPr/>
            </a:pPr>
            <a:r>
              <a:rPr lang="zh-CN" b="1" kern="1200">
                <a:solidFill>
                  <a:srgbClr val="0026E5"/>
                </a:solidFill>
                <a:latin typeface="微软雅黑" panose="020B0503020204020204" charset="-122"/>
                <a:ea typeface="微软雅黑" panose="020B0503020204020204" charset="-122"/>
                <a:cs typeface="+mn-cs"/>
                <a:sym typeface="+mn-ea"/>
              </a:rPr>
              <a:t>②锋面受山脉阻挡形成的地形锢囚锋</a:t>
            </a:r>
            <a:endParaRPr lang="zh-CN" kern="1200">
              <a:latin typeface="微软雅黑" panose="020B0503020204020204" charset="-122"/>
              <a:ea typeface="微软雅黑" panose="020B0503020204020204" charset="-122"/>
              <a:cs typeface="+mn-cs"/>
              <a:sym typeface="+mn-ea"/>
            </a:endParaRPr>
          </a:p>
          <a:p>
            <a:pPr marL="342900" lvl="0" indent="-342900" algn="just" defTabSz="914400">
              <a:lnSpc>
                <a:spcPct val="140000"/>
              </a:lnSpc>
              <a:buClrTx/>
              <a:buSzTx/>
              <a:buFont typeface="Wingdings" panose="05000000000000000000" pitchFamily="2" charset="2"/>
              <a:buChar char="Ø"/>
              <a:defRPr/>
            </a:pPr>
            <a:r>
              <a:rPr lang="zh-CN" kern="1200">
                <a:latin typeface="微软雅黑" panose="020B0503020204020204" charset="-122"/>
                <a:ea typeface="微软雅黑" panose="020B0503020204020204" charset="-122"/>
                <a:cs typeface="+mn-cs"/>
                <a:sym typeface="+mn-ea"/>
              </a:rPr>
              <a:t>华南锢囚锋：每年的4-6月份，我国冷锋南下经过南岭（两广丘陵）受地形阻挡，风速减慢，到达华南沿海地区时，冷气团逐渐变性，锋面稳定少动，当第二条冷锋南下，两者相遇形成华南锢囚锋。如右图：</a:t>
            </a:r>
            <a:endParaRPr lang="zh-CN" kern="1200">
              <a:latin typeface="微软雅黑" panose="020B0503020204020204" charset="-122"/>
              <a:ea typeface="微软雅黑" panose="020B0503020204020204" charset="-122"/>
              <a:cs typeface="+mn-cs"/>
              <a:sym typeface="+mn-ea"/>
            </a:endParaRPr>
          </a:p>
        </p:txBody>
      </p:sp>
      <p:pic>
        <p:nvPicPr>
          <p:cNvPr id="5" name="图片 4"/>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6207626" y="2481496"/>
            <a:ext cx="5779269" cy="3640323"/>
          </a:xfrm>
          <a:prstGeom prst="rect">
            <a:avLst/>
          </a:prstGeom>
        </p:spPr>
      </p:pic>
      <p:sp>
        <p:nvSpPr>
          <p:cNvPr id="2" name="文本框 4"/>
          <p:cNvSpPr txBox="1"/>
          <p:nvPr>
            <p:custDataLst>
              <p:tags r:id="rId4"/>
            </p:custDataLst>
          </p:nvPr>
        </p:nvSpPr>
        <p:spPr>
          <a:xfrm>
            <a:off x="398780" y="1737360"/>
            <a:ext cx="4688205" cy="488315"/>
          </a:xfrm>
          <a:prstGeom prst="rect">
            <a:avLst/>
          </a:prstGeom>
          <a:solidFill>
            <a:srgbClr val="FFD34D"/>
          </a:solidFill>
          <a:ln w="3175">
            <a:solidFill>
              <a:schemeClr val="tx1"/>
            </a:solidFill>
            <a:prstDash val="dash"/>
          </a:ln>
          <a:effectLst/>
        </p:spPr>
        <p:txBody>
          <a:bodyPr wrap="none" rtlCol="0">
            <a:noAutofit/>
          </a:bodyPr>
          <a:lstStyle/>
          <a:p>
            <a:pPr lvl="0" algn="ctr">
              <a:lnSpc>
                <a:spcPct val="110000"/>
              </a:lnSpc>
              <a:buClrTx/>
              <a:buSzTx/>
              <a:buFontTx/>
            </a:pPr>
            <a:r>
              <a:rPr lang="zh-CN" altLang="zh-CN" sz="2400" b="1" kern="0" spc="200">
                <a:latin typeface="微软雅黑" panose="020B0503020204020204" charset="-122"/>
                <a:ea typeface="微软雅黑" panose="020B0503020204020204" charset="-122"/>
                <a:cs typeface="微软雅黑" panose="020B0503020204020204" charset="-122"/>
                <a:sym typeface="+mn-ea"/>
              </a:rPr>
              <a:t>锢囚锋形成的三种情况</a:t>
            </a:r>
            <a:endParaRPr lang="zh-CN" altLang="zh-CN" sz="2400" b="1" kern="0" spc="200">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custDataLst>
              <p:tags r:id="rId5"/>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custDataLst>
              <p:tags r:id="rId6"/>
            </p:custDataLst>
          </p:nvPr>
        </p:nvSpPr>
        <p:spPr>
          <a:xfrm>
            <a:off x="371475" y="110617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1 锢囚锋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399415" y="2165985"/>
            <a:ext cx="11355070" cy="4225925"/>
          </a:xfrm>
          <a:prstGeom prst="rect">
            <a:avLst/>
          </a:prstGeom>
          <a:solidFill>
            <a:schemeClr val="accent3">
              <a:lumMod val="20000"/>
              <a:lumOff val="80000"/>
            </a:schemeClr>
          </a:solidFill>
          <a:ln>
            <a:solidFill>
              <a:schemeClr val="tx1"/>
            </a:solidFill>
            <a:prstDash val="dash"/>
          </a:ln>
        </p:spPr>
        <p:txBody>
          <a:bodyPr wrap="square">
            <a:spAutoFit/>
          </a:bodyPr>
          <a:lstStyle>
            <a:defPPr>
              <a:defRPr lang="zh-CN"/>
            </a:defPPr>
            <a:lvl1pPr indent="0">
              <a:lnSpc>
                <a:spcPct val="150000"/>
              </a:lnSpc>
              <a:buFont typeface="Arial" panose="020B0604020202020204" pitchFamily="34" charset="0"/>
              <a:buNone/>
              <a:tabLst>
                <a:tab pos="2070735" algn="l"/>
              </a:tabLst>
              <a:defRPr sz="2400" kern="100">
                <a:effectLst/>
                <a:latin typeface="Times New Roman" panose="02020603050405020304" charset="0"/>
                <a:ea typeface="+mj-ea"/>
                <a:cs typeface="Times New Roman" panose="02020603050405020304" charset="0"/>
              </a:defRPr>
            </a:lvl1pPr>
          </a:lstStyle>
          <a:p>
            <a:pPr>
              <a:lnSpc>
                <a:spcPct val="140000"/>
              </a:lnSpc>
            </a:pPr>
            <a:r>
              <a:rPr lang="zh-CN" altLang="en-US" b="1">
                <a:solidFill>
                  <a:srgbClr val="0026E5"/>
                </a:solidFill>
                <a:latin typeface="微软雅黑" panose="020B0503020204020204" charset="-122"/>
                <a:ea typeface="微软雅黑" panose="020B0503020204020204" charset="-122"/>
                <a:sym typeface="+mn-ea"/>
              </a:rPr>
              <a:t>③两条冷锋迎面相遇</a:t>
            </a:r>
            <a:endParaRPr lang="zh-CN" altLang="en-US" b="1" i="0">
              <a:solidFill>
                <a:srgbClr val="0026E5"/>
              </a:solidFill>
              <a:effectLst/>
              <a:latin typeface="微软雅黑" panose="020B0503020204020204" charset="-122"/>
              <a:ea typeface="微软雅黑" panose="020B0503020204020204" charset="-122"/>
            </a:endParaRPr>
          </a:p>
          <a:p>
            <a:pPr>
              <a:lnSpc>
                <a:spcPct val="140000"/>
              </a:lnSpc>
            </a:pPr>
            <a:r>
              <a:rPr lang="zh-CN" altLang="en-US" b="1" i="0">
                <a:solidFill>
                  <a:srgbClr val="0026E5"/>
                </a:solidFill>
                <a:effectLst/>
                <a:latin typeface="微软雅黑" panose="020B0503020204020204" charset="-122"/>
                <a:ea typeface="微软雅黑" panose="020B0503020204020204" charset="-122"/>
              </a:rPr>
              <a:t>青藏湖锢囚锋：</a:t>
            </a:r>
            <a:r>
              <a:rPr lang="zh-CN" altLang="en-US" b="0" i="0">
                <a:solidFill>
                  <a:srgbClr val="222222"/>
                </a:solidFill>
                <a:effectLst/>
                <a:latin typeface="微软雅黑" panose="020B0503020204020204" charset="-122"/>
                <a:ea typeface="微软雅黑" panose="020B0503020204020204" charset="-122"/>
              </a:rPr>
              <a:t>冬季时，冷空气受祁连山脉</a:t>
            </a:r>
            <a:endParaRPr lang="en-US" altLang="zh-CN" b="0" i="0">
              <a:solidFill>
                <a:srgbClr val="222222"/>
              </a:solidFill>
              <a:effectLst/>
              <a:latin typeface="微软雅黑" panose="020B0503020204020204" charset="-122"/>
              <a:ea typeface="微软雅黑" panose="020B0503020204020204" charset="-122"/>
            </a:endParaRPr>
          </a:p>
          <a:p>
            <a:pPr>
              <a:lnSpc>
                <a:spcPct val="140000"/>
              </a:lnSpc>
            </a:pPr>
            <a:r>
              <a:rPr lang="zh-CN" altLang="en-US" b="0" i="0">
                <a:solidFill>
                  <a:srgbClr val="222222"/>
                </a:solidFill>
                <a:effectLst/>
                <a:latin typeface="微软雅黑" panose="020B0503020204020204" charset="-122"/>
                <a:ea typeface="微软雅黑" panose="020B0503020204020204" charset="-122"/>
              </a:rPr>
              <a:t>的影响分为东西两股，一股是经南疆盆地后，</a:t>
            </a:r>
            <a:endParaRPr lang="en-US" altLang="zh-CN" b="0" i="0">
              <a:solidFill>
                <a:srgbClr val="222222"/>
              </a:solidFill>
              <a:effectLst/>
              <a:latin typeface="微软雅黑" panose="020B0503020204020204" charset="-122"/>
              <a:ea typeface="微软雅黑" panose="020B0503020204020204" charset="-122"/>
            </a:endParaRPr>
          </a:p>
          <a:p>
            <a:pPr>
              <a:lnSpc>
                <a:spcPct val="140000"/>
              </a:lnSpc>
            </a:pPr>
            <a:r>
              <a:rPr lang="zh-CN" altLang="en-US" b="0" i="0">
                <a:solidFill>
                  <a:srgbClr val="222222"/>
                </a:solidFill>
                <a:effectLst/>
                <a:latin typeface="微软雅黑" panose="020B0503020204020204" charset="-122"/>
                <a:ea typeface="微软雅黑" panose="020B0503020204020204" charset="-122"/>
              </a:rPr>
              <a:t>逐渐溢入青藏高原西侧阿尔金山山口进入青</a:t>
            </a:r>
            <a:endParaRPr lang="en-US" altLang="zh-CN" b="0" i="0">
              <a:solidFill>
                <a:srgbClr val="222222"/>
              </a:solidFill>
              <a:effectLst/>
              <a:latin typeface="微软雅黑" panose="020B0503020204020204" charset="-122"/>
              <a:ea typeface="微软雅黑" panose="020B0503020204020204" charset="-122"/>
            </a:endParaRPr>
          </a:p>
          <a:p>
            <a:pPr>
              <a:lnSpc>
                <a:spcPct val="140000"/>
              </a:lnSpc>
            </a:pPr>
            <a:r>
              <a:rPr lang="zh-CN" altLang="en-US" b="0" i="0">
                <a:solidFill>
                  <a:srgbClr val="222222"/>
                </a:solidFill>
                <a:effectLst/>
                <a:latin typeface="微软雅黑" panose="020B0503020204020204" charset="-122"/>
                <a:ea typeface="微软雅黑" panose="020B0503020204020204" charset="-122"/>
              </a:rPr>
              <a:t>海西北部的“西路冷空气”；另一股是经河</a:t>
            </a:r>
            <a:endParaRPr lang="en-US" altLang="zh-CN" b="0" i="0">
              <a:solidFill>
                <a:srgbClr val="222222"/>
              </a:solidFill>
              <a:effectLst/>
              <a:latin typeface="微软雅黑" panose="020B0503020204020204" charset="-122"/>
              <a:ea typeface="微软雅黑" panose="020B0503020204020204" charset="-122"/>
            </a:endParaRPr>
          </a:p>
          <a:p>
            <a:pPr>
              <a:lnSpc>
                <a:spcPct val="140000"/>
              </a:lnSpc>
            </a:pPr>
            <a:r>
              <a:rPr lang="zh-CN" altLang="en-US" b="0" i="0">
                <a:solidFill>
                  <a:srgbClr val="222222"/>
                </a:solidFill>
                <a:effectLst/>
                <a:latin typeface="微软雅黑" panose="020B0503020204020204" charset="-122"/>
                <a:ea typeface="微软雅黑" panose="020B0503020204020204" charset="-122"/>
              </a:rPr>
              <a:t>西走廊南下，在青藏高原东北部河谷地区向西回流倒灌的“东路冷空气”。这两股冷空气在青海湖附近迎面相遇，形成青海湖锢囚锋。冷锋前的暖空气都被抬离地面，锢囚到高空。冷锋后面的冷气团和暖锋前面冷气团的交界面称为锢囚锋。如右图：</a:t>
            </a:r>
            <a:endParaRPr lang="zh-CN" altLang="en-US"/>
          </a:p>
        </p:txBody>
      </p:sp>
      <p:pic>
        <p:nvPicPr>
          <p:cNvPr id="6" name="图片 5"/>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6905625" y="1627505"/>
            <a:ext cx="4957445" cy="3151505"/>
          </a:xfrm>
          <a:prstGeom prst="rect">
            <a:avLst/>
          </a:prstGeom>
        </p:spPr>
      </p:pic>
      <p:sp>
        <p:nvSpPr>
          <p:cNvPr id="2" name="文本框 4"/>
          <p:cNvSpPr txBox="1"/>
          <p:nvPr>
            <p:custDataLst>
              <p:tags r:id="rId4"/>
            </p:custDataLst>
          </p:nvPr>
        </p:nvSpPr>
        <p:spPr>
          <a:xfrm>
            <a:off x="398780" y="1628140"/>
            <a:ext cx="4688205" cy="488315"/>
          </a:xfrm>
          <a:prstGeom prst="rect">
            <a:avLst/>
          </a:prstGeom>
          <a:solidFill>
            <a:srgbClr val="FFD34D"/>
          </a:solidFill>
          <a:ln w="3175">
            <a:solidFill>
              <a:schemeClr val="tx1"/>
            </a:solidFill>
            <a:prstDash val="dash"/>
          </a:ln>
          <a:effectLst/>
        </p:spPr>
        <p:txBody>
          <a:bodyPr wrap="none" rtlCol="0">
            <a:noAutofit/>
          </a:bodyPr>
          <a:lstStyle/>
          <a:p>
            <a:pPr lvl="0" algn="ctr">
              <a:lnSpc>
                <a:spcPct val="110000"/>
              </a:lnSpc>
              <a:buClrTx/>
              <a:buSzTx/>
              <a:buFontTx/>
            </a:pPr>
            <a:r>
              <a:rPr lang="zh-CN" altLang="zh-CN" sz="2400" b="1" kern="0" spc="200">
                <a:latin typeface="微软雅黑" panose="020B0503020204020204" charset="-122"/>
                <a:ea typeface="微软雅黑" panose="020B0503020204020204" charset="-122"/>
                <a:cs typeface="微软雅黑" panose="020B0503020204020204" charset="-122"/>
                <a:sym typeface="+mn-ea"/>
              </a:rPr>
              <a:t>锢囚锋形成的三种情况</a:t>
            </a:r>
            <a:endParaRPr lang="zh-CN" altLang="zh-CN" sz="2400" b="1" kern="0" spc="200">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custDataLst>
              <p:tags r:id="rId5"/>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custDataLst>
              <p:tags r:id="rId6"/>
            </p:custDataLst>
          </p:nvPr>
        </p:nvSpPr>
        <p:spPr>
          <a:xfrm>
            <a:off x="371475" y="110617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1 锢囚锋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398780" y="2508250"/>
            <a:ext cx="5995670" cy="3765550"/>
          </a:xfrm>
          <a:prstGeom prst="rect">
            <a:avLst/>
          </a:prstGeom>
          <a:solidFill>
            <a:schemeClr val="accent3">
              <a:lumMod val="20000"/>
              <a:lumOff val="80000"/>
            </a:schemeClr>
          </a:solidFill>
          <a:ln>
            <a:solidFill>
              <a:schemeClr val="tx1"/>
            </a:solidFill>
            <a:prstDash val="dash"/>
          </a:ln>
        </p:spPr>
        <p:txBody>
          <a:bodyPr wrap="square">
            <a:noAutofit/>
          </a:bodyPr>
          <a:lstStyle>
            <a:defPPr>
              <a:defRPr lang="zh-CN"/>
            </a:defPPr>
            <a:lvl1pPr indent="0">
              <a:lnSpc>
                <a:spcPct val="150000"/>
              </a:lnSpc>
              <a:buFont typeface="Arial" panose="020B0604020202020204" pitchFamily="34" charset="0"/>
              <a:buNone/>
              <a:tabLst>
                <a:tab pos="2070735" algn="l"/>
              </a:tabLst>
              <a:defRPr sz="2400" kern="100">
                <a:effectLst/>
                <a:latin typeface="Times New Roman" panose="02020603050405020304" charset="0"/>
                <a:ea typeface="+mj-ea"/>
                <a:cs typeface="Times New Roman" panose="02020603050405020304" charset="0"/>
              </a:defRPr>
            </a:lvl1pPr>
          </a:lstStyle>
          <a:p>
            <a:pPr lvl="0" algn="l">
              <a:lnSpc>
                <a:spcPct val="140000"/>
              </a:lnSpc>
              <a:tabLst>
                <a:tab pos="2070735" algn="l"/>
              </a:tabLst>
            </a:pPr>
            <a:r>
              <a:rPr lang="zh-CN" altLang="en-US" b="1">
                <a:solidFill>
                  <a:srgbClr val="0026E5"/>
                </a:solidFill>
                <a:latin typeface="微软雅黑" panose="020B0503020204020204" charset="-122"/>
                <a:ea typeface="微软雅黑" panose="020B0503020204020204" charset="-122"/>
                <a:sym typeface="+mn-ea"/>
              </a:rPr>
              <a:t>③两条冷锋迎面相遇</a:t>
            </a:r>
            <a:r>
              <a:rPr lang="zh-CN" kern="1200">
                <a:latin typeface="微软雅黑" panose="020B0503020204020204" charset="-122"/>
                <a:ea typeface="微软雅黑" panose="020B0503020204020204" charset="-122"/>
                <a:cs typeface="+mn-cs"/>
                <a:sym typeface="+mn-ea"/>
              </a:rPr>
              <a:t>：</a:t>
            </a:r>
            <a:endParaRPr lang="zh-CN" kern="1200">
              <a:latin typeface="微软雅黑" panose="020B0503020204020204" charset="-122"/>
              <a:ea typeface="微软雅黑" panose="020B0503020204020204" charset="-122"/>
              <a:cs typeface="+mn-cs"/>
              <a:sym typeface="+mn-ea"/>
            </a:endParaRPr>
          </a:p>
          <a:p>
            <a:pPr marL="342900" lvl="0" indent="-342900" algn="just" defTabSz="914400">
              <a:lnSpc>
                <a:spcPct val="140000"/>
              </a:lnSpc>
              <a:buClrTx/>
              <a:buSzTx/>
              <a:buFont typeface="Wingdings" panose="05000000000000000000" pitchFamily="2" charset="2"/>
              <a:buChar char="Ø"/>
              <a:defRPr/>
            </a:pPr>
            <a:r>
              <a:rPr lang="zh-CN" kern="1200">
                <a:latin typeface="微软雅黑" panose="020B0503020204020204" charset="-122"/>
                <a:ea typeface="微软雅黑" panose="020B0503020204020204" charset="-122"/>
                <a:cs typeface="+mn-cs"/>
                <a:sym typeface="+mn-ea"/>
              </a:rPr>
              <a:t>云贵高原锢囚低涡：当较强的偏北风遇到秦岭阻挡分支南下，一支绕流四川盆地，一支绕流江汉平原，两支气流在贵州北部辐合而形成“锢囚低涡"，冷锋前的暖空气都被抬离地面，锢囚到高空，其强度较小，但带来的降水量较大。</a:t>
            </a:r>
            <a:endParaRPr lang="zh-CN" kern="1200">
              <a:latin typeface="微软雅黑" panose="020B0503020204020204" charset="-122"/>
              <a:ea typeface="微软雅黑" panose="020B0503020204020204" charset="-122"/>
              <a:cs typeface="+mn-cs"/>
              <a:sym typeface="+mn-ea"/>
            </a:endParaRPr>
          </a:p>
        </p:txBody>
      </p:sp>
      <p:pic>
        <p:nvPicPr>
          <p:cNvPr id="5" name="图片 4"/>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6543675" y="2520950"/>
            <a:ext cx="5307330" cy="3752215"/>
          </a:xfrm>
          <a:prstGeom prst="rect">
            <a:avLst/>
          </a:prstGeom>
        </p:spPr>
      </p:pic>
      <p:sp>
        <p:nvSpPr>
          <p:cNvPr id="6" name="文本框 4"/>
          <p:cNvSpPr txBox="1"/>
          <p:nvPr>
            <p:custDataLst>
              <p:tags r:id="rId4"/>
            </p:custDataLst>
          </p:nvPr>
        </p:nvSpPr>
        <p:spPr>
          <a:xfrm>
            <a:off x="398780" y="1777365"/>
            <a:ext cx="4688205" cy="488315"/>
          </a:xfrm>
          <a:prstGeom prst="rect">
            <a:avLst/>
          </a:prstGeom>
          <a:solidFill>
            <a:srgbClr val="FFD34D"/>
          </a:solidFill>
          <a:ln w="3175">
            <a:solidFill>
              <a:schemeClr val="tx1"/>
            </a:solidFill>
            <a:prstDash val="dash"/>
          </a:ln>
          <a:effectLst/>
        </p:spPr>
        <p:txBody>
          <a:bodyPr wrap="none" rtlCol="0">
            <a:noAutofit/>
          </a:bodyPr>
          <a:lstStyle/>
          <a:p>
            <a:pPr lvl="0" algn="ctr">
              <a:lnSpc>
                <a:spcPct val="110000"/>
              </a:lnSpc>
              <a:buClrTx/>
              <a:buSzTx/>
              <a:buFontTx/>
            </a:pPr>
            <a:r>
              <a:rPr lang="zh-CN" altLang="zh-CN" sz="2400" b="1" kern="0" spc="200">
                <a:latin typeface="微软雅黑" panose="020B0503020204020204" charset="-122"/>
                <a:ea typeface="微软雅黑" panose="020B0503020204020204" charset="-122"/>
                <a:cs typeface="微软雅黑" panose="020B0503020204020204" charset="-122"/>
                <a:sym typeface="+mn-ea"/>
              </a:rPr>
              <a:t>锢囚锋形成的三种情况</a:t>
            </a:r>
            <a:endParaRPr lang="zh-CN" altLang="zh-CN" sz="2400" b="1" kern="0" spc="200">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custDataLst>
              <p:tags r:id="rId5"/>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custDataLst>
              <p:tags r:id="rId6"/>
            </p:custDataLst>
          </p:nvPr>
        </p:nvSpPr>
        <p:spPr>
          <a:xfrm>
            <a:off x="371475" y="110617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1 锢囚锋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custDataLst>
              <p:tags r:id="rId1"/>
            </p:custDataLst>
          </p:nvPr>
        </p:nvSpPr>
        <p:spPr>
          <a:xfrm>
            <a:off x="475615" y="1654810"/>
            <a:ext cx="2957830" cy="516255"/>
          </a:xfrm>
          <a:prstGeom prst="rect">
            <a:avLst/>
          </a:prstGeom>
          <a:solidFill>
            <a:srgbClr val="FFD34D"/>
          </a:solidFill>
          <a:ln w="3175">
            <a:solidFill>
              <a:schemeClr val="tx1"/>
            </a:solidFill>
            <a:prstDash val="dash"/>
          </a:ln>
          <a:effectLst/>
        </p:spPr>
        <p:txBody>
          <a:bodyPr wrap="non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10000"/>
              </a:lnSpc>
              <a:buClrTx/>
              <a:buSzTx/>
              <a:buFontTx/>
            </a:pPr>
            <a:r>
              <a:rPr lang="zh-CN" altLang="zh-CN" sz="2400" b="1" kern="0" spc="200">
                <a:latin typeface="微软雅黑" panose="020B0503020204020204" charset="-122"/>
                <a:ea typeface="微软雅黑" panose="020B0503020204020204" charset="-122"/>
                <a:cs typeface="微软雅黑" panose="020B0503020204020204" charset="-122"/>
                <a:sym typeface="+mn-ea"/>
              </a:rPr>
              <a:t>锢囚锋的天气现象</a:t>
            </a:r>
            <a:endParaRPr lang="zh-CN" altLang="zh-CN" sz="2400" b="1" kern="0" spc="200">
              <a:latin typeface="微软雅黑" panose="020B0503020204020204" charset="-122"/>
              <a:ea typeface="微软雅黑" panose="020B0503020204020204" charset="-122"/>
              <a:cs typeface="微软雅黑" panose="020B0503020204020204" charset="-122"/>
              <a:sym typeface="+mn-ea"/>
            </a:endParaRPr>
          </a:p>
        </p:txBody>
      </p:sp>
      <p:sp>
        <p:nvSpPr>
          <p:cNvPr id="4" name="矩形 3"/>
          <p:cNvSpPr/>
          <p:nvPr>
            <p:custDataLst>
              <p:tags r:id="rId2"/>
            </p:custDataLst>
          </p:nvPr>
        </p:nvSpPr>
        <p:spPr>
          <a:xfrm>
            <a:off x="475615" y="2418715"/>
            <a:ext cx="5507355" cy="3759835"/>
          </a:xfrm>
          <a:prstGeom prst="rect">
            <a:avLst/>
          </a:prstGeom>
          <a:solidFill>
            <a:schemeClr val="accent3">
              <a:lumMod val="20000"/>
              <a:lumOff val="80000"/>
            </a:schemeClr>
          </a:solidFill>
          <a:ln>
            <a:solidFill>
              <a:schemeClr val="tx1"/>
            </a:solidFill>
            <a:prstDash val="dash"/>
          </a:ln>
        </p:spPr>
        <p:txBody>
          <a:bodyPr wrap="square">
            <a:noAutofit/>
          </a:bodyPr>
          <a:lstStyle>
            <a:defPPr>
              <a:defRPr lang="zh-CN"/>
            </a:defPPr>
            <a:lvl1pPr indent="0">
              <a:lnSpc>
                <a:spcPct val="150000"/>
              </a:lnSpc>
              <a:buFont typeface="Arial" panose="020B0604020202020204" pitchFamily="34" charset="0"/>
              <a:buNone/>
              <a:tabLst>
                <a:tab pos="2070735" algn="l"/>
              </a:tabLst>
              <a:defRPr sz="2400" kern="100">
                <a:effectLst/>
                <a:latin typeface="Times New Roman" panose="02020603050405020304" charset="0"/>
                <a:ea typeface="+mj-ea"/>
                <a:cs typeface="Times New Roman" panose="02020603050405020304" charset="0"/>
              </a:defRPr>
            </a:lvl1pPr>
          </a:lstStyle>
          <a:p>
            <a:pPr marL="342900" lvl="0" indent="-342900" algn="just" defTabSz="914400">
              <a:lnSpc>
                <a:spcPct val="140000"/>
              </a:lnSpc>
              <a:buClrTx/>
              <a:buSzTx/>
              <a:buFont typeface="Wingdings" panose="05000000000000000000" pitchFamily="2" charset="2"/>
              <a:buChar char="Ø"/>
              <a:defRPr/>
            </a:pPr>
            <a:r>
              <a:rPr lang="zh-CN" kern="1200">
                <a:latin typeface="微软雅黑" panose="020B0503020204020204" charset="-122"/>
                <a:ea typeface="微软雅黑" panose="020B0503020204020204" charset="-122"/>
                <a:cs typeface="+mn-cs"/>
                <a:sym typeface="+mn-ea"/>
              </a:rPr>
              <a:t>锢囚锋是由原来两个锋面合并形成的新锋面，所以它带来的天气</a:t>
            </a:r>
            <a:r>
              <a:rPr lang="zh-CN" b="1" kern="1200">
                <a:solidFill>
                  <a:srgbClr val="0026E5"/>
                </a:solidFill>
                <a:latin typeface="微软雅黑" panose="020B0503020204020204" charset="-122"/>
                <a:ea typeface="微软雅黑" panose="020B0503020204020204" charset="-122"/>
                <a:cs typeface="+mn-cs"/>
                <a:sym typeface="+mn-ea"/>
              </a:rPr>
              <a:t>保留着原来两个锋面天气的特征，两侧均为降水区</a:t>
            </a:r>
            <a:r>
              <a:rPr lang="zh-CN" kern="1200">
                <a:latin typeface="微软雅黑" panose="020B0503020204020204" charset="-122"/>
                <a:ea typeface="微软雅黑" panose="020B0503020204020204" charset="-122"/>
                <a:cs typeface="+mn-cs"/>
                <a:sym typeface="+mn-ea"/>
              </a:rPr>
              <a:t>。而且由于锢囚作用，暖空气被抬升得更高，因此</a:t>
            </a:r>
            <a:r>
              <a:rPr lang="zh-CN" b="1" kern="1200">
                <a:solidFill>
                  <a:srgbClr val="0026E5"/>
                </a:solidFill>
                <a:latin typeface="微软雅黑" panose="020B0503020204020204" charset="-122"/>
                <a:ea typeface="微软雅黑" panose="020B0503020204020204" charset="-122"/>
                <a:cs typeface="+mn-cs"/>
                <a:sym typeface="+mn-ea"/>
              </a:rPr>
              <a:t>云层增厚、降水增加、雨区扩大</a:t>
            </a:r>
            <a:r>
              <a:rPr lang="zh-CN" kern="1200">
                <a:latin typeface="微软雅黑" panose="020B0503020204020204" charset="-122"/>
                <a:ea typeface="微软雅黑" panose="020B0503020204020204" charset="-122"/>
                <a:cs typeface="+mn-cs"/>
                <a:sym typeface="+mn-ea"/>
              </a:rPr>
              <a:t>，风力界于冷锋和暖锋之间。</a:t>
            </a:r>
            <a:endParaRPr lang="zh-CN" kern="1200">
              <a:latin typeface="微软雅黑" panose="020B0503020204020204" charset="-122"/>
              <a:ea typeface="微软雅黑" panose="020B0503020204020204" charset="-122"/>
              <a:cs typeface="+mn-cs"/>
              <a:sym typeface="+mn-ea"/>
            </a:endParaRPr>
          </a:p>
        </p:txBody>
      </p:sp>
      <p:sp>
        <p:nvSpPr>
          <p:cNvPr id="8" name="文本框 7"/>
          <p:cNvSpPr txBox="1"/>
          <p:nvPr>
            <p:custDataLst>
              <p:tags r:id="rId3"/>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custDataLst>
              <p:tags r:id="rId4"/>
            </p:custDataLst>
          </p:nvPr>
        </p:nvSpPr>
        <p:spPr>
          <a:xfrm>
            <a:off x="371475" y="106553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1 锢囚锋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custDataLst>
              <p:tags r:id="rId5"/>
            </p:custDataLst>
          </p:nvPr>
        </p:nvPicPr>
        <p:blipFill>
          <a:blip r:embed="rId6"/>
          <a:stretch>
            <a:fillRect/>
          </a:stretch>
        </p:blipFill>
        <p:spPr>
          <a:xfrm>
            <a:off x="6219190" y="901700"/>
            <a:ext cx="5944870" cy="5651500"/>
          </a:xfrm>
          <a:prstGeom prst="rect">
            <a:avLst/>
          </a:prstGeom>
        </p:spPr>
      </p:pic>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custDataLst>
              <p:tags r:id="rId2"/>
            </p:custDataLst>
          </p:nvPr>
        </p:nvSpPr>
        <p:spPr>
          <a:xfrm>
            <a:off x="371475" y="1106170"/>
            <a:ext cx="2816860"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02</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 倒暖锋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custDataLst>
              <p:tags r:id="rId3"/>
            </p:custDataLst>
          </p:nvPr>
        </p:nvSpPr>
        <p:spPr>
          <a:xfrm>
            <a:off x="263843" y="1557020"/>
            <a:ext cx="11664315" cy="1106805"/>
          </a:xfrm>
          <a:prstGeom prst="rect">
            <a:avLst/>
          </a:prstGeom>
          <a:noFill/>
          <a:ln w="9525">
            <a:noFill/>
          </a:ln>
        </p:spPr>
        <p:txBody>
          <a:bodyPr wrap="square">
            <a:spAutoFit/>
          </a:bodyPr>
          <a:lstStyle/>
          <a:p>
            <a:pPr indent="266700"/>
            <a:r>
              <a:rPr lang="zh-CN" sz="2200" b="0">
                <a:latin typeface="楷体" panose="02010609060101010101" charset="-122"/>
                <a:ea typeface="楷体" panose="02010609060101010101" charset="-122"/>
                <a:cs typeface="楷体" panose="02010609060101010101" charset="-122"/>
              </a:rPr>
              <a:t>我国东北地区有种特有的天气过程叫倒暖锋，它具备暖锋特征，却由北向南逆行。在该天气形成之前的两天寒潮袭击使东北地区普遍低温，随后在低气压影响下海洋暖湿气团南下遇上东北的冷气团形成锋面。下图为某次倒暖锋过境时近地面气压形势图。读图完成下面小题。</a:t>
            </a:r>
            <a:endParaRPr lang="zh-CN" sz="2200" b="0">
              <a:latin typeface="楷体" panose="02010609060101010101" charset="-122"/>
              <a:ea typeface="楷体" panose="02010609060101010101" charset="-122"/>
              <a:cs typeface="楷体" panose="02010609060101010101" charset="-122"/>
            </a:endParaRPr>
          </a:p>
        </p:txBody>
      </p:sp>
      <p:pic>
        <p:nvPicPr>
          <p:cNvPr id="100005" name="图片 100005"/>
          <p:cNvPicPr>
            <a:picLocks noChangeAspect="1"/>
          </p:cNvPicPr>
          <p:nvPr>
            <p:custDataLst>
              <p:tags r:id="rId4"/>
            </p:custDataLst>
          </p:nvPr>
        </p:nvPicPr>
        <p:blipFill>
          <a:blip r:embed="rId5">
            <a:lum bright="18000" contrast="18000"/>
          </a:blip>
          <a:stretch>
            <a:fillRect/>
          </a:stretch>
        </p:blipFill>
        <p:spPr>
          <a:xfrm>
            <a:off x="6854825" y="2786380"/>
            <a:ext cx="5073650" cy="2856865"/>
          </a:xfrm>
          <a:prstGeom prst="rect">
            <a:avLst/>
          </a:prstGeom>
        </p:spPr>
      </p:pic>
      <p:sp>
        <p:nvSpPr>
          <p:cNvPr id="8" name="文本框 7"/>
          <p:cNvSpPr txBox="1"/>
          <p:nvPr>
            <p:custDataLst>
              <p:tags r:id="rId6"/>
            </p:custDataLst>
          </p:nvPr>
        </p:nvSpPr>
        <p:spPr>
          <a:xfrm>
            <a:off x="348615" y="2526665"/>
            <a:ext cx="6305550" cy="1753235"/>
          </a:xfrm>
          <a:prstGeom prst="rect">
            <a:avLst/>
          </a:prstGeom>
          <a:noFill/>
          <a:ln w="9525">
            <a:noFill/>
          </a:ln>
        </p:spPr>
        <p:txBody>
          <a:bodyPr wrap="square">
            <a:spAutoFit/>
          </a:bodyPr>
          <a:lstStyle/>
          <a:p>
            <a:pPr>
              <a:lnSpc>
                <a:spcPct val="150000"/>
              </a:lnSpc>
              <a:buClrTx/>
              <a:buSzTx/>
              <a:buNone/>
            </a:pPr>
            <a:r>
              <a:rPr lang="en-US" altLang="zh-CN" sz="2400" b="0">
                <a:latin typeface="微软雅黑" panose="020B0503020204020204" charset="-122"/>
                <a:ea typeface="微软雅黑" panose="020B0503020204020204" charset="-122"/>
                <a:cs typeface="微软雅黑" panose="020B0503020204020204" charset="-122"/>
              </a:rPr>
              <a:t>3．我国东北地区发生倒暖锋概率最高的季节是（       ）A．春季    B．夏季    C．秋季	D．冬季
</a:t>
            </a:r>
            <a:endParaRPr lang="en-US" altLang="zh-CN" sz="2400" b="0">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custDataLst>
              <p:tags r:id="rId7"/>
            </p:custDataLst>
          </p:nvPr>
        </p:nvSpPr>
        <p:spPr>
          <a:xfrm>
            <a:off x="348615" y="4466590"/>
            <a:ext cx="6257925" cy="1832610"/>
          </a:xfrm>
          <a:prstGeom prst="rect">
            <a:avLst/>
          </a:prstGeom>
          <a:solidFill>
            <a:schemeClr val="bg1"/>
          </a:solidFill>
          <a:ln>
            <a:solidFill>
              <a:srgbClr val="0070C0"/>
            </a:solidFill>
            <a:prstDash val="dash"/>
          </a:ln>
        </p:spPr>
        <p:txBody>
          <a:bodyPr wrap="square" rtlCol="0" anchor="t">
            <a:noAutofit/>
          </a:bodyPr>
          <a:lstStyle/>
          <a:p>
            <a:pPr lvl="0" algn="l">
              <a:lnSpc>
                <a:spcPct val="110000"/>
              </a:lnSpc>
              <a:buClrTx/>
              <a:buSzTx/>
              <a:buFontTx/>
            </a:pPr>
            <a:r>
              <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rPr>
              <a:t>【解析】3．根据题干信息可得，在倒暖锋形成之前受到了的两天寒潮袭击，因此可以推断倒暖锋在我国主要出现在东北地区,一般出现在寒潮过境之后的两三天之内，因此寒潮主要过境季节为冬季，故D正确，因此排除A、B、C，选择D。</a:t>
            </a:r>
            <a:endPar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endParaRPr>
          </a:p>
        </p:txBody>
      </p:sp>
      <p:sp>
        <p:nvSpPr>
          <p:cNvPr id="29" name="矩形 28"/>
          <p:cNvSpPr/>
          <p:nvPr>
            <p:custDataLst>
              <p:tags r:id="rId8"/>
            </p:custDataLst>
          </p:nvPr>
        </p:nvSpPr>
        <p:spPr>
          <a:xfrm>
            <a:off x="1005205" y="2967355"/>
            <a:ext cx="733425" cy="1014730"/>
          </a:xfrm>
          <a:prstGeom prst="rect">
            <a:avLst/>
          </a:prstGeom>
          <a:noFill/>
          <a:ln>
            <a:noFill/>
          </a:ln>
        </p:spPr>
        <p:txBody>
          <a:bodyPr wrap="square" rtlCol="0" anchor="t">
            <a:spAutoFit/>
            <a:scene3d>
              <a:camera prst="orthographicFront"/>
              <a:lightRig rig="soft" dir="t">
                <a:rot lat="0" lon="0" rev="15600000"/>
              </a:lightRig>
            </a:scene3d>
            <a:sp3d extrusionH="57150" prstMaterial="softEdge">
              <a:bevelT w="25400" h="38100"/>
            </a:sp3d>
          </a:bodyPr>
          <a:lstStyle/>
          <a:p>
            <a:pPr algn="ctr"/>
            <a:r>
              <a:rPr lang="en-US" altLang="zh-CN" sz="6000" b="1">
                <a:solidFill>
                  <a:srgbClr val="FF0000"/>
                </a:solidFill>
                <a:effectLst/>
                <a:latin typeface="Arial" panose="020B0604020202020204" pitchFamily="34" charset="0"/>
                <a:ea typeface="微软雅黑" panose="020B0503020204020204" charset="-122"/>
                <a:cs typeface="Arial" panose="020B0604020202020204" pitchFamily="34" charset="0"/>
              </a:rPr>
              <a:t>D</a:t>
            </a:r>
            <a:endParaRPr lang="en-US" altLang="zh-CN" sz="6000" b="1">
              <a:solidFill>
                <a:srgbClr val="FF0000"/>
              </a:solidFill>
              <a:effectLst/>
              <a:latin typeface="Arial" panose="020B0604020202020204" pitchFamily="34" charset="0"/>
              <a:ea typeface="微软雅黑" panose="020B0503020204020204" charset="-122"/>
              <a:cs typeface="Arial" panose="020B0604020202020204" pitchFamily="34" charset="0"/>
            </a:endParaRPr>
          </a:p>
        </p:txBody>
      </p:sp>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2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custDataLst>
              <p:tags r:id="rId2"/>
            </p:custDataLst>
          </p:nvPr>
        </p:nvSpPr>
        <p:spPr>
          <a:xfrm>
            <a:off x="371475" y="1106170"/>
            <a:ext cx="2816860"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02</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 倒暖锋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custDataLst>
              <p:tags r:id="rId3"/>
            </p:custDataLst>
          </p:nvPr>
        </p:nvSpPr>
        <p:spPr>
          <a:xfrm>
            <a:off x="263843" y="1557020"/>
            <a:ext cx="11664315" cy="1106805"/>
          </a:xfrm>
          <a:prstGeom prst="rect">
            <a:avLst/>
          </a:prstGeom>
          <a:noFill/>
          <a:ln w="9525">
            <a:noFill/>
          </a:ln>
        </p:spPr>
        <p:txBody>
          <a:bodyPr wrap="square">
            <a:spAutoFit/>
          </a:bodyPr>
          <a:lstStyle/>
          <a:p>
            <a:pPr indent="266700"/>
            <a:r>
              <a:rPr lang="zh-CN" sz="2200" b="0">
                <a:latin typeface="楷体" panose="02010609060101010101" charset="-122"/>
                <a:ea typeface="楷体" panose="02010609060101010101" charset="-122"/>
                <a:cs typeface="楷体" panose="02010609060101010101" charset="-122"/>
              </a:rPr>
              <a:t>我国东北地区有种特有的天气过程叫倒暖锋，它具备暖锋特征，却由北向南逆行。在该天气形成之前的两天寒潮袭击使东北地区普遍低温，随后在低气压影响下海洋暖湿气团南下遇上东北的冷气团形成锋面。下图为某次倒暖锋过境时近地面气压形势图。读图完成下面小题。</a:t>
            </a:r>
            <a:endParaRPr lang="zh-CN" sz="2200" b="0">
              <a:latin typeface="楷体" panose="02010609060101010101" charset="-122"/>
              <a:ea typeface="楷体" panose="02010609060101010101" charset="-122"/>
              <a:cs typeface="楷体" panose="02010609060101010101" charset="-122"/>
            </a:endParaRPr>
          </a:p>
        </p:txBody>
      </p:sp>
      <p:pic>
        <p:nvPicPr>
          <p:cNvPr id="100005" name="图片 100005"/>
          <p:cNvPicPr>
            <a:picLocks noChangeAspect="1"/>
          </p:cNvPicPr>
          <p:nvPr>
            <p:custDataLst>
              <p:tags r:id="rId4"/>
            </p:custDataLst>
          </p:nvPr>
        </p:nvPicPr>
        <p:blipFill>
          <a:blip r:embed="rId5">
            <a:lum bright="18000" contrast="18000"/>
          </a:blip>
          <a:stretch>
            <a:fillRect/>
          </a:stretch>
        </p:blipFill>
        <p:spPr>
          <a:xfrm>
            <a:off x="6854825" y="2786380"/>
            <a:ext cx="5073650" cy="2856865"/>
          </a:xfrm>
          <a:prstGeom prst="rect">
            <a:avLst/>
          </a:prstGeom>
        </p:spPr>
      </p:pic>
      <p:sp>
        <p:nvSpPr>
          <p:cNvPr id="8" name="文本框 7"/>
          <p:cNvSpPr txBox="1"/>
          <p:nvPr>
            <p:custDataLst>
              <p:tags r:id="rId6"/>
            </p:custDataLst>
          </p:nvPr>
        </p:nvSpPr>
        <p:spPr>
          <a:xfrm>
            <a:off x="371475" y="2503805"/>
            <a:ext cx="6305550" cy="1753235"/>
          </a:xfrm>
          <a:prstGeom prst="rect">
            <a:avLst/>
          </a:prstGeom>
          <a:noFill/>
          <a:ln w="9525">
            <a:noFill/>
          </a:ln>
        </p:spPr>
        <p:txBody>
          <a:bodyPr wrap="square">
            <a:spAutoFit/>
          </a:bodyPr>
          <a:lstStyle/>
          <a:p>
            <a:pPr>
              <a:lnSpc>
                <a:spcPct val="150000"/>
              </a:lnSpc>
              <a:buClrTx/>
              <a:buSzTx/>
              <a:buNone/>
            </a:pPr>
            <a:r>
              <a:rPr lang="en-US" altLang="zh-CN" sz="2400" b="0">
                <a:latin typeface="微软雅黑" panose="020B0503020204020204" charset="-122"/>
                <a:ea typeface="微软雅黑" panose="020B0503020204020204" charset="-122"/>
                <a:cs typeface="微软雅黑" panose="020B0503020204020204" charset="-122"/>
              </a:rPr>
              <a:t>4．倒暖锋的海洋暖湿气团来自（       ）A．黄海	          B．日本海	
</a:t>
            </a:r>
            <a:endParaRPr lang="en-US" altLang="zh-CN" sz="2400" b="0">
              <a:latin typeface="微软雅黑" panose="020B0503020204020204" charset="-122"/>
              <a:ea typeface="微软雅黑" panose="020B0503020204020204" charset="-122"/>
              <a:cs typeface="微软雅黑" panose="020B0503020204020204" charset="-122"/>
            </a:endParaRPr>
          </a:p>
          <a:p>
            <a:pPr>
              <a:lnSpc>
                <a:spcPct val="150000"/>
              </a:lnSpc>
              <a:buClrTx/>
              <a:buSzTx/>
              <a:buNone/>
            </a:pPr>
            <a:r>
              <a:rPr lang="en-US" altLang="zh-CN" sz="2400" b="0">
                <a:latin typeface="微软雅黑" panose="020B0503020204020204" charset="-122"/>
                <a:ea typeface="微软雅黑" panose="020B0503020204020204" charset="-122"/>
                <a:cs typeface="微软雅黑" panose="020B0503020204020204" charset="-122"/>
              </a:rPr>
              <a:t>C．太平洋中心	D．鄂霍次克海</a:t>
            </a:r>
            <a:endParaRPr lang="en-US" altLang="zh-CN" sz="2400" b="0">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7"/>
            </p:custDataLst>
          </p:nvPr>
        </p:nvSpPr>
        <p:spPr>
          <a:xfrm>
            <a:off x="348615" y="4460875"/>
            <a:ext cx="6483350" cy="1753235"/>
          </a:xfrm>
          <a:prstGeom prst="rect">
            <a:avLst/>
          </a:prstGeom>
          <a:solidFill>
            <a:schemeClr val="bg1"/>
          </a:solidFill>
          <a:ln>
            <a:solidFill>
              <a:srgbClr val="0070C0"/>
            </a:solidFill>
            <a:prstDash val="dash"/>
          </a:ln>
        </p:spPr>
        <p:txBody>
          <a:bodyPr wrap="square" rtlCol="0" anchor="t">
            <a:noAutofit/>
          </a:bodyPr>
          <a:lstStyle/>
          <a:p>
            <a:pPr lvl="0" algn="l">
              <a:lnSpc>
                <a:spcPct val="110000"/>
              </a:lnSpc>
              <a:buClrTx/>
              <a:buSzTx/>
              <a:buFontTx/>
            </a:pPr>
            <a:r>
              <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rPr>
              <a:t>【解析】4．倒暖锋形成之前，东北地区寒潮过境，陆地气温低；冬季由于海陆热力性质差异，鄂霍次克海气温比陆地高；来自鄂霍次克海的暖湿空气南下与南方冷空气相遇形成倒暖锋。因此水汽来源于鄂霍次克海，故D正确，因此排除A、B、C，选择D</a:t>
            </a:r>
            <a:endPar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endParaRPr>
          </a:p>
        </p:txBody>
      </p:sp>
      <p:sp>
        <p:nvSpPr>
          <p:cNvPr id="29" name="矩形 28"/>
          <p:cNvSpPr/>
          <p:nvPr>
            <p:custDataLst>
              <p:tags r:id="rId8"/>
            </p:custDataLst>
          </p:nvPr>
        </p:nvSpPr>
        <p:spPr>
          <a:xfrm>
            <a:off x="4865370" y="2414270"/>
            <a:ext cx="733425" cy="1014730"/>
          </a:xfrm>
          <a:prstGeom prst="rect">
            <a:avLst/>
          </a:prstGeom>
          <a:noFill/>
          <a:ln>
            <a:noFill/>
          </a:ln>
        </p:spPr>
        <p:txBody>
          <a:bodyPr wrap="square" rtlCol="0" anchor="t">
            <a:spAutoFit/>
            <a:scene3d>
              <a:camera prst="orthographicFront"/>
              <a:lightRig rig="soft" dir="t">
                <a:rot lat="0" lon="0" rev="15600000"/>
              </a:lightRig>
            </a:scene3d>
            <a:sp3d extrusionH="57150" prstMaterial="softEdge">
              <a:bevelT w="25400" h="38100"/>
            </a:sp3d>
          </a:bodyPr>
          <a:lstStyle/>
          <a:p>
            <a:pPr algn="ctr"/>
            <a:r>
              <a:rPr lang="en-US" altLang="zh-CN" sz="6000" b="1">
                <a:solidFill>
                  <a:srgbClr val="FF0000"/>
                </a:solidFill>
                <a:effectLst/>
                <a:latin typeface="Arial" panose="020B0604020202020204" pitchFamily="34" charset="0"/>
                <a:ea typeface="微软雅黑" panose="020B0503020204020204" charset="-122"/>
                <a:cs typeface="Arial" panose="020B0604020202020204" pitchFamily="34" charset="0"/>
              </a:rPr>
              <a:t>D</a:t>
            </a:r>
            <a:endParaRPr lang="en-US" altLang="zh-CN" sz="6000" b="1">
              <a:solidFill>
                <a:srgbClr val="FF0000"/>
              </a:solidFill>
              <a:effectLst/>
              <a:latin typeface="Arial" panose="020B0604020202020204" pitchFamily="34" charset="0"/>
              <a:ea typeface="微软雅黑" panose="020B0503020204020204" charset="-122"/>
              <a:cs typeface="Arial" panose="020B0604020202020204" pitchFamily="34" charset="0"/>
            </a:endParaRPr>
          </a:p>
        </p:txBody>
      </p:sp>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295910" y="3477260"/>
            <a:ext cx="516255" cy="1200785"/>
          </a:xfrm>
          <a:prstGeom prst="rect">
            <a:avLst/>
          </a:prstGeom>
          <a:solidFill>
            <a:schemeClr val="accent2">
              <a:lumMod val="40000"/>
              <a:lumOff val="60000"/>
            </a:schemeClr>
          </a:solidFill>
        </p:spPr>
        <p:txBody>
          <a:bodyPr wrap="square" lIns="91440" rIns="91440" rtlCol="0" anchor="t">
            <a:noAutofit/>
          </a:bodyPr>
          <a:lstStyle/>
          <a:p>
            <a:pPr algn="ctr">
              <a:buClrTx/>
              <a:buSzTx/>
              <a:buFontTx/>
            </a:pPr>
            <a:r>
              <a:rPr lang="zh-CN" altLang="en-US" sz="2400" b="1">
                <a:solidFill>
                  <a:schemeClr val="tx1"/>
                </a:solidFill>
                <a:latin typeface="微软雅黑" panose="020B0503020204020204" charset="-122"/>
                <a:ea typeface="微软雅黑" panose="020B0503020204020204" charset="-122"/>
                <a:sym typeface="+mn-ea"/>
              </a:rPr>
              <a:t>倒暖锋</a:t>
            </a:r>
            <a:endParaRPr lang="zh-CN" altLang="en-US" sz="2400" b="1">
              <a:solidFill>
                <a:schemeClr val="tx1"/>
              </a:solidFill>
              <a:latin typeface="微软雅黑" panose="020B0503020204020204" charset="-122"/>
              <a:ea typeface="微软雅黑" panose="020B0503020204020204" charset="-122"/>
              <a:sym typeface="+mn-ea"/>
            </a:endParaRPr>
          </a:p>
        </p:txBody>
      </p:sp>
      <p:sp>
        <p:nvSpPr>
          <p:cNvPr id="7" name="文本框 6"/>
          <p:cNvSpPr txBox="1"/>
          <p:nvPr>
            <p:custDataLst>
              <p:tags r:id="rId2"/>
            </p:custDataLst>
          </p:nvPr>
        </p:nvSpPr>
        <p:spPr>
          <a:xfrm>
            <a:off x="1393825" y="5380355"/>
            <a:ext cx="819785" cy="801370"/>
          </a:xfrm>
          <a:prstGeom prst="rect">
            <a:avLst/>
          </a:prstGeom>
          <a:solidFill>
            <a:schemeClr val="accent2">
              <a:lumMod val="40000"/>
              <a:lumOff val="60000"/>
            </a:schemeClr>
          </a:solidFill>
        </p:spPr>
        <p:txBody>
          <a:bodyPr wrap="square" lIns="91440" rIns="91440" rtlCol="0" anchor="t">
            <a:noAutofit/>
          </a:bodyPr>
          <a:lstStyle/>
          <a:p>
            <a:pPr algn="ctr">
              <a:buClrTx/>
              <a:buSzTx/>
              <a:buFontTx/>
            </a:pPr>
            <a:r>
              <a:rPr lang="zh-CN" altLang="en-US" sz="2200">
                <a:solidFill>
                  <a:schemeClr val="tx1"/>
                </a:solidFill>
                <a:latin typeface="微软雅黑" panose="020B0503020204020204" charset="-122"/>
                <a:ea typeface="微软雅黑" panose="020B0503020204020204" charset="-122"/>
                <a:sym typeface="+mn-ea"/>
              </a:rPr>
              <a:t>形成条件</a:t>
            </a:r>
            <a:endParaRPr lang="zh-CN" altLang="en-US" sz="2200">
              <a:solidFill>
                <a:schemeClr val="tx1"/>
              </a:solidFill>
              <a:latin typeface="微软雅黑" panose="020B0503020204020204" charset="-122"/>
              <a:ea typeface="微软雅黑" panose="020B0503020204020204" charset="-122"/>
              <a:sym typeface="+mn-ea"/>
            </a:endParaRPr>
          </a:p>
        </p:txBody>
      </p:sp>
      <p:sp>
        <p:nvSpPr>
          <p:cNvPr id="8" name="文本框 7"/>
          <p:cNvSpPr txBox="1"/>
          <p:nvPr>
            <p:custDataLst>
              <p:tags r:id="rId3"/>
            </p:custDataLst>
          </p:nvPr>
        </p:nvSpPr>
        <p:spPr>
          <a:xfrm>
            <a:off x="1393825" y="3338830"/>
            <a:ext cx="10664190" cy="1490980"/>
          </a:xfrm>
          <a:prstGeom prst="rect">
            <a:avLst/>
          </a:prstGeom>
          <a:solidFill>
            <a:schemeClr val="accent2">
              <a:lumMod val="40000"/>
              <a:lumOff val="60000"/>
            </a:schemeClr>
          </a:solidFill>
        </p:spPr>
        <p:txBody>
          <a:bodyPr wrap="square" lIns="91440" rIns="91440" rtlCol="0" anchor="t">
            <a:noAutofit/>
          </a:bodyPr>
          <a:lstStyle/>
          <a:p>
            <a:pPr>
              <a:lnSpc>
                <a:spcPct val="110000"/>
              </a:lnSpc>
              <a:buClrTx/>
              <a:buSzTx/>
              <a:buFontTx/>
            </a:pPr>
            <a:r>
              <a:rPr lang="zh-CN" altLang="en-US" sz="2000">
                <a:solidFill>
                  <a:schemeClr val="tx1"/>
                </a:solidFill>
                <a:latin typeface="微软雅黑" panose="020B0503020204020204" charset="-122"/>
                <a:ea typeface="微软雅黑" panose="020B0503020204020204" charset="-122"/>
                <a:sym typeface="+mn-ea"/>
              </a:rPr>
              <a:t>特征：移动方向反常，自北向南移动；降水区域反常，降水区域集中在锋面附近，但是锋后降水范围大于锋前；水汽来源反常，来源于我国东北方的鄂霍茨克海，由东北向西南输送；气温反常，气温反而由高纬向低纬递减，并在锋面过境后迅速升温，造成东北地区在冬季，北部气温比南部明显偏高的反常现象。</a:t>
            </a:r>
            <a:endParaRPr lang="zh-CN" altLang="en-US" sz="2000">
              <a:solidFill>
                <a:schemeClr val="tx1"/>
              </a:solidFill>
              <a:latin typeface="微软雅黑" panose="020B0503020204020204" charset="-122"/>
              <a:ea typeface="微软雅黑" panose="020B0503020204020204" charset="-122"/>
              <a:sym typeface="+mn-ea"/>
            </a:endParaRPr>
          </a:p>
        </p:txBody>
      </p:sp>
      <p:cxnSp>
        <p:nvCxnSpPr>
          <p:cNvPr id="16" name="肘形连接符 15"/>
          <p:cNvCxnSpPr>
            <a:stCxn id="7" idx="1"/>
            <a:endCxn id="4" idx="3"/>
          </p:cNvCxnSpPr>
          <p:nvPr>
            <p:custDataLst>
              <p:tags r:id="rId4"/>
            </p:custDataLst>
          </p:nvPr>
        </p:nvCxnSpPr>
        <p:spPr>
          <a:xfrm rot="10800000">
            <a:off x="812165" y="4077970"/>
            <a:ext cx="581660" cy="1703070"/>
          </a:xfrm>
          <a:prstGeom prst="bentConnector3">
            <a:avLst>
              <a:gd name="adj1" fmla="val 50000"/>
            </a:avLst>
          </a:prstGeom>
        </p:spPr>
        <p:style>
          <a:lnRef idx="2">
            <a:schemeClr val="accent1"/>
          </a:lnRef>
          <a:fillRef idx="0">
            <a:srgbClr val="FFFFFF"/>
          </a:fillRef>
          <a:effectRef idx="0">
            <a:srgbClr val="FFFFFF"/>
          </a:effectRef>
          <a:fontRef idx="minor">
            <a:schemeClr val="tx1"/>
          </a:fontRef>
        </p:style>
      </p:cxnSp>
      <p:sp>
        <p:nvSpPr>
          <p:cNvPr id="28" name="文本框 27"/>
          <p:cNvSpPr txBox="1"/>
          <p:nvPr>
            <p:custDataLst>
              <p:tags r:id="rId5"/>
            </p:custDataLst>
          </p:nvPr>
        </p:nvSpPr>
        <p:spPr>
          <a:xfrm>
            <a:off x="2632710" y="6080125"/>
            <a:ext cx="9431655" cy="469900"/>
          </a:xfrm>
          <a:prstGeom prst="rect">
            <a:avLst/>
          </a:prstGeom>
          <a:solidFill>
            <a:schemeClr val="accent2">
              <a:lumMod val="40000"/>
              <a:lumOff val="60000"/>
            </a:schemeClr>
          </a:solidFill>
        </p:spPr>
        <p:txBody>
          <a:bodyPr wrap="square" lIns="91440" rIns="91440" rtlCol="0" anchor="t">
            <a:noAutofit/>
          </a:bodyPr>
          <a:lstStyle/>
          <a:p>
            <a:pPr>
              <a:buClrTx/>
              <a:buSzTx/>
              <a:buFontTx/>
            </a:pPr>
            <a:r>
              <a:rPr lang="zh-CN" altLang="en-US" sz="2200">
                <a:solidFill>
                  <a:schemeClr val="tx1"/>
                </a:solidFill>
                <a:latin typeface="微软雅黑" panose="020B0503020204020204" charset="-122"/>
                <a:ea typeface="微软雅黑" panose="020B0503020204020204" charset="-122"/>
                <a:sym typeface="+mn-ea"/>
              </a:rPr>
              <a:t>鄂霍茨克海上空气温较高</a:t>
            </a:r>
            <a:endParaRPr lang="zh-CN" altLang="en-US" sz="2200">
              <a:solidFill>
                <a:schemeClr val="tx1"/>
              </a:solidFill>
              <a:latin typeface="微软雅黑" panose="020B0503020204020204" charset="-122"/>
              <a:ea typeface="微软雅黑" panose="020B0503020204020204" charset="-122"/>
              <a:sym typeface="+mn-ea"/>
            </a:endParaRPr>
          </a:p>
        </p:txBody>
      </p:sp>
      <p:cxnSp>
        <p:nvCxnSpPr>
          <p:cNvPr id="11" name="肘形连接符 10"/>
          <p:cNvCxnSpPr>
            <a:stCxn id="28" idx="1"/>
            <a:endCxn id="7" idx="3"/>
          </p:cNvCxnSpPr>
          <p:nvPr>
            <p:custDataLst>
              <p:tags r:id="rId6"/>
            </p:custDataLst>
          </p:nvPr>
        </p:nvCxnSpPr>
        <p:spPr>
          <a:xfrm rot="10800000">
            <a:off x="2213610" y="5781040"/>
            <a:ext cx="419100" cy="534035"/>
          </a:xfrm>
          <a:prstGeom prst="bentConnector3">
            <a:avLst>
              <a:gd name="adj1" fmla="val 50000"/>
            </a:avLst>
          </a:prstGeom>
        </p:spPr>
        <p:style>
          <a:lnRef idx="2">
            <a:schemeClr val="accent1"/>
          </a:lnRef>
          <a:fillRef idx="0">
            <a:srgbClr val="FFFFFF"/>
          </a:fillRef>
          <a:effectRef idx="0">
            <a:srgbClr val="FFFFFF"/>
          </a:effectRef>
          <a:fontRef idx="minor">
            <a:schemeClr val="tx1"/>
          </a:fontRef>
        </p:style>
      </p:cxnSp>
      <p:sp>
        <p:nvSpPr>
          <p:cNvPr id="5" name="文本框 4"/>
          <p:cNvSpPr txBox="1"/>
          <p:nvPr>
            <p:custDataLst>
              <p:tags r:id="rId7"/>
            </p:custDataLst>
          </p:nvPr>
        </p:nvSpPr>
        <p:spPr>
          <a:xfrm>
            <a:off x="1393825" y="982980"/>
            <a:ext cx="10664825" cy="878840"/>
          </a:xfrm>
          <a:prstGeom prst="rect">
            <a:avLst/>
          </a:prstGeom>
          <a:solidFill>
            <a:schemeClr val="accent2">
              <a:lumMod val="40000"/>
              <a:lumOff val="60000"/>
            </a:schemeClr>
          </a:solidFill>
        </p:spPr>
        <p:txBody>
          <a:bodyPr wrap="square" lIns="91440" rIns="91440" rtlCol="0" anchor="t">
            <a:noAutofit/>
          </a:bodyPr>
          <a:lstStyle/>
          <a:p>
            <a:pPr lvl="0" algn="l">
              <a:lnSpc>
                <a:spcPct val="110000"/>
              </a:lnSpc>
              <a:buClrTx/>
              <a:buSzTx/>
              <a:buFontTx/>
            </a:pPr>
            <a:r>
              <a:rPr lang="zh-CN" altLang="en-US" sz="2200">
                <a:solidFill>
                  <a:schemeClr val="tx1"/>
                </a:solidFill>
                <a:latin typeface="微软雅黑" panose="020B0503020204020204" charset="-122"/>
                <a:ea typeface="微软雅黑" panose="020B0503020204020204" charset="-122"/>
                <a:sym typeface="+mn-ea"/>
              </a:rPr>
              <a:t>概念：在北半球，由北向偏南方向逆行的暖锋；在南半球，由南向偏北方向逆行的暖锋。倒暖锋是指逆行的，由北向南（北半球）的暖锋，是东北地区独有的天气过程。</a:t>
            </a:r>
            <a:endParaRPr lang="zh-CN" altLang="en-US" sz="2200">
              <a:solidFill>
                <a:schemeClr val="tx1"/>
              </a:solidFill>
              <a:latin typeface="微软雅黑" panose="020B0503020204020204" charset="-122"/>
              <a:ea typeface="微软雅黑" panose="020B0503020204020204" charset="-122"/>
              <a:sym typeface="+mn-ea"/>
            </a:endParaRPr>
          </a:p>
        </p:txBody>
      </p:sp>
      <p:cxnSp>
        <p:nvCxnSpPr>
          <p:cNvPr id="15" name="肘形连接符 14"/>
          <p:cNvCxnSpPr>
            <a:stCxn id="5" idx="1"/>
            <a:endCxn id="4" idx="3"/>
          </p:cNvCxnSpPr>
          <p:nvPr>
            <p:custDataLst>
              <p:tags r:id="rId8"/>
            </p:custDataLst>
          </p:nvPr>
        </p:nvCxnSpPr>
        <p:spPr>
          <a:xfrm rot="10800000" flipV="1">
            <a:off x="812165" y="1422400"/>
            <a:ext cx="581660" cy="2655570"/>
          </a:xfrm>
          <a:prstGeom prst="bentConnector3">
            <a:avLst>
              <a:gd name="adj1" fmla="val 50000"/>
            </a:avLst>
          </a:prstGeom>
        </p:spPr>
        <p:style>
          <a:lnRef idx="2">
            <a:schemeClr val="accent1"/>
          </a:lnRef>
          <a:fillRef idx="0">
            <a:srgbClr val="FFFFFF"/>
          </a:fillRef>
          <a:effectRef idx="0">
            <a:srgbClr val="FFFFFF"/>
          </a:effectRef>
          <a:fontRef idx="minor">
            <a:schemeClr val="tx1"/>
          </a:fontRef>
        </p:style>
      </p:cxnSp>
      <p:sp>
        <p:nvSpPr>
          <p:cNvPr id="12" name="文本框 11"/>
          <p:cNvSpPr txBox="1"/>
          <p:nvPr>
            <p:custDataLst>
              <p:tags r:id="rId9"/>
            </p:custDataLst>
          </p:nvPr>
        </p:nvSpPr>
        <p:spPr>
          <a:xfrm>
            <a:off x="1393825" y="2457450"/>
            <a:ext cx="10664825" cy="830580"/>
          </a:xfrm>
          <a:prstGeom prst="rect">
            <a:avLst/>
          </a:prstGeom>
          <a:solidFill>
            <a:schemeClr val="accent2">
              <a:lumMod val="40000"/>
              <a:lumOff val="60000"/>
            </a:schemeClr>
          </a:solidFill>
        </p:spPr>
        <p:txBody>
          <a:bodyPr wrap="square" lIns="91440" rIns="91440" rtlCol="0" anchor="t">
            <a:noAutofit/>
          </a:bodyPr>
          <a:lstStyle/>
          <a:p>
            <a:pPr lvl="0" algn="l">
              <a:lnSpc>
                <a:spcPct val="110000"/>
              </a:lnSpc>
              <a:buClrTx/>
              <a:buSzTx/>
              <a:buFontTx/>
            </a:pPr>
            <a:r>
              <a:rPr lang="zh-CN" altLang="en-US" sz="2200">
                <a:solidFill>
                  <a:schemeClr val="tx1"/>
                </a:solidFill>
                <a:latin typeface="微软雅黑" panose="020B0503020204020204" charset="-122"/>
                <a:ea typeface="微软雅黑" panose="020B0503020204020204" charset="-122"/>
                <a:sym typeface="+mn-ea"/>
              </a:rPr>
              <a:t>出现现象：东北地区自北向南依次产生降水，同时出现北部气温高于南部气温的反常现象。</a:t>
            </a:r>
            <a:endParaRPr lang="zh-CN" altLang="en-US" sz="2200">
              <a:solidFill>
                <a:schemeClr val="tx1"/>
              </a:solidFill>
              <a:latin typeface="微软雅黑" panose="020B0503020204020204" charset="-122"/>
              <a:ea typeface="微软雅黑" panose="020B0503020204020204" charset="-122"/>
              <a:sym typeface="+mn-ea"/>
            </a:endParaRPr>
          </a:p>
        </p:txBody>
      </p:sp>
      <p:sp>
        <p:nvSpPr>
          <p:cNvPr id="13" name="文本框 12"/>
          <p:cNvSpPr txBox="1"/>
          <p:nvPr>
            <p:custDataLst>
              <p:tags r:id="rId10"/>
            </p:custDataLst>
          </p:nvPr>
        </p:nvSpPr>
        <p:spPr>
          <a:xfrm>
            <a:off x="2632710" y="4917440"/>
            <a:ext cx="9430385" cy="476250"/>
          </a:xfrm>
          <a:prstGeom prst="rect">
            <a:avLst/>
          </a:prstGeom>
          <a:solidFill>
            <a:schemeClr val="accent2">
              <a:lumMod val="40000"/>
              <a:lumOff val="60000"/>
            </a:schemeClr>
          </a:solidFill>
        </p:spPr>
        <p:txBody>
          <a:bodyPr wrap="square" lIns="91440" rIns="91440" rtlCol="0" anchor="t">
            <a:noAutofit/>
          </a:bodyPr>
          <a:lstStyle/>
          <a:p>
            <a:pPr>
              <a:lnSpc>
                <a:spcPct val="110000"/>
              </a:lnSpc>
              <a:buClrTx/>
              <a:buSzTx/>
              <a:buFontTx/>
            </a:pPr>
            <a:r>
              <a:rPr lang="zh-CN" altLang="en-US" sz="2200">
                <a:solidFill>
                  <a:schemeClr val="tx1"/>
                </a:solidFill>
                <a:latin typeface="微软雅黑" panose="020B0503020204020204" charset="-122"/>
                <a:ea typeface="微软雅黑" panose="020B0503020204020204" charset="-122"/>
                <a:sym typeface="+mn-ea"/>
              </a:rPr>
              <a:t>寒潮过境东北</a:t>
            </a:r>
            <a:endParaRPr lang="zh-CN" altLang="en-US" sz="2200">
              <a:solidFill>
                <a:schemeClr val="tx1"/>
              </a:solidFill>
              <a:latin typeface="微软雅黑" panose="020B0503020204020204" charset="-122"/>
              <a:ea typeface="微软雅黑" panose="020B0503020204020204" charset="-122"/>
              <a:sym typeface="+mn-ea"/>
            </a:endParaRPr>
          </a:p>
        </p:txBody>
      </p:sp>
      <p:cxnSp>
        <p:nvCxnSpPr>
          <p:cNvPr id="14" name="肘形连接符 13"/>
          <p:cNvCxnSpPr>
            <a:stCxn id="13" idx="1"/>
            <a:endCxn id="7" idx="3"/>
          </p:cNvCxnSpPr>
          <p:nvPr>
            <p:custDataLst>
              <p:tags r:id="rId11"/>
            </p:custDataLst>
          </p:nvPr>
        </p:nvCxnSpPr>
        <p:spPr>
          <a:xfrm rot="10800000" flipV="1">
            <a:off x="2213610" y="5155565"/>
            <a:ext cx="419100" cy="625475"/>
          </a:xfrm>
          <a:prstGeom prst="bentConnector3">
            <a:avLst>
              <a:gd name="adj1" fmla="val 50000"/>
            </a:avLst>
          </a:prstGeom>
        </p:spPr>
        <p:style>
          <a:lnRef idx="2">
            <a:schemeClr val="accent1"/>
          </a:lnRef>
          <a:fillRef idx="0">
            <a:srgbClr val="FFFFFF"/>
          </a:fillRef>
          <a:effectRef idx="0">
            <a:srgbClr val="FFFFFF"/>
          </a:effectRef>
          <a:fontRef idx="minor">
            <a:schemeClr val="tx1"/>
          </a:fontRef>
        </p:style>
      </p:cxnSp>
      <p:cxnSp>
        <p:nvCxnSpPr>
          <p:cNvPr id="17" name="肘形连接符 16"/>
          <p:cNvCxnSpPr>
            <a:stCxn id="12" idx="1"/>
            <a:endCxn id="4" idx="3"/>
          </p:cNvCxnSpPr>
          <p:nvPr>
            <p:custDataLst>
              <p:tags r:id="rId12"/>
            </p:custDataLst>
          </p:nvPr>
        </p:nvCxnSpPr>
        <p:spPr>
          <a:xfrm rot="10800000" flipV="1">
            <a:off x="812165" y="2872740"/>
            <a:ext cx="581660" cy="1205230"/>
          </a:xfrm>
          <a:prstGeom prst="bentConnector3">
            <a:avLst>
              <a:gd name="adj1" fmla="val 50000"/>
            </a:avLst>
          </a:prstGeom>
        </p:spPr>
        <p:style>
          <a:lnRef idx="2">
            <a:schemeClr val="accent1"/>
          </a:lnRef>
          <a:fillRef idx="0">
            <a:srgbClr val="FFFFFF"/>
          </a:fillRef>
          <a:effectRef idx="0">
            <a:srgbClr val="FFFFFF"/>
          </a:effectRef>
          <a:fontRef idx="minor">
            <a:schemeClr val="tx1"/>
          </a:fontRef>
        </p:style>
      </p:cxnSp>
      <p:sp>
        <p:nvSpPr>
          <p:cNvPr id="6" name="文本框 5"/>
          <p:cNvSpPr txBox="1"/>
          <p:nvPr>
            <p:custDataLst>
              <p:tags r:id="rId13"/>
            </p:custDataLst>
          </p:nvPr>
        </p:nvSpPr>
        <p:spPr>
          <a:xfrm>
            <a:off x="2632710" y="5498465"/>
            <a:ext cx="9430385" cy="476250"/>
          </a:xfrm>
          <a:prstGeom prst="rect">
            <a:avLst/>
          </a:prstGeom>
          <a:solidFill>
            <a:schemeClr val="accent2">
              <a:lumMod val="40000"/>
              <a:lumOff val="60000"/>
            </a:schemeClr>
          </a:solidFill>
        </p:spPr>
        <p:txBody>
          <a:bodyPr wrap="square" lIns="91440" rIns="91440" rtlCol="0" anchor="t">
            <a:noAutofit/>
          </a:bodyPr>
          <a:lstStyle/>
          <a:p>
            <a:pPr>
              <a:lnSpc>
                <a:spcPct val="110000"/>
              </a:lnSpc>
              <a:buClrTx/>
              <a:buSzTx/>
              <a:buFontTx/>
            </a:pPr>
            <a:r>
              <a:rPr lang="zh-CN" altLang="en-US" sz="2200">
                <a:solidFill>
                  <a:schemeClr val="tx1"/>
                </a:solidFill>
                <a:latin typeface="微软雅黑" panose="020B0503020204020204" charset="-122"/>
                <a:ea typeface="微软雅黑" panose="020B0503020204020204" charset="-122"/>
                <a:sym typeface="+mn-ea"/>
              </a:rPr>
              <a:t>千岛群岛附近出现低压中心，形成从鄂霍茨克海向我国东北的水汽输送条件</a:t>
            </a:r>
            <a:endParaRPr lang="zh-CN" altLang="en-US" sz="2200">
              <a:solidFill>
                <a:schemeClr val="tx1"/>
              </a:solidFill>
              <a:latin typeface="微软雅黑" panose="020B0503020204020204" charset="-122"/>
              <a:ea typeface="微软雅黑" panose="020B0503020204020204" charset="-122"/>
              <a:sym typeface="+mn-ea"/>
            </a:endParaRPr>
          </a:p>
        </p:txBody>
      </p:sp>
      <p:sp>
        <p:nvSpPr>
          <p:cNvPr id="10" name="文本框 9"/>
          <p:cNvSpPr txBox="1"/>
          <p:nvPr>
            <p:custDataLst>
              <p:tags r:id="rId14"/>
            </p:custDataLst>
          </p:nvPr>
        </p:nvSpPr>
        <p:spPr>
          <a:xfrm>
            <a:off x="1393825" y="1930400"/>
            <a:ext cx="10664825" cy="448310"/>
          </a:xfrm>
          <a:prstGeom prst="rect">
            <a:avLst/>
          </a:prstGeom>
          <a:solidFill>
            <a:schemeClr val="accent2">
              <a:lumMod val="40000"/>
              <a:lumOff val="60000"/>
            </a:schemeClr>
          </a:solidFill>
        </p:spPr>
        <p:txBody>
          <a:bodyPr wrap="square" lIns="91440" rIns="91440" rtlCol="0" anchor="t">
            <a:noAutofit/>
          </a:bodyPr>
          <a:lstStyle/>
          <a:p>
            <a:pPr>
              <a:lnSpc>
                <a:spcPct val="110000"/>
              </a:lnSpc>
              <a:buClrTx/>
              <a:buSzTx/>
              <a:buFontTx/>
            </a:pPr>
            <a:r>
              <a:rPr lang="zh-CN" altLang="en-US" sz="2200">
                <a:solidFill>
                  <a:schemeClr val="tx1"/>
                </a:solidFill>
                <a:latin typeface="微软雅黑" panose="020B0503020204020204" charset="-122"/>
                <a:ea typeface="微软雅黑" panose="020B0503020204020204" charset="-122"/>
                <a:sym typeface="+mn-ea"/>
              </a:rPr>
              <a:t>发生地区：主要出现在东北地区，一般出现在寒潮过境之后的两三天之内</a:t>
            </a:r>
            <a:endParaRPr lang="zh-CN" altLang="en-US" sz="2200">
              <a:solidFill>
                <a:schemeClr val="tx1"/>
              </a:solidFill>
              <a:latin typeface="微软雅黑" panose="020B0503020204020204" charset="-122"/>
              <a:ea typeface="微软雅黑" panose="020B0503020204020204" charset="-122"/>
              <a:sym typeface="+mn-ea"/>
            </a:endParaRPr>
          </a:p>
        </p:txBody>
      </p:sp>
      <p:sp>
        <p:nvSpPr>
          <p:cNvPr id="9" name="文本框 8"/>
          <p:cNvSpPr txBox="1"/>
          <p:nvPr>
            <p:custDataLst>
              <p:tags r:id="rId15"/>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8" name="文本框 17"/>
          <p:cNvSpPr txBox="1"/>
          <p:nvPr>
            <p:custDataLst>
              <p:tags r:id="rId16"/>
            </p:custDataLst>
          </p:nvPr>
        </p:nvSpPr>
        <p:spPr>
          <a:xfrm>
            <a:off x="10158095" y="392430"/>
            <a:ext cx="1899920"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02</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 倒暖锋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17"/>
    </p:custData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2"/>
          <a:stretch>
            <a:fillRect/>
          </a:stretch>
        </p:blipFill>
        <p:spPr>
          <a:xfrm>
            <a:off x="7810500" y="756920"/>
            <a:ext cx="4381500" cy="2849245"/>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7809865" y="3606800"/>
            <a:ext cx="4382135" cy="2949575"/>
          </a:xfrm>
          <a:prstGeom prst="rect">
            <a:avLst/>
          </a:prstGeom>
        </p:spPr>
      </p:pic>
      <p:pic>
        <p:nvPicPr>
          <p:cNvPr id="9" name="图片 8"/>
          <p:cNvPicPr>
            <a:picLocks noChangeAspect="1"/>
          </p:cNvPicPr>
          <p:nvPr>
            <p:custDataLst>
              <p:tags r:id="rId5"/>
            </p:custDataLst>
          </p:nvPr>
        </p:nvPicPr>
        <p:blipFill>
          <a:blip r:embed="rId6"/>
          <a:stretch>
            <a:fillRect/>
          </a:stretch>
        </p:blipFill>
        <p:spPr>
          <a:xfrm>
            <a:off x="7809865" y="2302510"/>
            <a:ext cx="4382135" cy="3337560"/>
          </a:xfrm>
          <a:prstGeom prst="rect">
            <a:avLst/>
          </a:prstGeom>
        </p:spPr>
      </p:pic>
      <p:sp>
        <p:nvSpPr>
          <p:cNvPr id="10" name="文本框 9"/>
          <p:cNvSpPr txBox="1"/>
          <p:nvPr>
            <p:custDataLst>
              <p:tags r:id="rId7"/>
            </p:custDataLst>
          </p:nvPr>
        </p:nvSpPr>
        <p:spPr>
          <a:xfrm>
            <a:off x="177165" y="961390"/>
            <a:ext cx="7523480" cy="5594985"/>
          </a:xfrm>
          <a:prstGeom prst="rect">
            <a:avLst/>
          </a:prstGeom>
          <a:solidFill>
            <a:schemeClr val="accent3">
              <a:lumMod val="20000"/>
              <a:lumOff val="80000"/>
            </a:schemeClr>
          </a:solidFill>
          <a:ln>
            <a:solidFill>
              <a:schemeClr val="tx1"/>
            </a:solidFill>
            <a:prstDash val="dash"/>
          </a:ln>
        </p:spPr>
        <p:txBody>
          <a:bodyPr wrap="square" rtlCol="0" anchor="t">
            <a:noAutofit/>
          </a:bodyPr>
          <a:lstStyle/>
          <a:p>
            <a:pPr>
              <a:lnSpc>
                <a:spcPct val="100000"/>
              </a:lnSpc>
            </a:pPr>
            <a:r>
              <a:rPr lang="zh-CN" altLang="en-US" sz="2000" b="1">
                <a:solidFill>
                  <a:srgbClr val="0026E5"/>
                </a:solidFill>
                <a:latin typeface="微软雅黑" panose="020B0503020204020204" charset="-122"/>
                <a:ea typeface="微软雅黑" panose="020B0503020204020204" charset="-122"/>
                <a:cs typeface="微软雅黑" panose="020B0503020204020204" charset="-122"/>
              </a:rPr>
              <a:t>东北倒暖锋的形成</a:t>
            </a:r>
            <a:endParaRPr lang="zh-CN" altLang="en-US" sz="2000" b="1">
              <a:solidFill>
                <a:srgbClr val="0026E5"/>
              </a:solidFill>
              <a:latin typeface="微软雅黑" panose="020B0503020204020204" charset="-122"/>
              <a:ea typeface="微软雅黑" panose="020B0503020204020204" charset="-122"/>
              <a:cs typeface="微软雅黑" panose="020B0503020204020204" charset="-122"/>
            </a:endParaRPr>
          </a:p>
          <a:p>
            <a:pPr>
              <a:lnSpc>
                <a:spcPct val="100000"/>
              </a:lnSpc>
            </a:pP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冬季在陆地上的蒙古西伯利亚高压发力，会驱动强冷空气入侵并控制我国东北，如果24小时内，连续降温10℃以上且当天最低温在5℃以下，就会形成寒潮。</a:t>
            </a:r>
            <a:endParaRPr lang="zh-CN" altLang="en-US" sz="2000">
              <a:latin typeface="微软雅黑" panose="020B0503020204020204" charset="-122"/>
              <a:ea typeface="微软雅黑" panose="020B0503020204020204" charset="-122"/>
              <a:cs typeface="微软雅黑" panose="020B0503020204020204" charset="-122"/>
            </a:endParaRPr>
          </a:p>
          <a:p>
            <a:pPr>
              <a:lnSpc>
                <a:spcPct val="100000"/>
              </a:lnSpc>
            </a:pP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而此时，如果千岛群岛附近的海域气温较高，出现了强大的低压中心（注意哦，这个低压中心是在海上的），在海陆热力性质差异的影响下，相对冬季的陆地来说，海洋的气温较高，它是一个“暖中心”。</a:t>
            </a:r>
            <a:endParaRPr lang="zh-CN" altLang="en-US" sz="2000">
              <a:latin typeface="微软雅黑" panose="020B0503020204020204" charset="-122"/>
              <a:ea typeface="微软雅黑" panose="020B0503020204020204" charset="-122"/>
              <a:cs typeface="微软雅黑" panose="020B0503020204020204" charset="-122"/>
            </a:endParaRPr>
          </a:p>
          <a:p>
            <a:pPr>
              <a:lnSpc>
                <a:spcPct val="100000"/>
              </a:lnSpc>
            </a:pP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北半球的低压系统在水平方向上是逆时针旋转，在鄂霍茨克海和我国东北之间，形成东北风（如图中红色箭头），这股从海而来（相对暖湿）的气流进入我国东北，与盘踞在此的冷空气相遇，形成锋面，暖气团主动推着锋面向南移动，这就是倒暖锋。</a:t>
            </a:r>
            <a:endParaRPr lang="zh-CN" altLang="en-US" sz="2000">
              <a:latin typeface="微软雅黑" panose="020B0503020204020204" charset="-122"/>
              <a:ea typeface="微软雅黑" panose="020B0503020204020204" charset="-122"/>
              <a:cs typeface="微软雅黑" panose="020B0503020204020204" charset="-122"/>
            </a:endParaRPr>
          </a:p>
          <a:p>
            <a:pPr>
              <a:lnSpc>
                <a:spcPct val="100000"/>
              </a:lnSpc>
            </a:pP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倒暖锋一般发生在寒潮之后的2-3天，本质就是鄂霍次克海的海洋暖气团取代了东北的大陆冷气团。</a:t>
            </a:r>
            <a:endParaRPr lang="zh-CN" altLang="en-US" sz="2000">
              <a:latin typeface="微软雅黑" panose="020B0503020204020204" charset="-122"/>
              <a:ea typeface="微软雅黑" panose="020B0503020204020204" charset="-122"/>
              <a:cs typeface="微软雅黑" panose="020B0503020204020204" charset="-122"/>
            </a:endParaRPr>
          </a:p>
          <a:p>
            <a:pPr>
              <a:lnSpc>
                <a:spcPct val="100000"/>
              </a:lnSpc>
            </a:pP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倒暖锋的出现，首先调节了东北地区的气温，使得寒潮过后的低温期缩短，加快东北地区升温。此外，倒暖锋携带海洋的暖湿气流，带来降水，使气候变得湿润。虽然倒暖锋一般只能持续2—3天，但却对东北地区的气候有着重要的影响。</a:t>
            </a:r>
            <a:endParaRPr lang="zh-CN" altLang="en-US" sz="2000">
              <a:latin typeface="微软雅黑" panose="020B0503020204020204" charset="-122"/>
              <a:ea typeface="微软雅黑" panose="020B0503020204020204" charset="-122"/>
              <a:cs typeface="微软雅黑" panose="020B0503020204020204" charset="-122"/>
            </a:endParaRPr>
          </a:p>
          <a:p>
            <a:pPr>
              <a:lnSpc>
                <a:spcPct val="110000"/>
              </a:lnSpc>
            </a:pP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custDataLst>
              <p:tags r:id="rId8"/>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custDataLst>
              <p:tags r:id="rId9"/>
            </p:custDataLst>
          </p:nvPr>
        </p:nvSpPr>
        <p:spPr>
          <a:xfrm>
            <a:off x="10170160" y="234315"/>
            <a:ext cx="187642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02</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 倒暖锋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文本框 103"/>
          <p:cNvSpPr txBox="1"/>
          <p:nvPr>
            <p:custDataLst>
              <p:tags r:id="rId1"/>
            </p:custDataLst>
          </p:nvPr>
        </p:nvSpPr>
        <p:spPr>
          <a:xfrm>
            <a:off x="481330" y="1026795"/>
            <a:ext cx="7678420" cy="460375"/>
          </a:xfrm>
          <a:prstGeom prst="rect">
            <a:avLst/>
          </a:prstGeom>
          <a:noFill/>
          <a:ln w="9525">
            <a:noFill/>
          </a:ln>
        </p:spPr>
        <p:txBody>
          <a:bodyPr wrap="square">
            <a:spAutoFit/>
          </a:bodyPr>
          <a:lstStyle/>
          <a:p>
            <a:pPr indent="0"/>
            <a:r>
              <a:rPr lang="en-US" altLang="zh-CN" sz="2400" b="0">
                <a:latin typeface="微软雅黑" panose="020B0503020204020204" charset="-122"/>
                <a:ea typeface="微软雅黑" panose="020B0503020204020204" charset="-122"/>
                <a:cs typeface="微软雅黑" panose="020B0503020204020204" charset="-122"/>
              </a:rPr>
              <a:t>5.</a:t>
            </a:r>
            <a:r>
              <a:rPr lang="en-US" altLang="zh-CN" sz="2400" b="0">
                <a:solidFill>
                  <a:srgbClr val="FF0000"/>
                </a:solidFill>
                <a:latin typeface="微软雅黑" panose="020B0503020204020204" charset="-122"/>
                <a:ea typeface="微软雅黑" panose="020B0503020204020204" charset="-122"/>
                <a:cs typeface="微软雅黑" panose="020B0503020204020204" charset="-122"/>
              </a:rPr>
              <a:t>（2020·山东卷）</a:t>
            </a:r>
            <a:r>
              <a:rPr lang="en-US" altLang="zh-CN" sz="2400" b="0">
                <a:latin typeface="微软雅黑" panose="020B0503020204020204" charset="-122"/>
                <a:ea typeface="微软雅黑" panose="020B0503020204020204" charset="-122"/>
                <a:cs typeface="微软雅黑" panose="020B0503020204020204" charset="-122"/>
              </a:rPr>
              <a:t>阅读图文资料，完成下列要求。</a:t>
            </a:r>
            <a:endParaRPr lang="en-US" altLang="zh-CN" sz="2400" b="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custDataLst>
              <p:tags r:id="rId2"/>
            </p:custDataLst>
          </p:nvPr>
        </p:nvSpPr>
        <p:spPr>
          <a:xfrm>
            <a:off x="209233" y="1487170"/>
            <a:ext cx="11773535" cy="1783715"/>
          </a:xfrm>
          <a:prstGeom prst="rect">
            <a:avLst/>
          </a:prstGeom>
          <a:noFill/>
          <a:ln w="9525">
            <a:noFill/>
          </a:ln>
        </p:spPr>
        <p:txBody>
          <a:bodyPr wrap="square">
            <a:spAutoFit/>
          </a:bodyPr>
          <a:lstStyle/>
          <a:p>
            <a:pPr indent="266700"/>
            <a:r>
              <a:rPr sz="2200" b="0" spc="200">
                <a:latin typeface="楷体" panose="02010609060101010101" charset="-122"/>
                <a:ea typeface="楷体" panose="02010609060101010101" charset="-122"/>
                <a:cs typeface="微软雅黑" panose="020B0503020204020204" charset="-122"/>
              </a:rPr>
              <a:t>露点是空气因冷却而达到饱和时的温度，其数值越大，反映空气中水汽含量越大。一般情况下，温度相同时湿空气要比干空气密度小。两个温度相近的干、湿气团相遇所形成的锋，称为干线。下图为北美洲部分地区某时刻主要气象要素分布形势示意图，来自极地、太平洋和墨西哥湾的三种性质不同的气团，在落基山以东平原地区交绥形成三个锋：冷锋、暖锋和干线。</a:t>
            </a:r>
            <a:endParaRPr sz="2200" b="0" spc="200">
              <a:latin typeface="楷体" panose="02010609060101010101" charset="-122"/>
              <a:ea typeface="楷体" panose="02010609060101010101" charset="-122"/>
              <a:cs typeface="微软雅黑" panose="020B0503020204020204" charset="-122"/>
            </a:endParaRPr>
          </a:p>
        </p:txBody>
      </p:sp>
      <p:pic>
        <p:nvPicPr>
          <p:cNvPr id="100059" name="图片 100059"/>
          <p:cNvPicPr>
            <a:picLocks noChangeAspect="1"/>
          </p:cNvPicPr>
          <p:nvPr>
            <p:custDataLst>
              <p:tags r:id="rId3"/>
            </p:custDataLst>
          </p:nvPr>
        </p:nvPicPr>
        <p:blipFill>
          <a:blip r:embed="rId4"/>
          <a:stretch>
            <a:fillRect/>
          </a:stretch>
        </p:blipFill>
        <p:spPr>
          <a:xfrm>
            <a:off x="6831965" y="2939415"/>
            <a:ext cx="5278120" cy="3619500"/>
          </a:xfrm>
          <a:prstGeom prst="rect">
            <a:avLst/>
          </a:prstGeom>
        </p:spPr>
      </p:pic>
      <p:sp>
        <p:nvSpPr>
          <p:cNvPr id="3" name="文本框 2"/>
          <p:cNvSpPr txBox="1"/>
          <p:nvPr>
            <p:custDataLst>
              <p:tags r:id="rId5"/>
            </p:custDataLst>
          </p:nvPr>
        </p:nvSpPr>
        <p:spPr>
          <a:xfrm>
            <a:off x="0" y="3270885"/>
            <a:ext cx="6175375" cy="460375"/>
          </a:xfrm>
          <a:prstGeom prst="rect">
            <a:avLst/>
          </a:prstGeom>
          <a:noFill/>
          <a:ln w="9525">
            <a:noFill/>
          </a:ln>
        </p:spPr>
        <p:txBody>
          <a:bodyPr wrap="square">
            <a:spAutoFit/>
          </a:bodyPr>
          <a:lstStyle/>
          <a:p>
            <a:pPr indent="0"/>
            <a:r>
              <a:rPr lang="en-US" altLang="zh-CN" sz="2400" b="0">
                <a:latin typeface="微软雅黑" panose="020B0503020204020204" charset="-122"/>
                <a:ea typeface="微软雅黑" panose="020B0503020204020204" charset="-122"/>
                <a:cs typeface="微软雅黑" panose="020B0503020204020204" charset="-122"/>
              </a:rPr>
              <a:t>（1）分析图中干线附近产生降水的原因。</a:t>
            </a:r>
            <a:endParaRPr lang="en-US" altLang="zh-CN" sz="2400" b="0">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6"/>
            </p:custDataLst>
          </p:nvPr>
        </p:nvSpPr>
        <p:spPr>
          <a:xfrm>
            <a:off x="221615" y="3731260"/>
            <a:ext cx="6621780" cy="777240"/>
          </a:xfrm>
          <a:prstGeom prst="rect">
            <a:avLst/>
          </a:prstGeom>
          <a:solidFill>
            <a:schemeClr val="bg1"/>
          </a:solidFill>
          <a:ln>
            <a:solidFill>
              <a:srgbClr val="0070C0"/>
            </a:solidFill>
            <a:prstDash val="dash"/>
          </a:ln>
        </p:spPr>
        <p:txBody>
          <a:bodyPr wrap="square" rtlCol="0" anchor="t">
            <a:noAutofit/>
          </a:bodyPr>
          <a:lstStyle/>
          <a:p>
            <a:pPr lvl="0" algn="l">
              <a:lnSpc>
                <a:spcPct val="100000"/>
              </a:lnSpc>
              <a:buClrTx/>
              <a:buSzTx/>
              <a:buFontTx/>
            </a:pPr>
            <a:r>
              <a:rPr lang="zh-CN" altLang="en-US" sz="2200">
                <a:solidFill>
                  <a:srgbClr val="FF0000"/>
                </a:solidFill>
                <a:latin typeface="微软雅黑" panose="020B0503020204020204" charset="-122"/>
                <a:ea typeface="微软雅黑" panose="020B0503020204020204" charset="-122"/>
                <a:sym typeface="+mn-ea"/>
              </a:rPr>
              <a:t>【解析】依据干线的概念：两个温度相近的干、湿气团相遇所形成的锋，称为干线。</a:t>
            </a:r>
            <a:endParaRPr lang="zh-CN" altLang="en-US" sz="2200">
              <a:solidFill>
                <a:srgbClr val="FF0000"/>
              </a:solidFill>
              <a:latin typeface="微软雅黑" panose="020B0503020204020204" charset="-122"/>
              <a:ea typeface="微软雅黑" panose="020B0503020204020204" charset="-122"/>
              <a:sym typeface="+mn-ea"/>
            </a:endParaRPr>
          </a:p>
        </p:txBody>
      </p:sp>
      <p:grpSp>
        <p:nvGrpSpPr>
          <p:cNvPr id="17" name="组合 16"/>
          <p:cNvGrpSpPr/>
          <p:nvPr>
            <p:custDataLst>
              <p:tags r:id="rId7"/>
            </p:custDataLst>
          </p:nvPr>
        </p:nvGrpSpPr>
        <p:grpSpPr>
          <a:xfrm>
            <a:off x="7809865" y="4149090"/>
            <a:ext cx="2693670" cy="1578610"/>
            <a:chOff x="12299" y="6534"/>
            <a:chExt cx="4242" cy="2486"/>
          </a:xfrm>
        </p:grpSpPr>
        <p:cxnSp>
          <p:nvCxnSpPr>
            <p:cNvPr id="5" name="直接箭头连接符 4"/>
            <p:cNvCxnSpPr/>
            <p:nvPr>
              <p:custDataLst>
                <p:tags r:id="rId8"/>
              </p:custDataLst>
            </p:nvPr>
          </p:nvCxnSpPr>
          <p:spPr>
            <a:xfrm flipV="1">
              <a:off x="13135" y="7199"/>
              <a:ext cx="622" cy="193"/>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6" name="直接箭头连接符 5"/>
            <p:cNvCxnSpPr/>
            <p:nvPr>
              <p:custDataLst>
                <p:tags r:id="rId9"/>
              </p:custDataLst>
            </p:nvPr>
          </p:nvCxnSpPr>
          <p:spPr>
            <a:xfrm flipV="1">
              <a:off x="12299" y="7992"/>
              <a:ext cx="579" cy="42"/>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7" name="直接箭头连接符 6"/>
            <p:cNvCxnSpPr/>
            <p:nvPr>
              <p:custDataLst>
                <p:tags r:id="rId10"/>
              </p:custDataLst>
            </p:nvPr>
          </p:nvCxnSpPr>
          <p:spPr>
            <a:xfrm flipV="1">
              <a:off x="13071" y="7992"/>
              <a:ext cx="600" cy="192"/>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custDataLst>
                <p:tags r:id="rId11"/>
              </p:custDataLst>
            </p:nvPr>
          </p:nvCxnSpPr>
          <p:spPr>
            <a:xfrm flipV="1">
              <a:off x="12557" y="8484"/>
              <a:ext cx="685" cy="172"/>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custDataLst>
                <p:tags r:id="rId12"/>
              </p:custDataLst>
            </p:nvPr>
          </p:nvCxnSpPr>
          <p:spPr>
            <a:xfrm flipV="1">
              <a:off x="14999" y="6556"/>
              <a:ext cx="193" cy="493"/>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p:nvPr>
              <p:custDataLst>
                <p:tags r:id="rId13"/>
              </p:custDataLst>
            </p:nvPr>
          </p:nvCxnSpPr>
          <p:spPr>
            <a:xfrm flipV="1">
              <a:off x="15770" y="6534"/>
              <a:ext cx="150" cy="600"/>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p:nvPr>
              <p:custDataLst>
                <p:tags r:id="rId14"/>
              </p:custDataLst>
            </p:nvPr>
          </p:nvCxnSpPr>
          <p:spPr>
            <a:xfrm flipV="1">
              <a:off x="13971" y="8420"/>
              <a:ext cx="364" cy="600"/>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p:nvPr>
              <p:custDataLst>
                <p:tags r:id="rId15"/>
              </p:custDataLst>
            </p:nvPr>
          </p:nvCxnSpPr>
          <p:spPr>
            <a:xfrm flipV="1">
              <a:off x="14357" y="7649"/>
              <a:ext cx="257" cy="535"/>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custDataLst>
                <p:tags r:id="rId16"/>
              </p:custDataLst>
            </p:nvPr>
          </p:nvCxnSpPr>
          <p:spPr>
            <a:xfrm flipV="1">
              <a:off x="16307" y="8142"/>
              <a:ext cx="235" cy="578"/>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5" name="直接箭头连接符 14"/>
            <p:cNvCxnSpPr/>
            <p:nvPr>
              <p:custDataLst>
                <p:tags r:id="rId17"/>
              </p:custDataLst>
            </p:nvPr>
          </p:nvCxnSpPr>
          <p:spPr>
            <a:xfrm flipV="1">
              <a:off x="15364" y="7177"/>
              <a:ext cx="107" cy="622"/>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6" name="直接箭头连接符 15"/>
            <p:cNvCxnSpPr/>
            <p:nvPr>
              <p:custDataLst>
                <p:tags r:id="rId18"/>
              </p:custDataLst>
            </p:nvPr>
          </p:nvCxnSpPr>
          <p:spPr>
            <a:xfrm flipV="1">
              <a:off x="16157" y="7134"/>
              <a:ext cx="171" cy="600"/>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grpSp>
      <p:sp>
        <p:nvSpPr>
          <p:cNvPr id="18" name="文本框 17"/>
          <p:cNvSpPr txBox="1"/>
          <p:nvPr>
            <p:custDataLst>
              <p:tags r:id="rId19"/>
            </p:custDataLst>
          </p:nvPr>
        </p:nvSpPr>
        <p:spPr>
          <a:xfrm>
            <a:off x="236855" y="4601210"/>
            <a:ext cx="6633845" cy="1079500"/>
          </a:xfrm>
          <a:prstGeom prst="rect">
            <a:avLst/>
          </a:prstGeom>
          <a:solidFill>
            <a:schemeClr val="bg1"/>
          </a:solidFill>
          <a:ln>
            <a:solidFill>
              <a:srgbClr val="0070C0"/>
            </a:solidFill>
            <a:prstDash val="dash"/>
          </a:ln>
        </p:spPr>
        <p:txBody>
          <a:bodyPr wrap="square" rtlCol="0" anchor="t">
            <a:noAutofit/>
          </a:bodyPr>
          <a:lstStyle/>
          <a:p>
            <a:pPr lvl="0" algn="l">
              <a:buClrTx/>
              <a:buSzTx/>
              <a:buFontTx/>
            </a:pPr>
            <a:r>
              <a:rPr lang="zh-CN" altLang="en-US" sz="2200">
                <a:solidFill>
                  <a:srgbClr val="FF0000"/>
                </a:solidFill>
                <a:latin typeface="微软雅黑" panose="020B0503020204020204" charset="-122"/>
                <a:ea typeface="微软雅黑" panose="020B0503020204020204" charset="-122"/>
                <a:sym typeface="+mn-ea"/>
              </a:rPr>
              <a:t>读图：可看出，干线大致南北延伸，东西两侧气团的温度接近；东侧气流来自海洋，湿度较大，西侧气流来自内陆，湿度较小；</a:t>
            </a:r>
            <a:endParaRPr lang="zh-CN" altLang="en-US" sz="2200">
              <a:solidFill>
                <a:srgbClr val="FF0000"/>
              </a:solidFill>
              <a:latin typeface="微软雅黑" panose="020B0503020204020204" charset="-122"/>
              <a:ea typeface="微软雅黑" panose="020B0503020204020204" charset="-122"/>
              <a:sym typeface="+mn-ea"/>
            </a:endParaRPr>
          </a:p>
        </p:txBody>
      </p:sp>
      <p:sp>
        <p:nvSpPr>
          <p:cNvPr id="19" name="文本框 18"/>
          <p:cNvSpPr txBox="1"/>
          <p:nvPr>
            <p:custDataLst>
              <p:tags r:id="rId20"/>
            </p:custDataLst>
          </p:nvPr>
        </p:nvSpPr>
        <p:spPr>
          <a:xfrm>
            <a:off x="236855" y="5732780"/>
            <a:ext cx="6621780" cy="1106805"/>
          </a:xfrm>
          <a:prstGeom prst="rect">
            <a:avLst/>
          </a:prstGeom>
          <a:solidFill>
            <a:schemeClr val="bg1"/>
          </a:solidFill>
          <a:ln>
            <a:solidFill>
              <a:srgbClr val="0070C0"/>
            </a:solidFill>
            <a:prstDash val="dash"/>
          </a:ln>
        </p:spPr>
        <p:txBody>
          <a:bodyPr wrap="square" rtlCol="0" anchor="t">
            <a:noAutofit/>
          </a:bodyPr>
          <a:lstStyle/>
          <a:p>
            <a:pPr lvl="0" algn="l">
              <a:buClrTx/>
              <a:buSzTx/>
              <a:buFontTx/>
            </a:pPr>
            <a:r>
              <a:rPr lang="zh-CN" altLang="en-US" sz="2200">
                <a:solidFill>
                  <a:srgbClr val="FF0000"/>
                </a:solidFill>
                <a:latin typeface="微软雅黑" panose="020B0503020204020204" charset="-122"/>
                <a:ea typeface="微软雅黑" panose="020B0503020204020204" charset="-122"/>
                <a:sym typeface="+mn-ea"/>
              </a:rPr>
              <a:t>西侧的干空气向东侧的湿空气移动，密度小的湿空气被迫抬升，抬升过程中，随高度增加，气温降低（达到露点后），形成降水。</a:t>
            </a:r>
            <a:endParaRPr lang="zh-CN" altLang="en-US" sz="2200">
              <a:solidFill>
                <a:srgbClr val="FF0000"/>
              </a:solidFill>
              <a:latin typeface="微软雅黑" panose="020B0503020204020204" charset="-122"/>
              <a:ea typeface="微软雅黑" panose="020B0503020204020204" charset="-122"/>
              <a:sym typeface="+mn-ea"/>
            </a:endParaRPr>
          </a:p>
        </p:txBody>
      </p:sp>
      <p:sp>
        <p:nvSpPr>
          <p:cNvPr id="20" name="文本框 19"/>
          <p:cNvSpPr txBox="1"/>
          <p:nvPr>
            <p:custDataLst>
              <p:tags r:id="rId21"/>
            </p:custDataLst>
          </p:nvPr>
        </p:nvSpPr>
        <p:spPr>
          <a:xfrm>
            <a:off x="223520" y="1487170"/>
            <a:ext cx="11744960" cy="1667510"/>
          </a:xfrm>
          <a:prstGeom prst="rect">
            <a:avLst/>
          </a:prstGeom>
          <a:solidFill>
            <a:schemeClr val="bg1"/>
          </a:solidFill>
          <a:ln>
            <a:solidFill>
              <a:srgbClr val="0070C0"/>
            </a:solidFill>
            <a:prstDash val="dash"/>
          </a:ln>
        </p:spPr>
        <p:txBody>
          <a:bodyPr wrap="square" rtlCol="0" anchor="t">
            <a:noAutofit/>
          </a:bodyPr>
          <a:lstStyle/>
          <a:p>
            <a:pPr lvl="0" algn="l">
              <a:lnSpc>
                <a:spcPct val="140000"/>
              </a:lnSpc>
              <a:buClrTx/>
              <a:buSzTx/>
              <a:buFontTx/>
            </a:pPr>
            <a:r>
              <a:rPr lang="zh-CN" altLang="en-US" sz="2400" b="1">
                <a:solidFill>
                  <a:srgbClr val="FF0000"/>
                </a:solidFill>
                <a:latin typeface="微软雅黑" panose="020B0503020204020204" charset="-122"/>
                <a:ea typeface="微软雅黑" panose="020B0503020204020204" charset="-122"/>
                <a:sym typeface="+mn-ea"/>
              </a:rPr>
              <a:t>【参考答案】干线东、西两侧温度相近的干、湿气团相遇，东侧的湿气团密度小，位于干气团之上，湿气团被迫抬升；抬升过程中，随高度增加，气温降低（达到露点后），形成降水。</a:t>
            </a:r>
            <a:endParaRPr lang="zh-CN" altLang="en-US" sz="2400" b="1">
              <a:solidFill>
                <a:srgbClr val="FF0000"/>
              </a:solidFill>
              <a:latin typeface="微软雅黑" panose="020B0503020204020204" charset="-122"/>
              <a:ea typeface="微软雅黑" panose="020B0503020204020204" charset="-122"/>
              <a:sym typeface="+mn-ea"/>
            </a:endParaRPr>
          </a:p>
        </p:txBody>
      </p:sp>
      <p:sp>
        <p:nvSpPr>
          <p:cNvPr id="22" name="文本框 21"/>
          <p:cNvSpPr txBox="1"/>
          <p:nvPr>
            <p:custDataLst>
              <p:tags r:id="rId22"/>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3" name="文本框 22"/>
          <p:cNvSpPr txBox="1"/>
          <p:nvPr>
            <p:custDataLst>
              <p:tags r:id="rId23"/>
            </p:custDataLst>
          </p:nvPr>
        </p:nvSpPr>
        <p:spPr>
          <a:xfrm>
            <a:off x="9846310" y="38862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03</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 露点锋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2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8" grpId="0" bldLvl="0" animBg="1"/>
      <p:bldP spid="19" grpId="0" bldLvl="0" animBg="1"/>
      <p:bldP spid="20"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文本框 103"/>
          <p:cNvSpPr txBox="1"/>
          <p:nvPr>
            <p:custDataLst>
              <p:tags r:id="rId1"/>
            </p:custDataLst>
          </p:nvPr>
        </p:nvSpPr>
        <p:spPr>
          <a:xfrm>
            <a:off x="481330" y="1026795"/>
            <a:ext cx="7678420" cy="460375"/>
          </a:xfrm>
          <a:prstGeom prst="rect">
            <a:avLst/>
          </a:prstGeom>
          <a:noFill/>
          <a:ln w="9525">
            <a:noFill/>
          </a:ln>
        </p:spPr>
        <p:txBody>
          <a:bodyPr wrap="square">
            <a:spAutoFit/>
          </a:bodyPr>
          <a:lstStyle/>
          <a:p>
            <a:pPr indent="0"/>
            <a:r>
              <a:rPr lang="en-US" altLang="zh-CN" sz="2400" b="0">
                <a:latin typeface="微软雅黑" panose="020B0503020204020204" charset="-122"/>
                <a:ea typeface="微软雅黑" panose="020B0503020204020204" charset="-122"/>
                <a:cs typeface="微软雅黑" panose="020B0503020204020204" charset="-122"/>
              </a:rPr>
              <a:t>5.</a:t>
            </a:r>
            <a:r>
              <a:rPr lang="en-US" altLang="zh-CN" sz="2400" b="0">
                <a:solidFill>
                  <a:srgbClr val="FF0000"/>
                </a:solidFill>
                <a:latin typeface="微软雅黑" panose="020B0503020204020204" charset="-122"/>
                <a:ea typeface="微软雅黑" panose="020B0503020204020204" charset="-122"/>
                <a:cs typeface="微软雅黑" panose="020B0503020204020204" charset="-122"/>
              </a:rPr>
              <a:t>（2020·山东卷）</a:t>
            </a:r>
            <a:r>
              <a:rPr lang="en-US" altLang="zh-CN" sz="2400" b="0">
                <a:latin typeface="微软雅黑" panose="020B0503020204020204" charset="-122"/>
                <a:ea typeface="微软雅黑" panose="020B0503020204020204" charset="-122"/>
                <a:cs typeface="微软雅黑" panose="020B0503020204020204" charset="-122"/>
              </a:rPr>
              <a:t>阅读图文资料，完成下列要求。</a:t>
            </a:r>
            <a:endParaRPr lang="en-US" altLang="zh-CN" sz="2400" b="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custDataLst>
              <p:tags r:id="rId2"/>
            </p:custDataLst>
          </p:nvPr>
        </p:nvSpPr>
        <p:spPr>
          <a:xfrm>
            <a:off x="209233" y="1487170"/>
            <a:ext cx="11773535" cy="1783715"/>
          </a:xfrm>
          <a:prstGeom prst="rect">
            <a:avLst/>
          </a:prstGeom>
          <a:noFill/>
          <a:ln w="9525">
            <a:noFill/>
          </a:ln>
        </p:spPr>
        <p:txBody>
          <a:bodyPr wrap="square">
            <a:spAutoFit/>
          </a:bodyPr>
          <a:lstStyle/>
          <a:p>
            <a:pPr indent="266700"/>
            <a:r>
              <a:rPr sz="2200" b="0" spc="200">
                <a:latin typeface="楷体" panose="02010609060101010101" charset="-122"/>
                <a:ea typeface="楷体" panose="02010609060101010101" charset="-122"/>
                <a:cs typeface="微软雅黑" panose="020B0503020204020204" charset="-122"/>
              </a:rPr>
              <a:t>露点是空气因冷却而达到饱和时的温度，其数值越大，反映空气中水汽含量越大。一般情况下，温度相同时湿空气要比干空气密度小。两个温度相近的干、湿气团相遇所形成的锋，称为干线。下图为北美洲部分地区某时刻主要气象要素分布形势示意图，来自极地、太平洋和墨西哥湾的三种性质不同的气团，在落基山以东平原地区交绥形成三个锋：冷锋、暖锋和干线。</a:t>
            </a:r>
            <a:endParaRPr sz="2200" b="0" spc="200">
              <a:latin typeface="楷体" panose="02010609060101010101" charset="-122"/>
              <a:ea typeface="楷体" panose="02010609060101010101" charset="-122"/>
              <a:cs typeface="微软雅黑" panose="020B0503020204020204" charset="-122"/>
            </a:endParaRPr>
          </a:p>
        </p:txBody>
      </p:sp>
      <p:pic>
        <p:nvPicPr>
          <p:cNvPr id="100059" name="图片 100059"/>
          <p:cNvPicPr>
            <a:picLocks noChangeAspect="1"/>
          </p:cNvPicPr>
          <p:nvPr>
            <p:custDataLst>
              <p:tags r:id="rId3"/>
            </p:custDataLst>
          </p:nvPr>
        </p:nvPicPr>
        <p:blipFill>
          <a:blip r:embed="rId4"/>
          <a:stretch>
            <a:fillRect/>
          </a:stretch>
        </p:blipFill>
        <p:spPr>
          <a:xfrm>
            <a:off x="6831965" y="2939415"/>
            <a:ext cx="5278120" cy="3619500"/>
          </a:xfrm>
          <a:prstGeom prst="rect">
            <a:avLst/>
          </a:prstGeom>
        </p:spPr>
      </p:pic>
      <p:sp>
        <p:nvSpPr>
          <p:cNvPr id="3" name="文本框 2"/>
          <p:cNvSpPr txBox="1"/>
          <p:nvPr>
            <p:custDataLst>
              <p:tags r:id="rId5"/>
            </p:custDataLst>
          </p:nvPr>
        </p:nvSpPr>
        <p:spPr>
          <a:xfrm>
            <a:off x="102870" y="3270885"/>
            <a:ext cx="6256020" cy="460375"/>
          </a:xfrm>
          <a:prstGeom prst="rect">
            <a:avLst/>
          </a:prstGeom>
          <a:noFill/>
          <a:ln w="9525">
            <a:noFill/>
          </a:ln>
        </p:spPr>
        <p:txBody>
          <a:bodyPr wrap="square">
            <a:spAutoFit/>
          </a:bodyPr>
          <a:lstStyle/>
          <a:p>
            <a:pPr indent="0"/>
            <a:r>
              <a:rPr lang="en-US" altLang="zh-CN" sz="2400" b="0">
                <a:latin typeface="微软雅黑" panose="020B0503020204020204" charset="-122"/>
                <a:ea typeface="微软雅黑" panose="020B0503020204020204" charset="-122"/>
                <a:cs typeface="微软雅黑" panose="020B0503020204020204" charset="-122"/>
              </a:rPr>
              <a:t>（2）说明图示区域地形对干线形成的影响。</a:t>
            </a:r>
            <a:endParaRPr lang="en-US" altLang="zh-CN" sz="2400" b="0">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6"/>
            </p:custDataLst>
          </p:nvPr>
        </p:nvSpPr>
        <p:spPr>
          <a:xfrm>
            <a:off x="209550" y="3833495"/>
            <a:ext cx="6149340" cy="2142490"/>
          </a:xfrm>
          <a:prstGeom prst="rect">
            <a:avLst/>
          </a:prstGeom>
          <a:solidFill>
            <a:schemeClr val="bg1"/>
          </a:solidFill>
          <a:ln>
            <a:solidFill>
              <a:srgbClr val="0070C0"/>
            </a:solidFill>
            <a:prstDash val="dash"/>
          </a:ln>
        </p:spPr>
        <p:txBody>
          <a:bodyPr wrap="square" rtlCol="0" anchor="t">
            <a:noAutofit/>
          </a:bodyPr>
          <a:lstStyle/>
          <a:p>
            <a:pPr lvl="0" algn="l">
              <a:buClrTx/>
              <a:buSzTx/>
              <a:buFontTx/>
            </a:pPr>
            <a:r>
              <a:rPr lang="zh-CN" altLang="en-US" sz="2200">
                <a:solidFill>
                  <a:srgbClr val="FF0000"/>
                </a:solidFill>
                <a:latin typeface="微软雅黑" panose="020B0503020204020204" charset="-122"/>
                <a:ea typeface="微软雅黑" panose="020B0503020204020204" charset="-122"/>
                <a:sym typeface="+mn-ea"/>
              </a:rPr>
              <a:t>该区域位于落基山以东平原地区，来自太平洋的气团，在山地西侧的迎风坡形成降水后，湿度减小，越过高大山地在背风坡下沉增温；面积广大的平原，地势平坦，下垫面性质均一，利于东侧墨西哥湾湿热气团的快速深入，气团性质变化小，温度相近的两个干湿气团交绥形成干线。</a:t>
            </a:r>
            <a:endParaRPr lang="zh-CN" altLang="en-US" sz="2200">
              <a:solidFill>
                <a:srgbClr val="FF0000"/>
              </a:solidFill>
              <a:latin typeface="微软雅黑" panose="020B0503020204020204" charset="-122"/>
              <a:ea typeface="微软雅黑" panose="020B0503020204020204" charset="-122"/>
              <a:sym typeface="+mn-ea"/>
            </a:endParaRPr>
          </a:p>
        </p:txBody>
      </p:sp>
      <p:sp>
        <p:nvSpPr>
          <p:cNvPr id="6" name="圆角矩形 5"/>
          <p:cNvSpPr/>
          <p:nvPr>
            <p:custDataLst>
              <p:tags r:id="rId7"/>
            </p:custDataLst>
          </p:nvPr>
        </p:nvSpPr>
        <p:spPr>
          <a:xfrm>
            <a:off x="6969760" y="2521585"/>
            <a:ext cx="3060065" cy="391795"/>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custDataLst>
              <p:tags r:id="rId8"/>
            </p:custDataLst>
          </p:nvPr>
        </p:nvSpPr>
        <p:spPr>
          <a:xfrm>
            <a:off x="6575425" y="3270885"/>
            <a:ext cx="5407660" cy="3035935"/>
          </a:xfrm>
          <a:prstGeom prst="rect">
            <a:avLst/>
          </a:prstGeom>
          <a:solidFill>
            <a:schemeClr val="bg1"/>
          </a:solidFill>
          <a:ln>
            <a:solidFill>
              <a:srgbClr val="0070C0"/>
            </a:solidFill>
            <a:prstDash val="dash"/>
          </a:ln>
        </p:spPr>
        <p:txBody>
          <a:bodyPr wrap="square" rtlCol="0" anchor="t">
            <a:noAutofit/>
          </a:bodyPr>
          <a:lstStyle/>
          <a:p>
            <a:pPr lvl="0" algn="l">
              <a:buClrTx/>
              <a:buSzTx/>
              <a:buFontTx/>
            </a:pPr>
            <a:r>
              <a:rPr lang="zh-CN" altLang="en-US" sz="2400" b="1">
                <a:solidFill>
                  <a:srgbClr val="FF0000"/>
                </a:solidFill>
                <a:latin typeface="微软雅黑" panose="020B0503020204020204" charset="-122"/>
                <a:ea typeface="微软雅黑" panose="020B0503020204020204" charset="-122"/>
                <a:sym typeface="+mn-ea"/>
              </a:rPr>
              <a:t>【参考答案】本区西部分布有南北向高大山地，来自太平洋的气团，在山地西侧的迎风坡降水后，湿度减小，越过高大山地在背风坡下沉增温；本区中部为面积广大的平原，地势平坦，下垫面性质均一，利于东侧墨西哥湾湿热气团的快速深入，气团性质变化小。（温度相近的两个干湿气团交绥形成干线。）</a:t>
            </a:r>
            <a:endParaRPr lang="zh-CN" altLang="en-US" sz="2400" b="1">
              <a:solidFill>
                <a:srgbClr val="FF0000"/>
              </a:solidFill>
              <a:latin typeface="微软雅黑" panose="020B0503020204020204" charset="-122"/>
              <a:ea typeface="微软雅黑" panose="020B0503020204020204" charset="-122"/>
              <a:sym typeface="+mn-ea"/>
            </a:endParaRPr>
          </a:p>
        </p:txBody>
      </p:sp>
      <p:sp>
        <p:nvSpPr>
          <p:cNvPr id="9" name="文本框 8"/>
          <p:cNvSpPr txBox="1"/>
          <p:nvPr>
            <p:custDataLst>
              <p:tags r:id="rId9"/>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custDataLst>
              <p:tags r:id="rId10"/>
            </p:custDataLst>
          </p:nvPr>
        </p:nvSpPr>
        <p:spPr>
          <a:xfrm>
            <a:off x="9705975" y="262890"/>
            <a:ext cx="213677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03</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 露点锋</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4" grpId="0" bldLvl="0" animBg="1"/>
      <p:bldP spid="5"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295910" y="3370580"/>
            <a:ext cx="516255" cy="1200785"/>
          </a:xfrm>
          <a:prstGeom prst="rect">
            <a:avLst/>
          </a:prstGeom>
          <a:solidFill>
            <a:schemeClr val="accent2">
              <a:lumMod val="40000"/>
              <a:lumOff val="60000"/>
            </a:schemeClr>
          </a:solidFill>
        </p:spPr>
        <p:txBody>
          <a:bodyPr wrap="square" lIns="91440" rIns="91440" rtlCol="0" anchor="t">
            <a:noAutofit/>
          </a:bodyPr>
          <a:lstStyle/>
          <a:p>
            <a:pPr algn="ctr">
              <a:buClrTx/>
              <a:buSzTx/>
              <a:buFontTx/>
            </a:pPr>
            <a:r>
              <a:rPr lang="zh-CN" altLang="en-US" sz="2400" b="1">
                <a:solidFill>
                  <a:schemeClr val="tx1"/>
                </a:solidFill>
                <a:latin typeface="微软雅黑" panose="020B0503020204020204" charset="-122"/>
                <a:ea typeface="微软雅黑" panose="020B0503020204020204" charset="-122"/>
                <a:sym typeface="+mn-ea"/>
              </a:rPr>
              <a:t>露点锋</a:t>
            </a:r>
            <a:endParaRPr lang="zh-CN" altLang="en-US" sz="2400" b="1">
              <a:solidFill>
                <a:schemeClr val="tx1"/>
              </a:solidFill>
              <a:latin typeface="微软雅黑" panose="020B0503020204020204" charset="-122"/>
              <a:ea typeface="微软雅黑" panose="020B0503020204020204" charset="-122"/>
              <a:sym typeface="+mn-ea"/>
            </a:endParaRPr>
          </a:p>
        </p:txBody>
      </p:sp>
      <p:sp>
        <p:nvSpPr>
          <p:cNvPr id="8" name="文本框 7"/>
          <p:cNvSpPr txBox="1"/>
          <p:nvPr>
            <p:custDataLst>
              <p:tags r:id="rId2"/>
            </p:custDataLst>
          </p:nvPr>
        </p:nvSpPr>
        <p:spPr>
          <a:xfrm>
            <a:off x="2075815" y="3486785"/>
            <a:ext cx="9982200" cy="683895"/>
          </a:xfrm>
          <a:prstGeom prst="rect">
            <a:avLst/>
          </a:prstGeom>
          <a:solidFill>
            <a:schemeClr val="accent2">
              <a:lumMod val="40000"/>
              <a:lumOff val="60000"/>
            </a:schemeClr>
          </a:solidFill>
        </p:spPr>
        <p:txBody>
          <a:bodyPr wrap="square" lIns="91440" rIns="91440" rtlCol="0" anchor="t">
            <a:noAutofit/>
          </a:bodyPr>
          <a:lstStyle/>
          <a:p>
            <a:pPr>
              <a:lnSpc>
                <a:spcPct val="110000"/>
              </a:lnSpc>
              <a:buClrTx/>
              <a:buSzTx/>
              <a:buFontTx/>
            </a:pPr>
            <a:r>
              <a:rPr lang="zh-CN" altLang="en-US">
                <a:solidFill>
                  <a:schemeClr val="tx1"/>
                </a:solidFill>
                <a:latin typeface="微软雅黑" panose="020B0503020204020204" charset="-122"/>
                <a:ea typeface="微软雅黑" panose="020B0503020204020204" charset="-122"/>
                <a:sym typeface="+mn-ea"/>
              </a:rPr>
              <a:t>概念：露点指空气水汽含量和气压一定时，空气中的水汽达到饱和而凝结成液态水所需降至的温度。在这个温度下，凝结成的水飘浮在空中称为雾，而沾在固体表面则称为露，得名露点。</a:t>
            </a:r>
            <a:endParaRPr lang="zh-CN" altLang="en-US">
              <a:solidFill>
                <a:schemeClr val="tx1"/>
              </a:solidFill>
              <a:latin typeface="微软雅黑" panose="020B0503020204020204" charset="-122"/>
              <a:ea typeface="微软雅黑" panose="020B0503020204020204" charset="-122"/>
              <a:sym typeface="+mn-ea"/>
            </a:endParaRPr>
          </a:p>
        </p:txBody>
      </p:sp>
      <p:cxnSp>
        <p:nvCxnSpPr>
          <p:cNvPr id="16" name="肘形连接符 15"/>
          <p:cNvCxnSpPr>
            <a:stCxn id="3" idx="1"/>
            <a:endCxn id="4" idx="3"/>
          </p:cNvCxnSpPr>
          <p:nvPr>
            <p:custDataLst>
              <p:tags r:id="rId3"/>
            </p:custDataLst>
          </p:nvPr>
        </p:nvCxnSpPr>
        <p:spPr>
          <a:xfrm rot="10800000">
            <a:off x="812165" y="3971290"/>
            <a:ext cx="581660" cy="1049020"/>
          </a:xfrm>
          <a:prstGeom prst="bentConnector3">
            <a:avLst>
              <a:gd name="adj1" fmla="val 50000"/>
            </a:avLst>
          </a:prstGeom>
        </p:spPr>
        <p:style>
          <a:lnRef idx="2">
            <a:schemeClr val="accent1"/>
          </a:lnRef>
          <a:fillRef idx="0">
            <a:srgbClr val="FFFFFF"/>
          </a:fillRef>
          <a:effectRef idx="0">
            <a:srgbClr val="FFFFFF"/>
          </a:effectRef>
          <a:fontRef idx="minor">
            <a:schemeClr val="tx1"/>
          </a:fontRef>
        </p:style>
      </p:cxnSp>
      <p:sp>
        <p:nvSpPr>
          <p:cNvPr id="28" name="文本框 27"/>
          <p:cNvSpPr txBox="1"/>
          <p:nvPr>
            <p:custDataLst>
              <p:tags r:id="rId4"/>
            </p:custDataLst>
          </p:nvPr>
        </p:nvSpPr>
        <p:spPr>
          <a:xfrm>
            <a:off x="1393190" y="3018790"/>
            <a:ext cx="10656570" cy="401955"/>
          </a:xfrm>
          <a:prstGeom prst="rect">
            <a:avLst/>
          </a:prstGeom>
          <a:solidFill>
            <a:schemeClr val="accent2">
              <a:lumMod val="40000"/>
              <a:lumOff val="60000"/>
            </a:schemeClr>
          </a:solidFill>
        </p:spPr>
        <p:txBody>
          <a:bodyPr wrap="square" lIns="91440" rIns="91440" rtlCol="0" anchor="t">
            <a:noAutofit/>
          </a:bodyPr>
          <a:lstStyle/>
          <a:p>
            <a:pPr lvl="0" algn="l">
              <a:lnSpc>
                <a:spcPct val="110000"/>
              </a:lnSpc>
              <a:buClrTx/>
              <a:buSzTx/>
              <a:buFontTx/>
            </a:pPr>
            <a:r>
              <a:rPr lang="zh-CN" altLang="en-US" sz="2000">
                <a:latin typeface="微软雅黑" panose="020B0503020204020204" charset="-122"/>
                <a:ea typeface="微软雅黑" panose="020B0503020204020204" charset="-122"/>
                <a:sym typeface="+mn-ea"/>
              </a:rPr>
              <a:t>露点锋的影响：常引起降水天气，乃至较大的风暴或龙卷天气。</a:t>
            </a:r>
            <a:endParaRPr lang="zh-CN" altLang="en-US" sz="2000">
              <a:latin typeface="微软雅黑" panose="020B0503020204020204" charset="-122"/>
              <a:ea typeface="微软雅黑" panose="020B0503020204020204" charset="-122"/>
              <a:sym typeface="+mn-ea"/>
            </a:endParaRPr>
          </a:p>
        </p:txBody>
      </p:sp>
      <p:sp>
        <p:nvSpPr>
          <p:cNvPr id="5" name="文本框 4"/>
          <p:cNvSpPr txBox="1"/>
          <p:nvPr>
            <p:custDataLst>
              <p:tags r:id="rId5"/>
            </p:custDataLst>
          </p:nvPr>
        </p:nvSpPr>
        <p:spPr>
          <a:xfrm>
            <a:off x="1393825" y="849630"/>
            <a:ext cx="10664825" cy="482600"/>
          </a:xfrm>
          <a:prstGeom prst="rect">
            <a:avLst/>
          </a:prstGeom>
          <a:solidFill>
            <a:schemeClr val="accent2">
              <a:lumMod val="40000"/>
              <a:lumOff val="60000"/>
            </a:schemeClr>
          </a:solidFill>
        </p:spPr>
        <p:txBody>
          <a:bodyPr wrap="square" lIns="91440" rIns="91440" rtlCol="0" anchor="t">
            <a:noAutofit/>
          </a:bodyPr>
          <a:lstStyle/>
          <a:p>
            <a:pPr lvl="0" algn="l">
              <a:lnSpc>
                <a:spcPct val="110000"/>
              </a:lnSpc>
              <a:buClrTx/>
              <a:buSzTx/>
              <a:buFontTx/>
            </a:pPr>
            <a:r>
              <a:rPr lang="zh-CN" altLang="en-US" sz="2000">
                <a:solidFill>
                  <a:schemeClr val="tx1"/>
                </a:solidFill>
                <a:latin typeface="微软雅黑" panose="020B0503020204020204" charset="-122"/>
                <a:ea typeface="微软雅黑" panose="020B0503020204020204" charset="-122"/>
                <a:sym typeface="+mn-ea"/>
              </a:rPr>
              <a:t>概念：露点锋又称</a:t>
            </a:r>
            <a:r>
              <a:rPr lang="zh-CN" altLang="en-US" sz="2000" b="1">
                <a:solidFill>
                  <a:schemeClr val="tx1"/>
                </a:solidFill>
                <a:latin typeface="微软雅黑" panose="020B0503020204020204" charset="-122"/>
                <a:ea typeface="微软雅黑" panose="020B0503020204020204" charset="-122"/>
                <a:sym typeface="+mn-ea"/>
              </a:rPr>
              <a:t>干线</a:t>
            </a:r>
            <a:r>
              <a:rPr lang="zh-CN" altLang="en-US" sz="2000">
                <a:solidFill>
                  <a:schemeClr val="tx1"/>
                </a:solidFill>
                <a:latin typeface="微软雅黑" panose="020B0503020204020204" charset="-122"/>
                <a:ea typeface="微软雅黑" panose="020B0503020204020204" charset="-122"/>
                <a:sym typeface="+mn-ea"/>
              </a:rPr>
              <a:t>，指干、湿气团相遇所形成的界面，也是水平方向上的湿度不连续线。</a:t>
            </a:r>
            <a:endParaRPr lang="zh-CN" altLang="en-US" sz="2000">
              <a:solidFill>
                <a:schemeClr val="tx1"/>
              </a:solidFill>
              <a:latin typeface="微软雅黑" panose="020B0503020204020204" charset="-122"/>
              <a:ea typeface="微软雅黑" panose="020B0503020204020204" charset="-122"/>
              <a:sym typeface="+mn-ea"/>
            </a:endParaRPr>
          </a:p>
        </p:txBody>
      </p:sp>
      <p:cxnSp>
        <p:nvCxnSpPr>
          <p:cNvPr id="15" name="肘形连接符 14"/>
          <p:cNvCxnSpPr>
            <a:stCxn id="5" idx="1"/>
            <a:endCxn id="4" idx="3"/>
          </p:cNvCxnSpPr>
          <p:nvPr>
            <p:custDataLst>
              <p:tags r:id="rId6"/>
            </p:custDataLst>
          </p:nvPr>
        </p:nvCxnSpPr>
        <p:spPr>
          <a:xfrm rot="10800000" flipV="1">
            <a:off x="812165" y="1090930"/>
            <a:ext cx="581660" cy="2880360"/>
          </a:xfrm>
          <a:prstGeom prst="bentConnector3">
            <a:avLst>
              <a:gd name="adj1" fmla="val 50000"/>
            </a:avLst>
          </a:prstGeom>
        </p:spPr>
        <p:style>
          <a:lnRef idx="2">
            <a:schemeClr val="accent1"/>
          </a:lnRef>
          <a:fillRef idx="0">
            <a:srgbClr val="FFFFFF"/>
          </a:fillRef>
          <a:effectRef idx="0">
            <a:srgbClr val="FFFFFF"/>
          </a:effectRef>
          <a:fontRef idx="minor">
            <a:schemeClr val="tx1"/>
          </a:fontRef>
        </p:style>
      </p:cxnSp>
      <p:sp>
        <p:nvSpPr>
          <p:cNvPr id="12" name="文本框 11"/>
          <p:cNvSpPr txBox="1"/>
          <p:nvPr>
            <p:custDataLst>
              <p:tags r:id="rId7"/>
            </p:custDataLst>
          </p:nvPr>
        </p:nvSpPr>
        <p:spPr>
          <a:xfrm>
            <a:off x="1393825" y="2177415"/>
            <a:ext cx="10664825" cy="761365"/>
          </a:xfrm>
          <a:prstGeom prst="rect">
            <a:avLst/>
          </a:prstGeom>
          <a:solidFill>
            <a:schemeClr val="accent2">
              <a:lumMod val="40000"/>
              <a:lumOff val="60000"/>
            </a:schemeClr>
          </a:solidFill>
        </p:spPr>
        <p:txBody>
          <a:bodyPr wrap="square" lIns="91440" rIns="91440" rtlCol="0" anchor="t">
            <a:noAutofit/>
          </a:bodyPr>
          <a:lstStyle/>
          <a:p>
            <a:pPr lvl="0" algn="l">
              <a:lnSpc>
                <a:spcPct val="110000"/>
              </a:lnSpc>
              <a:buClrTx/>
              <a:buSzTx/>
              <a:buFontTx/>
            </a:pPr>
            <a:r>
              <a:rPr lang="zh-CN" altLang="en-US" sz="2000">
                <a:latin typeface="微软雅黑" panose="020B0503020204020204" charset="-122"/>
                <a:ea typeface="微软雅黑" panose="020B0503020204020204" charset="-122"/>
                <a:sym typeface="+mn-ea"/>
              </a:rPr>
              <a:t>露点锋的形成：受地形、气候的影响，来自不同地区具有不同性质的气团相遇，形成明显的湿度不连续带。</a:t>
            </a:r>
            <a:endParaRPr lang="zh-CN" altLang="en-US" sz="2000">
              <a:latin typeface="微软雅黑" panose="020B0503020204020204" charset="-122"/>
              <a:ea typeface="微软雅黑" panose="020B0503020204020204" charset="-122"/>
              <a:sym typeface="+mn-ea"/>
            </a:endParaRPr>
          </a:p>
        </p:txBody>
      </p:sp>
      <p:cxnSp>
        <p:nvCxnSpPr>
          <p:cNvPr id="17" name="肘形连接符 16"/>
          <p:cNvCxnSpPr>
            <a:stCxn id="12" idx="1"/>
            <a:endCxn id="4" idx="3"/>
          </p:cNvCxnSpPr>
          <p:nvPr>
            <p:custDataLst>
              <p:tags r:id="rId8"/>
            </p:custDataLst>
          </p:nvPr>
        </p:nvCxnSpPr>
        <p:spPr>
          <a:xfrm rot="10800000" flipV="1">
            <a:off x="812165" y="2558415"/>
            <a:ext cx="581660" cy="1412875"/>
          </a:xfrm>
          <a:prstGeom prst="bentConnector3">
            <a:avLst>
              <a:gd name="adj1" fmla="val 50000"/>
            </a:avLst>
          </a:prstGeom>
        </p:spPr>
        <p:style>
          <a:lnRef idx="2">
            <a:schemeClr val="accent1"/>
          </a:lnRef>
          <a:fillRef idx="0">
            <a:srgbClr val="FFFFFF"/>
          </a:fillRef>
          <a:effectRef idx="0">
            <a:srgbClr val="FFFFFF"/>
          </a:effectRef>
          <a:fontRef idx="minor">
            <a:schemeClr val="tx1"/>
          </a:fontRef>
        </p:style>
      </p:cxnSp>
      <p:sp>
        <p:nvSpPr>
          <p:cNvPr id="10" name="文本框 9"/>
          <p:cNvSpPr txBox="1"/>
          <p:nvPr>
            <p:custDataLst>
              <p:tags r:id="rId9"/>
            </p:custDataLst>
          </p:nvPr>
        </p:nvSpPr>
        <p:spPr>
          <a:xfrm>
            <a:off x="1393825" y="1383665"/>
            <a:ext cx="10664825" cy="727710"/>
          </a:xfrm>
          <a:prstGeom prst="rect">
            <a:avLst/>
          </a:prstGeom>
          <a:solidFill>
            <a:schemeClr val="accent2">
              <a:lumMod val="40000"/>
              <a:lumOff val="60000"/>
            </a:schemeClr>
          </a:solidFill>
        </p:spPr>
        <p:txBody>
          <a:bodyPr wrap="square" lIns="91440" rIns="91440" rtlCol="0" anchor="t">
            <a:noAutofit/>
          </a:bodyPr>
          <a:lstStyle/>
          <a:p>
            <a:pPr>
              <a:lnSpc>
                <a:spcPct val="110000"/>
              </a:lnSpc>
              <a:buClrTx/>
              <a:buSzTx/>
              <a:buFontTx/>
            </a:pPr>
            <a:r>
              <a:rPr lang="zh-CN" altLang="en-US" sz="2000">
                <a:solidFill>
                  <a:schemeClr val="tx1"/>
                </a:solidFill>
                <a:latin typeface="微软雅黑" panose="020B0503020204020204" charset="-122"/>
                <a:ea typeface="微软雅黑" panose="020B0503020204020204" charset="-122"/>
                <a:sym typeface="+mn-ea"/>
              </a:rPr>
              <a:t>露点锋的特征：两侧的露点差异大，温度接近。两侧干湿气团相遇时，湿空气由于密度较小被迫抬升。</a:t>
            </a:r>
            <a:endParaRPr lang="zh-CN" altLang="en-US" sz="2000">
              <a:solidFill>
                <a:schemeClr val="tx1"/>
              </a:solidFill>
              <a:latin typeface="微软雅黑" panose="020B0503020204020204" charset="-122"/>
              <a:ea typeface="微软雅黑" panose="020B0503020204020204" charset="-122"/>
              <a:sym typeface="+mn-ea"/>
            </a:endParaRPr>
          </a:p>
        </p:txBody>
      </p:sp>
      <p:sp>
        <p:nvSpPr>
          <p:cNvPr id="3" name="文本框 2"/>
          <p:cNvSpPr txBox="1"/>
          <p:nvPr>
            <p:custDataLst>
              <p:tags r:id="rId10"/>
            </p:custDataLst>
          </p:nvPr>
        </p:nvSpPr>
        <p:spPr>
          <a:xfrm>
            <a:off x="1393825" y="4633595"/>
            <a:ext cx="508635" cy="773430"/>
          </a:xfrm>
          <a:prstGeom prst="rect">
            <a:avLst/>
          </a:prstGeom>
          <a:solidFill>
            <a:schemeClr val="accent2">
              <a:lumMod val="40000"/>
              <a:lumOff val="60000"/>
            </a:schemeClr>
          </a:solidFill>
        </p:spPr>
        <p:txBody>
          <a:bodyPr wrap="square" lIns="91440" rIns="91440" rtlCol="0" anchor="t">
            <a:noAutofit/>
          </a:bodyPr>
          <a:lstStyle/>
          <a:p>
            <a:pPr algn="ctr">
              <a:buClrTx/>
              <a:buSzTx/>
              <a:buFontTx/>
            </a:pPr>
            <a:r>
              <a:rPr lang="zh-CN" altLang="en-US" sz="2200" b="1">
                <a:solidFill>
                  <a:schemeClr val="tx1"/>
                </a:solidFill>
                <a:latin typeface="微软雅黑" panose="020B0503020204020204" charset="-122"/>
                <a:ea typeface="微软雅黑" panose="020B0503020204020204" charset="-122"/>
                <a:sym typeface="+mn-ea"/>
              </a:rPr>
              <a:t>露点</a:t>
            </a:r>
            <a:endParaRPr lang="zh-CN" altLang="en-US" sz="2200" b="1">
              <a:solidFill>
                <a:schemeClr val="tx1"/>
              </a:solidFill>
              <a:latin typeface="微软雅黑" panose="020B0503020204020204" charset="-122"/>
              <a:ea typeface="微软雅黑" panose="020B0503020204020204" charset="-122"/>
              <a:sym typeface="+mn-ea"/>
            </a:endParaRPr>
          </a:p>
        </p:txBody>
      </p:sp>
      <p:sp>
        <p:nvSpPr>
          <p:cNvPr id="9" name="文本框 8"/>
          <p:cNvSpPr txBox="1"/>
          <p:nvPr>
            <p:custDataLst>
              <p:tags r:id="rId11"/>
            </p:custDataLst>
          </p:nvPr>
        </p:nvSpPr>
        <p:spPr>
          <a:xfrm>
            <a:off x="2075815" y="4236085"/>
            <a:ext cx="9973945" cy="2548890"/>
          </a:xfrm>
          <a:prstGeom prst="rect">
            <a:avLst/>
          </a:prstGeom>
          <a:solidFill>
            <a:schemeClr val="accent2">
              <a:lumMod val="40000"/>
              <a:lumOff val="60000"/>
            </a:schemeClr>
          </a:solidFill>
        </p:spPr>
        <p:txBody>
          <a:bodyPr wrap="square" lIns="91440" rIns="91440" rtlCol="0" anchor="t">
            <a:noAutofit/>
          </a:bodyPr>
          <a:lstStyle/>
          <a:p>
            <a:pPr>
              <a:lnSpc>
                <a:spcPct val="100000"/>
              </a:lnSpc>
              <a:buClrTx/>
              <a:buSzTx/>
              <a:buFontTx/>
            </a:pPr>
            <a:r>
              <a:rPr lang="zh-CN" altLang="en-US">
                <a:solidFill>
                  <a:schemeClr val="tx1"/>
                </a:solidFill>
                <a:latin typeface="微软雅黑" panose="020B0503020204020204" charset="-122"/>
                <a:ea typeface="微软雅黑" panose="020B0503020204020204" charset="-122"/>
                <a:sym typeface="+mn-ea"/>
              </a:rPr>
              <a:t>露点影响因素：① 露点和气压的关系：在空气中的水汽含量一定的前提下，气压越高，露点越高。② 露点和空气水汽含量的关系：在气压一定前提下，空气中水汽含量越高，露点越高。简单来说，气压越高，露点越高；水汽含量越高，露点越高；气压和空气中的水汽含量这两个影响因素都和露点呈正相关。通常考察的是近地面常压状态下的露点，也就是说气压对露点的影响基本可以忽略，这时露点的高低主要受空气中水汽含量的影响，水汽含量越高，露点越高。因此，我们就可用露点来衡量空气绝对湿度的高低，露点就成为反映空气绝对湿度的一项指标。</a:t>
            </a:r>
            <a:endParaRPr lang="zh-CN" altLang="en-US">
              <a:solidFill>
                <a:schemeClr val="tx1"/>
              </a:solidFill>
              <a:latin typeface="微软雅黑" panose="020B0503020204020204" charset="-122"/>
              <a:ea typeface="微软雅黑" panose="020B0503020204020204" charset="-122"/>
              <a:sym typeface="+mn-ea"/>
            </a:endParaRPr>
          </a:p>
          <a:p>
            <a:pPr>
              <a:lnSpc>
                <a:spcPct val="100000"/>
              </a:lnSpc>
              <a:buClrTx/>
              <a:buSzTx/>
              <a:buFontTx/>
            </a:pPr>
            <a:r>
              <a:rPr lang="zh-CN" altLang="en-US">
                <a:solidFill>
                  <a:schemeClr val="tx1"/>
                </a:solidFill>
                <a:latin typeface="微软雅黑" panose="020B0503020204020204" charset="-122"/>
                <a:ea typeface="微软雅黑" panose="020B0503020204020204" charset="-122"/>
                <a:sym typeface="+mn-ea"/>
              </a:rPr>
              <a:t>通过比较气温和露点温度，可知空气中水汽的饱和程度：气温 = 露点温度，空气中的水汽饱和。</a:t>
            </a:r>
            <a:endParaRPr lang="zh-CN" altLang="en-US">
              <a:solidFill>
                <a:schemeClr val="tx1"/>
              </a:solidFill>
              <a:latin typeface="微软雅黑" panose="020B0503020204020204" charset="-122"/>
              <a:ea typeface="微软雅黑" panose="020B0503020204020204" charset="-122"/>
              <a:sym typeface="+mn-ea"/>
            </a:endParaRPr>
          </a:p>
          <a:p>
            <a:pPr>
              <a:lnSpc>
                <a:spcPct val="100000"/>
              </a:lnSpc>
              <a:buClrTx/>
              <a:buSzTx/>
              <a:buFontTx/>
            </a:pPr>
            <a:r>
              <a:rPr lang="zh-CN" altLang="en-US">
                <a:solidFill>
                  <a:schemeClr val="tx1"/>
                </a:solidFill>
                <a:latin typeface="微软雅黑" panose="020B0503020204020204" charset="-122"/>
                <a:ea typeface="微软雅黑" panose="020B0503020204020204" charset="-122"/>
                <a:sym typeface="+mn-ea"/>
              </a:rPr>
              <a:t>气温＞露点温度，空气中的水汽不饱和。露点差=气温-露点温度≥0（露点差越小，空气越接近饱和，空气越湿润）</a:t>
            </a:r>
            <a:endParaRPr lang="zh-CN" altLang="en-US">
              <a:solidFill>
                <a:schemeClr val="tx1"/>
              </a:solidFill>
              <a:latin typeface="微软雅黑" panose="020B0503020204020204" charset="-122"/>
              <a:ea typeface="微软雅黑" panose="020B0503020204020204" charset="-122"/>
              <a:sym typeface="+mn-ea"/>
            </a:endParaRPr>
          </a:p>
        </p:txBody>
      </p:sp>
      <p:cxnSp>
        <p:nvCxnSpPr>
          <p:cNvPr id="19" name="肘形连接符 18"/>
          <p:cNvCxnSpPr>
            <a:stCxn id="10" idx="1"/>
            <a:endCxn id="4" idx="3"/>
          </p:cNvCxnSpPr>
          <p:nvPr>
            <p:custDataLst>
              <p:tags r:id="rId12"/>
            </p:custDataLst>
          </p:nvPr>
        </p:nvCxnSpPr>
        <p:spPr>
          <a:xfrm rot="10800000" flipV="1">
            <a:off x="812165" y="1747520"/>
            <a:ext cx="581660" cy="2223770"/>
          </a:xfrm>
          <a:prstGeom prst="bentConnector3">
            <a:avLst>
              <a:gd name="adj1" fmla="val 50000"/>
            </a:avLst>
          </a:prstGeom>
        </p:spPr>
        <p:style>
          <a:lnRef idx="2">
            <a:schemeClr val="accent1"/>
          </a:lnRef>
          <a:fillRef idx="0">
            <a:srgbClr val="FFFFFF"/>
          </a:fillRef>
          <a:effectRef idx="0">
            <a:srgbClr val="FFFFFF"/>
          </a:effectRef>
          <a:fontRef idx="minor">
            <a:schemeClr val="tx1"/>
          </a:fontRef>
        </p:style>
      </p:cxnSp>
      <p:cxnSp>
        <p:nvCxnSpPr>
          <p:cNvPr id="20" name="肘形连接符 19"/>
          <p:cNvCxnSpPr>
            <a:stCxn id="8" idx="1"/>
            <a:endCxn id="3" idx="3"/>
          </p:cNvCxnSpPr>
          <p:nvPr>
            <p:custDataLst>
              <p:tags r:id="rId13"/>
            </p:custDataLst>
          </p:nvPr>
        </p:nvCxnSpPr>
        <p:spPr>
          <a:xfrm rot="10800000" flipV="1">
            <a:off x="1902460" y="3829050"/>
            <a:ext cx="173355" cy="1191260"/>
          </a:xfrm>
          <a:prstGeom prst="bentConnector3">
            <a:avLst>
              <a:gd name="adj1" fmla="val 49817"/>
            </a:avLst>
          </a:prstGeom>
        </p:spPr>
        <p:style>
          <a:lnRef idx="2">
            <a:schemeClr val="accent1"/>
          </a:lnRef>
          <a:fillRef idx="0">
            <a:srgbClr val="FFFFFF"/>
          </a:fillRef>
          <a:effectRef idx="0">
            <a:srgbClr val="FFFFFF"/>
          </a:effectRef>
          <a:fontRef idx="minor">
            <a:schemeClr val="tx1"/>
          </a:fontRef>
        </p:style>
      </p:cxnSp>
      <p:cxnSp>
        <p:nvCxnSpPr>
          <p:cNvPr id="21" name="肘形连接符 20"/>
          <p:cNvCxnSpPr>
            <a:stCxn id="9" idx="1"/>
            <a:endCxn id="3" idx="3"/>
          </p:cNvCxnSpPr>
          <p:nvPr>
            <p:custDataLst>
              <p:tags r:id="rId14"/>
            </p:custDataLst>
          </p:nvPr>
        </p:nvCxnSpPr>
        <p:spPr>
          <a:xfrm rot="10800000">
            <a:off x="1902460" y="5020310"/>
            <a:ext cx="173355" cy="490220"/>
          </a:xfrm>
          <a:prstGeom prst="bentConnector3">
            <a:avLst>
              <a:gd name="adj1" fmla="val 49817"/>
            </a:avLst>
          </a:prstGeom>
        </p:spPr>
        <p:style>
          <a:lnRef idx="2">
            <a:schemeClr val="accent1"/>
          </a:lnRef>
          <a:fillRef idx="0">
            <a:srgbClr val="FFFFFF"/>
          </a:fillRef>
          <a:effectRef idx="0">
            <a:srgbClr val="FFFFFF"/>
          </a:effectRef>
          <a:fontRef idx="minor">
            <a:schemeClr val="tx1"/>
          </a:fontRef>
        </p:style>
      </p:cxnSp>
      <p:sp>
        <p:nvSpPr>
          <p:cNvPr id="6" name="文本框 5"/>
          <p:cNvSpPr txBox="1"/>
          <p:nvPr>
            <p:custDataLst>
              <p:tags r:id="rId15"/>
            </p:custDataLst>
          </p:nvPr>
        </p:nvSpPr>
        <p:spPr>
          <a:xfrm>
            <a:off x="1255395" y="18288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cxnSp>
        <p:nvCxnSpPr>
          <p:cNvPr id="7" name="肘形连接符 6"/>
          <p:cNvCxnSpPr>
            <a:stCxn id="28" idx="1"/>
            <a:endCxn id="4" idx="3"/>
          </p:cNvCxnSpPr>
          <p:nvPr>
            <p:custDataLst>
              <p:tags r:id="rId16"/>
            </p:custDataLst>
          </p:nvPr>
        </p:nvCxnSpPr>
        <p:spPr>
          <a:xfrm rot="10800000" flipV="1">
            <a:off x="811530" y="3219450"/>
            <a:ext cx="581025" cy="751205"/>
          </a:xfrm>
          <a:prstGeom prst="bentConnector3">
            <a:avLst>
              <a:gd name="adj1" fmla="val 49945"/>
            </a:avLst>
          </a:prstGeom>
        </p:spPr>
        <p:style>
          <a:lnRef idx="2">
            <a:schemeClr val="accent1"/>
          </a:lnRef>
          <a:fillRef idx="0">
            <a:srgbClr val="FFFFFF"/>
          </a:fillRef>
          <a:effectRef idx="0">
            <a:srgbClr val="FFFFFF"/>
          </a:effectRef>
          <a:fontRef idx="minor">
            <a:schemeClr val="tx1"/>
          </a:fontRef>
        </p:style>
      </p:cxnSp>
    </p:spTree>
    <p:custDataLst>
      <p:tags r:id="rId17"/>
    </p:custData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custDataLst>
              <p:tags r:id="rId2"/>
            </p:custDataLst>
          </p:nvPr>
        </p:nvSpPr>
        <p:spPr>
          <a:xfrm>
            <a:off x="371475" y="1106170"/>
            <a:ext cx="228663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04</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 大湖效应</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custDataLst>
              <p:tags r:id="rId3"/>
            </p:custDataLst>
          </p:nvPr>
        </p:nvSpPr>
        <p:spPr>
          <a:xfrm>
            <a:off x="294005" y="1628140"/>
            <a:ext cx="11603990" cy="835025"/>
          </a:xfrm>
          <a:prstGeom prst="rect">
            <a:avLst/>
          </a:prstGeom>
          <a:noFill/>
          <a:ln w="9525">
            <a:noFill/>
          </a:ln>
        </p:spPr>
        <p:txBody>
          <a:bodyPr wrap="square">
            <a:spAutoFit/>
          </a:bodyPr>
          <a:lstStyle/>
          <a:p>
            <a:pPr indent="355600">
              <a:lnSpc>
                <a:spcPct val="110000"/>
              </a:lnSpc>
            </a:pPr>
            <a:r>
              <a:rPr lang="zh-CN" sz="2200" b="0">
                <a:latin typeface="楷体" panose="02010609060101010101" charset="-122"/>
                <a:ea typeface="楷体" panose="02010609060101010101" charset="-122"/>
                <a:cs typeface="楷体" panose="02010609060101010101" charset="-122"/>
              </a:rPr>
              <a:t>冷流降雪指强冷空气经过暖湿海面，到达海域迎风岸后遇冷形成的降雪。2023年12月环渤海区域发生了多次强冷流降雪。图示意环渤海区域位置。完成下面小题。</a:t>
            </a:r>
            <a:endParaRPr lang="zh-CN" sz="2200" b="0">
              <a:latin typeface="楷体" panose="02010609060101010101" charset="-122"/>
              <a:ea typeface="楷体" panose="02010609060101010101" charset="-122"/>
              <a:cs typeface="楷体" panose="02010609060101010101" charset="-122"/>
            </a:endParaRPr>
          </a:p>
        </p:txBody>
      </p:sp>
      <p:pic>
        <p:nvPicPr>
          <p:cNvPr id="9" name="图片 1"/>
          <p:cNvPicPr>
            <a:picLocks noChangeAspect="1"/>
          </p:cNvPicPr>
          <p:nvPr>
            <p:custDataLst>
              <p:tags r:id="rId4"/>
            </p:custDataLst>
          </p:nvPr>
        </p:nvPicPr>
        <p:blipFill>
          <a:blip r:embed="rId5"/>
          <a:stretch>
            <a:fillRect/>
          </a:stretch>
        </p:blipFill>
        <p:spPr>
          <a:xfrm>
            <a:off x="8361680" y="2517140"/>
            <a:ext cx="3536315" cy="2944495"/>
          </a:xfrm>
          <a:prstGeom prst="rect">
            <a:avLst/>
          </a:prstGeom>
        </p:spPr>
      </p:pic>
      <p:sp>
        <p:nvSpPr>
          <p:cNvPr id="10" name="文本框 9"/>
          <p:cNvSpPr txBox="1"/>
          <p:nvPr>
            <p:custDataLst>
              <p:tags r:id="rId6"/>
            </p:custDataLst>
          </p:nvPr>
        </p:nvSpPr>
        <p:spPr>
          <a:xfrm>
            <a:off x="371475" y="2336165"/>
            <a:ext cx="7710805" cy="1198880"/>
          </a:xfrm>
          <a:prstGeom prst="rect">
            <a:avLst/>
          </a:prstGeom>
          <a:noFill/>
          <a:ln w="9525">
            <a:noFill/>
          </a:ln>
        </p:spPr>
        <p:txBody>
          <a:bodyPr wrap="square">
            <a:spAutoFit/>
          </a:bodyPr>
          <a:lstStyle/>
          <a:p>
            <a:pPr indent="0">
              <a:lnSpc>
                <a:spcPct val="150000"/>
              </a:lnSpc>
            </a:pPr>
            <a:r>
              <a:rPr lang="en-US" altLang="zh-CN" sz="2400" b="0">
                <a:latin typeface="微软雅黑" panose="020B0503020204020204" charset="-122"/>
                <a:ea typeface="微软雅黑" panose="020B0503020204020204" charset="-122"/>
                <a:cs typeface="微软雅黑" panose="020B0503020204020204" charset="-122"/>
              </a:rPr>
              <a:t>6．与冷流降雪原理类似的天气系统是（       ）A．冷锋	B．暖锋	C．气旋	D．反气旋
</a:t>
            </a:r>
            <a:endParaRPr lang="en-US" altLang="zh-CN" sz="2400" b="0">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custDataLst>
              <p:tags r:id="rId7"/>
            </p:custDataLst>
          </p:nvPr>
        </p:nvSpPr>
        <p:spPr>
          <a:xfrm>
            <a:off x="362585" y="3881755"/>
            <a:ext cx="7639685" cy="2228215"/>
          </a:xfrm>
          <a:prstGeom prst="rect">
            <a:avLst/>
          </a:prstGeom>
          <a:solidFill>
            <a:schemeClr val="bg1"/>
          </a:solidFill>
          <a:ln>
            <a:solidFill>
              <a:srgbClr val="0070C0"/>
            </a:solidFill>
            <a:prstDash val="dash"/>
          </a:ln>
        </p:spPr>
        <p:txBody>
          <a:bodyPr wrap="square" rtlCol="0" anchor="t">
            <a:noAutofit/>
          </a:bodyPr>
          <a:lstStyle/>
          <a:p>
            <a:pPr lvl="0" algn="l">
              <a:lnSpc>
                <a:spcPct val="110000"/>
              </a:lnSpc>
              <a:buClrTx/>
              <a:buSzTx/>
              <a:buFontTx/>
            </a:pPr>
            <a:r>
              <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rPr>
              <a:t>【解析】6．根据材料和所学知识可知，冷流降雪是到达海面的冷空气在海---气交互作用的影响下增温，并将海上的暖湿气流带到海域迎风岸，遇冷在迎风岸形成降雪，所以冷流降雪类似于暖锋，暖气团遇冷形成降水，B正确；冷锋是冷气团主动靠近暖气团，与冷流降雪原理不符，A错误；气旋中心是低压，暖气团上升易形成阴雨天气，反气旋中心是高压，多晴朗天气；CD错误。故选B。</a:t>
            </a:r>
            <a:endPar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endParaRPr>
          </a:p>
        </p:txBody>
      </p:sp>
      <p:sp>
        <p:nvSpPr>
          <p:cNvPr id="29" name="矩形 28"/>
          <p:cNvSpPr/>
          <p:nvPr>
            <p:custDataLst>
              <p:tags r:id="rId8"/>
            </p:custDataLst>
          </p:nvPr>
        </p:nvSpPr>
        <p:spPr>
          <a:xfrm>
            <a:off x="5786755" y="2211070"/>
            <a:ext cx="733425" cy="1014730"/>
          </a:xfrm>
          <a:prstGeom prst="rect">
            <a:avLst/>
          </a:prstGeom>
          <a:noFill/>
          <a:ln>
            <a:noFill/>
          </a:ln>
        </p:spPr>
        <p:txBody>
          <a:bodyPr wrap="square" rtlCol="0" anchor="t">
            <a:spAutoFit/>
            <a:scene3d>
              <a:camera prst="orthographicFront"/>
              <a:lightRig rig="soft" dir="t">
                <a:rot lat="0" lon="0" rev="15600000"/>
              </a:lightRig>
            </a:scene3d>
            <a:sp3d extrusionH="57150" prstMaterial="softEdge">
              <a:bevelT w="25400" h="38100"/>
            </a:sp3d>
          </a:bodyPr>
          <a:lstStyle/>
          <a:p>
            <a:pPr algn="ctr"/>
            <a:r>
              <a:rPr lang="en-US" altLang="zh-CN" sz="6000" b="1">
                <a:solidFill>
                  <a:srgbClr val="FF0000"/>
                </a:solidFill>
                <a:effectLst/>
                <a:latin typeface="Arial" panose="020B0604020202020204" pitchFamily="34" charset="0"/>
                <a:ea typeface="微软雅黑" panose="020B0503020204020204" charset="-122"/>
                <a:cs typeface="Arial" panose="020B0604020202020204" pitchFamily="34" charset="0"/>
              </a:rPr>
              <a:t>B</a:t>
            </a:r>
            <a:endParaRPr lang="en-US" altLang="zh-CN" sz="6000" b="1">
              <a:solidFill>
                <a:srgbClr val="FF0000"/>
              </a:solidFill>
              <a:effectLst/>
              <a:latin typeface="Arial" panose="020B0604020202020204" pitchFamily="34" charset="0"/>
              <a:ea typeface="微软雅黑" panose="020B0503020204020204" charset="-122"/>
              <a:cs typeface="Arial" panose="020B0604020202020204" pitchFamily="34" charset="0"/>
            </a:endParaRPr>
          </a:p>
        </p:txBody>
      </p:sp>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custDataLst>
              <p:tags r:id="rId2"/>
            </p:custDataLst>
          </p:nvPr>
        </p:nvSpPr>
        <p:spPr>
          <a:xfrm>
            <a:off x="371475" y="1106170"/>
            <a:ext cx="228663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04</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 大湖效应</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custDataLst>
              <p:tags r:id="rId3"/>
            </p:custDataLst>
          </p:nvPr>
        </p:nvSpPr>
        <p:spPr>
          <a:xfrm>
            <a:off x="294005" y="1616710"/>
            <a:ext cx="11603990" cy="835025"/>
          </a:xfrm>
          <a:prstGeom prst="rect">
            <a:avLst/>
          </a:prstGeom>
          <a:noFill/>
          <a:ln w="9525">
            <a:noFill/>
          </a:ln>
        </p:spPr>
        <p:txBody>
          <a:bodyPr wrap="square">
            <a:spAutoFit/>
          </a:bodyPr>
          <a:lstStyle/>
          <a:p>
            <a:pPr indent="355600">
              <a:lnSpc>
                <a:spcPct val="110000"/>
              </a:lnSpc>
            </a:pPr>
            <a:r>
              <a:rPr lang="zh-CN" sz="2200" b="0">
                <a:latin typeface="楷体" panose="02010609060101010101" charset="-122"/>
                <a:ea typeface="楷体" panose="02010609060101010101" charset="-122"/>
                <a:cs typeface="楷体" panose="02010609060101010101" charset="-122"/>
              </a:rPr>
              <a:t>冷流降雪指强冷空气经过暖湿海面，到达海域迎风岸后遇冷形成的降雪。2023年12月环渤海区域发生了多次强冷流降雪。图示意环渤海区域位置。完成下面小题。</a:t>
            </a:r>
            <a:endParaRPr lang="zh-CN" sz="2200" b="0">
              <a:latin typeface="楷体" panose="02010609060101010101" charset="-122"/>
              <a:ea typeface="楷体" panose="02010609060101010101" charset="-122"/>
              <a:cs typeface="楷体" panose="02010609060101010101" charset="-122"/>
            </a:endParaRPr>
          </a:p>
        </p:txBody>
      </p:sp>
      <p:pic>
        <p:nvPicPr>
          <p:cNvPr id="9" name="图片 1"/>
          <p:cNvPicPr>
            <a:picLocks noChangeAspect="1"/>
          </p:cNvPicPr>
          <p:nvPr>
            <p:custDataLst>
              <p:tags r:id="rId4"/>
            </p:custDataLst>
          </p:nvPr>
        </p:nvPicPr>
        <p:blipFill>
          <a:blip r:embed="rId5"/>
          <a:stretch>
            <a:fillRect/>
          </a:stretch>
        </p:blipFill>
        <p:spPr>
          <a:xfrm>
            <a:off x="8361680" y="2517140"/>
            <a:ext cx="3536315" cy="2944495"/>
          </a:xfrm>
          <a:prstGeom prst="rect">
            <a:avLst/>
          </a:prstGeom>
        </p:spPr>
      </p:pic>
      <p:sp>
        <p:nvSpPr>
          <p:cNvPr id="10" name="文本框 9"/>
          <p:cNvSpPr txBox="1"/>
          <p:nvPr>
            <p:custDataLst>
              <p:tags r:id="rId6"/>
            </p:custDataLst>
          </p:nvPr>
        </p:nvSpPr>
        <p:spPr>
          <a:xfrm>
            <a:off x="371475" y="2336165"/>
            <a:ext cx="7710805" cy="1198880"/>
          </a:xfrm>
          <a:prstGeom prst="rect">
            <a:avLst/>
          </a:prstGeom>
          <a:noFill/>
          <a:ln w="9525">
            <a:noFill/>
          </a:ln>
        </p:spPr>
        <p:txBody>
          <a:bodyPr wrap="square">
            <a:spAutoFit/>
          </a:bodyPr>
          <a:lstStyle/>
          <a:p>
            <a:pPr indent="0">
              <a:lnSpc>
                <a:spcPct val="150000"/>
              </a:lnSpc>
            </a:pPr>
            <a:r>
              <a:rPr lang="en-US" altLang="zh-CN" sz="2400" b="0">
                <a:latin typeface="微软雅黑" panose="020B0503020204020204" charset="-122"/>
                <a:ea typeface="微软雅黑" panose="020B0503020204020204" charset="-122"/>
                <a:cs typeface="微软雅黑" panose="020B0503020204020204" charset="-122"/>
              </a:rPr>
              <a:t>7．下列地区中，全年冷流降雪量最大的可能是（       ）A．甲	     B．乙	C．丙	     D．丁
</a:t>
            </a:r>
            <a:endParaRPr lang="en-US" altLang="zh-CN" sz="2400" b="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custDataLst>
              <p:tags r:id="rId7"/>
            </p:custDataLst>
          </p:nvPr>
        </p:nvSpPr>
        <p:spPr>
          <a:xfrm>
            <a:off x="443230" y="3785235"/>
            <a:ext cx="7461885" cy="1676400"/>
          </a:xfrm>
          <a:prstGeom prst="rect">
            <a:avLst/>
          </a:prstGeom>
          <a:solidFill>
            <a:schemeClr val="bg1"/>
          </a:solidFill>
          <a:ln>
            <a:solidFill>
              <a:srgbClr val="0070C0"/>
            </a:solidFill>
            <a:prstDash val="dash"/>
          </a:ln>
        </p:spPr>
        <p:txBody>
          <a:bodyPr wrap="square" rtlCol="0" anchor="t">
            <a:noAutofit/>
          </a:bodyPr>
          <a:lstStyle/>
          <a:p>
            <a:pPr lvl="0" algn="l">
              <a:lnSpc>
                <a:spcPct val="120000"/>
              </a:lnSpc>
              <a:buClrTx/>
              <a:buSzTx/>
              <a:buFontTx/>
            </a:pPr>
            <a:r>
              <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rPr>
              <a:t>【解析】7．降雪时间出现在冬季，图中地区冬季多西北风，冷空气经过渤海向南吹向丁地，将渤海的暖湿气流带到丁地的迎风岸，所以丁地的降雪量最大，D正确；甲乙丙是冬季风的离风岸，ABC错误；故选D。</a:t>
            </a:r>
            <a:endPar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endParaRPr>
          </a:p>
        </p:txBody>
      </p:sp>
      <p:sp>
        <p:nvSpPr>
          <p:cNvPr id="29" name="矩形 28"/>
          <p:cNvSpPr/>
          <p:nvPr>
            <p:custDataLst>
              <p:tags r:id="rId8"/>
            </p:custDataLst>
          </p:nvPr>
        </p:nvSpPr>
        <p:spPr>
          <a:xfrm>
            <a:off x="6989445" y="2211070"/>
            <a:ext cx="733425" cy="1014730"/>
          </a:xfrm>
          <a:prstGeom prst="rect">
            <a:avLst/>
          </a:prstGeom>
          <a:noFill/>
          <a:ln>
            <a:noFill/>
          </a:ln>
        </p:spPr>
        <p:txBody>
          <a:bodyPr wrap="square" rtlCol="0" anchor="t">
            <a:spAutoFit/>
            <a:scene3d>
              <a:camera prst="orthographicFront"/>
              <a:lightRig rig="soft" dir="t">
                <a:rot lat="0" lon="0" rev="15600000"/>
              </a:lightRig>
            </a:scene3d>
            <a:sp3d extrusionH="57150" prstMaterial="softEdge">
              <a:bevelT w="25400" h="38100"/>
            </a:sp3d>
          </a:bodyPr>
          <a:lstStyle/>
          <a:p>
            <a:pPr algn="ctr"/>
            <a:r>
              <a:rPr lang="en-US" altLang="zh-CN" sz="6000" b="1">
                <a:solidFill>
                  <a:srgbClr val="FF0000"/>
                </a:solidFill>
                <a:effectLst/>
                <a:latin typeface="Arial" panose="020B0604020202020204" pitchFamily="34" charset="0"/>
                <a:ea typeface="微软雅黑" panose="020B0503020204020204" charset="-122"/>
                <a:cs typeface="Arial" panose="020B0604020202020204" pitchFamily="34" charset="0"/>
              </a:rPr>
              <a:t>D</a:t>
            </a:r>
            <a:endParaRPr lang="en-US" altLang="zh-CN" sz="6000" b="1">
              <a:solidFill>
                <a:srgbClr val="FF0000"/>
              </a:solidFill>
              <a:effectLst/>
              <a:latin typeface="Arial" panose="020B0604020202020204" pitchFamily="34" charset="0"/>
              <a:ea typeface="微软雅黑" panose="020B0503020204020204" charset="-122"/>
              <a:cs typeface="Arial" panose="020B0604020202020204" pitchFamily="34" charset="0"/>
            </a:endParaRPr>
          </a:p>
        </p:txBody>
      </p:sp>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custDataLst>
              <p:tags r:id="rId2"/>
            </p:custDataLst>
          </p:nvPr>
        </p:nvSpPr>
        <p:spPr>
          <a:xfrm>
            <a:off x="371475" y="1106170"/>
            <a:ext cx="228663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04</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 大湖效应</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custDataLst>
              <p:tags r:id="rId3"/>
            </p:custDataLst>
          </p:nvPr>
        </p:nvSpPr>
        <p:spPr>
          <a:xfrm>
            <a:off x="294005" y="1593850"/>
            <a:ext cx="11603990" cy="835025"/>
          </a:xfrm>
          <a:prstGeom prst="rect">
            <a:avLst/>
          </a:prstGeom>
          <a:noFill/>
          <a:ln w="9525">
            <a:noFill/>
          </a:ln>
        </p:spPr>
        <p:txBody>
          <a:bodyPr wrap="square">
            <a:spAutoFit/>
          </a:bodyPr>
          <a:lstStyle/>
          <a:p>
            <a:pPr indent="355600">
              <a:lnSpc>
                <a:spcPct val="110000"/>
              </a:lnSpc>
            </a:pPr>
            <a:r>
              <a:rPr lang="zh-CN" sz="2200" b="0">
                <a:latin typeface="楷体" panose="02010609060101010101" charset="-122"/>
                <a:ea typeface="楷体" panose="02010609060101010101" charset="-122"/>
                <a:cs typeface="楷体" panose="02010609060101010101" charset="-122"/>
              </a:rPr>
              <a:t>冷流降雪指强冷空气经过暖湿海面，到达海域迎风岸后遇冷形成的降雪。2023年12月环渤海区域发生了多次强冷流降雪。图示意环渤海区域位置。完成下面小题。</a:t>
            </a:r>
            <a:endParaRPr lang="zh-CN" sz="2200" b="0">
              <a:latin typeface="楷体" panose="02010609060101010101" charset="-122"/>
              <a:ea typeface="楷体" panose="02010609060101010101" charset="-122"/>
              <a:cs typeface="楷体" panose="02010609060101010101" charset="-122"/>
            </a:endParaRPr>
          </a:p>
        </p:txBody>
      </p:sp>
      <p:pic>
        <p:nvPicPr>
          <p:cNvPr id="9" name="图片 1"/>
          <p:cNvPicPr>
            <a:picLocks noChangeAspect="1"/>
          </p:cNvPicPr>
          <p:nvPr>
            <p:custDataLst>
              <p:tags r:id="rId4"/>
            </p:custDataLst>
          </p:nvPr>
        </p:nvPicPr>
        <p:blipFill>
          <a:blip r:embed="rId5"/>
          <a:stretch>
            <a:fillRect/>
          </a:stretch>
        </p:blipFill>
        <p:spPr>
          <a:xfrm>
            <a:off x="8361680" y="2517140"/>
            <a:ext cx="3536315" cy="2944495"/>
          </a:xfrm>
          <a:prstGeom prst="rect">
            <a:avLst/>
          </a:prstGeom>
        </p:spPr>
      </p:pic>
      <p:sp>
        <p:nvSpPr>
          <p:cNvPr id="10" name="文本框 9"/>
          <p:cNvSpPr txBox="1"/>
          <p:nvPr>
            <p:custDataLst>
              <p:tags r:id="rId6"/>
            </p:custDataLst>
          </p:nvPr>
        </p:nvSpPr>
        <p:spPr>
          <a:xfrm>
            <a:off x="371475" y="2301875"/>
            <a:ext cx="7710805" cy="2675255"/>
          </a:xfrm>
          <a:prstGeom prst="rect">
            <a:avLst/>
          </a:prstGeom>
          <a:noFill/>
          <a:ln w="9525">
            <a:noFill/>
          </a:ln>
        </p:spPr>
        <p:txBody>
          <a:bodyPr wrap="square">
            <a:spAutoFit/>
          </a:bodyPr>
          <a:lstStyle/>
          <a:p>
            <a:pPr indent="0">
              <a:lnSpc>
                <a:spcPct val="140000"/>
              </a:lnSpc>
            </a:pPr>
            <a:r>
              <a:rPr lang="en-US" altLang="zh-CN" sz="2400" b="0">
                <a:latin typeface="微软雅黑" panose="020B0503020204020204" charset="-122"/>
                <a:ea typeface="微软雅黑" panose="020B0503020204020204" charset="-122"/>
                <a:cs typeface="微软雅黑" panose="020B0503020204020204" charset="-122"/>
              </a:rPr>
              <a:t>8．2023年12月发生强冷流降雪时，戊海域（       ）A．气温上升，表层水温上升，海气温差增大B．气温上升，表层水温上升，海气温差减小C．气温下降，表层水温下降，海气温差增大D．气温下降，表层水温下降，海气温差减小
</a:t>
            </a:r>
            <a:endParaRPr lang="en-US" altLang="zh-CN" sz="2400" b="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custDataLst>
              <p:tags r:id="rId7"/>
            </p:custDataLst>
          </p:nvPr>
        </p:nvSpPr>
        <p:spPr>
          <a:xfrm>
            <a:off x="294005" y="4999990"/>
            <a:ext cx="7973060" cy="1574165"/>
          </a:xfrm>
          <a:prstGeom prst="rect">
            <a:avLst/>
          </a:prstGeom>
          <a:solidFill>
            <a:schemeClr val="bg1"/>
          </a:solidFill>
          <a:ln>
            <a:solidFill>
              <a:srgbClr val="0070C0"/>
            </a:solidFill>
            <a:prstDash val="dash"/>
          </a:ln>
        </p:spPr>
        <p:txBody>
          <a:bodyPr wrap="square" rtlCol="0" anchor="t">
            <a:noAutofit/>
          </a:bodyPr>
          <a:lstStyle/>
          <a:p>
            <a:pPr lvl="0" algn="l">
              <a:lnSpc>
                <a:spcPct val="120000"/>
              </a:lnSpc>
              <a:buClrTx/>
              <a:buSzTx/>
              <a:buFontTx/>
            </a:pPr>
            <a:r>
              <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rPr>
              <a:t>【解析】8．强冷流降雪时，强冷空气经过戊海域，戊海域气温下降，AB错误；强冷空气经过时，由于表层海水温度相对较高，会通过潜热输送的方式将热量输送到大气，致使表层水温下降，但气温下降更明显，海气温差增大，D错误，C正确。故选C。</a:t>
            </a:r>
            <a:endPar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endParaRPr>
          </a:p>
        </p:txBody>
      </p:sp>
      <p:sp>
        <p:nvSpPr>
          <p:cNvPr id="29" name="矩形 28"/>
          <p:cNvSpPr/>
          <p:nvPr>
            <p:custDataLst>
              <p:tags r:id="rId8"/>
            </p:custDataLst>
          </p:nvPr>
        </p:nvSpPr>
        <p:spPr>
          <a:xfrm>
            <a:off x="6536690" y="2153920"/>
            <a:ext cx="733425" cy="1014730"/>
          </a:xfrm>
          <a:prstGeom prst="rect">
            <a:avLst/>
          </a:prstGeom>
          <a:noFill/>
          <a:ln>
            <a:noFill/>
          </a:ln>
        </p:spPr>
        <p:txBody>
          <a:bodyPr wrap="square" rtlCol="0" anchor="t">
            <a:spAutoFit/>
            <a:scene3d>
              <a:camera prst="orthographicFront"/>
              <a:lightRig rig="soft" dir="t">
                <a:rot lat="0" lon="0" rev="15600000"/>
              </a:lightRig>
            </a:scene3d>
            <a:sp3d extrusionH="57150" prstMaterial="softEdge">
              <a:bevelT w="25400" h="38100"/>
            </a:sp3d>
          </a:bodyPr>
          <a:lstStyle/>
          <a:p>
            <a:pPr algn="ctr"/>
            <a:r>
              <a:rPr lang="en-US" altLang="zh-CN" sz="6000" b="1">
                <a:solidFill>
                  <a:srgbClr val="FF0000"/>
                </a:solidFill>
                <a:effectLst/>
                <a:latin typeface="Arial" panose="020B0604020202020204" pitchFamily="34" charset="0"/>
                <a:ea typeface="微软雅黑" panose="020B0503020204020204" charset="-122"/>
                <a:cs typeface="Arial" panose="020B0604020202020204" pitchFamily="34" charset="0"/>
              </a:rPr>
              <a:t>C</a:t>
            </a:r>
            <a:endParaRPr lang="en-US" altLang="zh-CN" sz="6000" b="1">
              <a:solidFill>
                <a:srgbClr val="FF0000"/>
              </a:solidFill>
              <a:effectLst/>
              <a:latin typeface="Arial" panose="020B0604020202020204" pitchFamily="34" charset="0"/>
              <a:ea typeface="微软雅黑" panose="020B0503020204020204" charset="-122"/>
              <a:cs typeface="Arial" panose="020B0604020202020204" pitchFamily="34" charset="0"/>
            </a:endParaRPr>
          </a:p>
        </p:txBody>
      </p:sp>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矩形 168"/>
          <p:cNvSpPr/>
          <p:nvPr>
            <p:custDataLst>
              <p:tags r:id="rId1"/>
            </p:custDataLst>
          </p:nvPr>
        </p:nvSpPr>
        <p:spPr>
          <a:xfrm>
            <a:off x="331153" y="1717040"/>
            <a:ext cx="11529695" cy="1262380"/>
          </a:xfrm>
          <a:prstGeom prst="rect">
            <a:avLst/>
          </a:prstGeom>
          <a:solidFill>
            <a:schemeClr val="accent3">
              <a:lumMod val="20000"/>
              <a:lumOff val="80000"/>
            </a:schemeClr>
          </a:solidFill>
          <a:ln>
            <a:solidFill>
              <a:schemeClr val="tx1"/>
            </a:solidFill>
            <a:prstDash val="dash"/>
          </a:ln>
        </p:spPr>
        <p:txBody>
          <a:bodyPr wrap="square">
            <a:noAutofit/>
          </a:bodyPr>
          <a:lstStyle/>
          <a:p>
            <a:pPr marL="342900" lvl="0" indent="-342900" algn="just">
              <a:lnSpc>
                <a:spcPct val="140000"/>
              </a:lnSpc>
              <a:buClrTx/>
              <a:buSzTx/>
              <a:buFont typeface="Wingdings" panose="05000000000000000000" pitchFamily="2" charset="2"/>
              <a:buChar char="Ø"/>
              <a:defRPr/>
            </a:pPr>
            <a:r>
              <a:rPr lang="zh-CN" sz="2400" b="1">
                <a:solidFill>
                  <a:srgbClr val="0026E5"/>
                </a:solidFill>
                <a:latin typeface="微软雅黑" panose="020B0503020204020204" charset="-122"/>
                <a:ea typeface="微软雅黑" panose="020B0503020204020204" charset="-122"/>
                <a:sym typeface="+mn-ea"/>
              </a:rPr>
              <a:t>大湖效应</a:t>
            </a:r>
            <a:r>
              <a:rPr lang="zh-CN" sz="2400">
                <a:latin typeface="微软雅黑" panose="020B0503020204020204" charset="-122"/>
                <a:ea typeface="微软雅黑" panose="020B0503020204020204" charset="-122"/>
                <a:sym typeface="+mn-ea"/>
              </a:rPr>
              <a:t>：指的是冷空气遇到大面积未结冰的水面(通常是湖泊)从中得到水蒸汽和热能，然后在向风的湖岸形成降水、降雪、雾气等现象，通常是以雪的形式出现。</a:t>
            </a:r>
            <a:endParaRPr lang="zh-CN" sz="2400">
              <a:latin typeface="微软雅黑" panose="020B0503020204020204" charset="-122"/>
              <a:ea typeface="微软雅黑" panose="020B0503020204020204" charset="-122"/>
              <a:sym typeface="+mn-ea"/>
            </a:endParaRPr>
          </a:p>
        </p:txBody>
      </p:sp>
      <p:pic>
        <p:nvPicPr>
          <p:cNvPr id="101" name="图片 100"/>
          <p:cNvPicPr/>
          <p:nvPr>
            <p:custDataLst>
              <p:tags r:id="rId2"/>
            </p:custDataLst>
          </p:nvPr>
        </p:nvPicPr>
        <p:blipFill>
          <a:blip r:embed="rId3"/>
          <a:stretch>
            <a:fillRect/>
          </a:stretch>
        </p:blipFill>
        <p:spPr>
          <a:xfrm>
            <a:off x="331470" y="3246755"/>
            <a:ext cx="6416675" cy="3196590"/>
          </a:xfrm>
          <a:prstGeom prst="rect">
            <a:avLst/>
          </a:prstGeom>
          <a:noFill/>
          <a:ln w="9525">
            <a:noFill/>
          </a:ln>
        </p:spPr>
      </p:pic>
      <p:pic>
        <p:nvPicPr>
          <p:cNvPr id="102" name="图片 101"/>
          <p:cNvPicPr/>
          <p:nvPr>
            <p:custDataLst>
              <p:tags r:id="rId4"/>
            </p:custDataLst>
          </p:nvPr>
        </p:nvPicPr>
        <p:blipFill>
          <a:blip r:embed="rId5"/>
          <a:stretch>
            <a:fillRect/>
          </a:stretch>
        </p:blipFill>
        <p:spPr>
          <a:xfrm>
            <a:off x="6946265" y="3246755"/>
            <a:ext cx="4915535" cy="3196590"/>
          </a:xfrm>
          <a:prstGeom prst="rect">
            <a:avLst/>
          </a:prstGeom>
          <a:noFill/>
          <a:ln w="9525">
            <a:noFill/>
          </a:ln>
        </p:spPr>
      </p:pic>
      <p:sp>
        <p:nvSpPr>
          <p:cNvPr id="3" name="文本框 2"/>
          <p:cNvSpPr txBox="1"/>
          <p:nvPr>
            <p:custDataLst>
              <p:tags r:id="rId6"/>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custDataLst>
              <p:tags r:id="rId7"/>
            </p:custDataLst>
          </p:nvPr>
        </p:nvSpPr>
        <p:spPr>
          <a:xfrm>
            <a:off x="371475" y="1106170"/>
            <a:ext cx="228663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04</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 大湖效应</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8"/>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8" presetClass="entr" presetSubtype="0" accel="50000" fill="hold" grpId="0" nodeType="withEffect">
                                  <p:stCondLst>
                                    <p:cond delay="0"/>
                                  </p:stCondLst>
                                  <p:childTnLst>
                                    <p:set>
                                      <p:cBhvr>
                                        <p:cTn id="6" dur="1" fill="hold">
                                          <p:stCondLst>
                                            <p:cond delay="0"/>
                                          </p:stCondLst>
                                        </p:cTn>
                                        <p:tgtEl>
                                          <p:spTgt spid="169"/>
                                        </p:tgtEl>
                                        <p:attrNameLst>
                                          <p:attrName>style.visibility</p:attrName>
                                        </p:attrNameLst>
                                      </p:cBhvr>
                                      <p:to>
                                        <p:strVal val="visible"/>
                                      </p:to>
                                    </p:set>
                                    <p:anim calcmode="lin" valueType="num">
                                      <p:cBhvr>
                                        <p:cTn id="7" dur="1000" fill="hold"/>
                                        <p:tgtEl>
                                          <p:spTgt spid="169"/>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169"/>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169"/>
                                        </p:tgtEl>
                                        <p:attrNameLst>
                                          <p:attrName>ppt_y</p:attrName>
                                        </p:attrNameLst>
                                      </p:cBhvr>
                                      <p:tavLst>
                                        <p:tav tm="0">
                                          <p:val>
                                            <p:strVal val="#ppt_y"/>
                                          </p:val>
                                        </p:tav>
                                        <p:tav tm="100000">
                                          <p:val>
                                            <p:strVal val="#ppt_y"/>
                                          </p:val>
                                        </p:tav>
                                      </p:tavLst>
                                    </p:anim>
                                    <p:animEffect transition="in" filter="fade">
                                      <p:cBhvr>
                                        <p:cTn id="10" dur="1000"/>
                                        <p:tgtEl>
                                          <p:spTgt spid="169"/>
                                        </p:tgtEl>
                                      </p:cBhvr>
                                    </p:animEffect>
                                  </p:childTnLst>
                                </p:cTn>
                              </p:par>
                              <p:par>
                                <p:cTn id="11" presetID="48" presetClass="entr" presetSubtype="0" accel="50000" fill="hold" nodeType="withEffect">
                                  <p:stCondLst>
                                    <p:cond delay="0"/>
                                  </p:stCondLst>
                                  <p:childTnLst>
                                    <p:set>
                                      <p:cBhvr>
                                        <p:cTn id="12" dur="1" fill="hold">
                                          <p:stCondLst>
                                            <p:cond delay="0"/>
                                          </p:stCondLst>
                                        </p:cTn>
                                        <p:tgtEl>
                                          <p:spTgt spid="101"/>
                                        </p:tgtEl>
                                        <p:attrNameLst>
                                          <p:attrName>style.visibility</p:attrName>
                                        </p:attrNameLst>
                                      </p:cBhvr>
                                      <p:to>
                                        <p:strVal val="visible"/>
                                      </p:to>
                                    </p:set>
                                    <p:anim calcmode="lin" valueType="num">
                                      <p:cBhvr>
                                        <p:cTn id="13" dur="1000" fill="hold"/>
                                        <p:tgtEl>
                                          <p:spTgt spid="101"/>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4" dur="1000" fill="hold"/>
                                        <p:tgtEl>
                                          <p:spTgt spid="101"/>
                                        </p:tgtEl>
                                        <p:attrNameLst>
                                          <p:attrName>ppt_x</p:attrName>
                                        </p:attrNameLst>
                                      </p:cBhvr>
                                      <p:tavLst>
                                        <p:tav tm="0">
                                          <p:val>
                                            <p:fltVal val="-1"/>
                                          </p:val>
                                        </p:tav>
                                        <p:tav tm="50000">
                                          <p:val>
                                            <p:fltVal val="0.95"/>
                                          </p:val>
                                        </p:tav>
                                        <p:tav tm="100000">
                                          <p:val>
                                            <p:strVal val="#ppt_x"/>
                                          </p:val>
                                        </p:tav>
                                      </p:tavLst>
                                    </p:anim>
                                    <p:anim calcmode="lin" valueType="num">
                                      <p:cBhvr>
                                        <p:cTn id="15" dur="1000" fill="hold"/>
                                        <p:tgtEl>
                                          <p:spTgt spid="101"/>
                                        </p:tgtEl>
                                        <p:attrNameLst>
                                          <p:attrName>ppt_y</p:attrName>
                                        </p:attrNameLst>
                                      </p:cBhvr>
                                      <p:tavLst>
                                        <p:tav tm="0">
                                          <p:val>
                                            <p:strVal val="#ppt_y"/>
                                          </p:val>
                                        </p:tav>
                                        <p:tav tm="100000">
                                          <p:val>
                                            <p:strVal val="#ppt_y"/>
                                          </p:val>
                                        </p:tav>
                                      </p:tavLst>
                                    </p:anim>
                                    <p:animEffect transition="in" filter="fade">
                                      <p:cBhvr>
                                        <p:cTn id="16" dur="1000"/>
                                        <p:tgtEl>
                                          <p:spTgt spid="101"/>
                                        </p:tgtEl>
                                      </p:cBhvr>
                                    </p:animEffect>
                                  </p:childTnLst>
                                </p:cTn>
                              </p:par>
                              <p:par>
                                <p:cTn id="17" presetID="48" presetClass="entr" presetSubtype="0" accel="50000" fill="hold" nodeType="withEffect">
                                  <p:stCondLst>
                                    <p:cond delay="0"/>
                                  </p:stCondLst>
                                  <p:childTnLst>
                                    <p:set>
                                      <p:cBhvr>
                                        <p:cTn id="18" dur="1" fill="hold">
                                          <p:stCondLst>
                                            <p:cond delay="0"/>
                                          </p:stCondLst>
                                        </p:cTn>
                                        <p:tgtEl>
                                          <p:spTgt spid="102"/>
                                        </p:tgtEl>
                                        <p:attrNameLst>
                                          <p:attrName>style.visibility</p:attrName>
                                        </p:attrNameLst>
                                      </p:cBhvr>
                                      <p:to>
                                        <p:strVal val="visible"/>
                                      </p:to>
                                    </p:set>
                                    <p:anim calcmode="lin" valueType="num">
                                      <p:cBhvr>
                                        <p:cTn id="19" dur="1000" fill="hold"/>
                                        <p:tgtEl>
                                          <p:spTgt spid="102"/>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20" dur="1000" fill="hold"/>
                                        <p:tgtEl>
                                          <p:spTgt spid="102"/>
                                        </p:tgtEl>
                                        <p:attrNameLst>
                                          <p:attrName>ppt_x</p:attrName>
                                        </p:attrNameLst>
                                      </p:cBhvr>
                                      <p:tavLst>
                                        <p:tav tm="0">
                                          <p:val>
                                            <p:fltVal val="-1"/>
                                          </p:val>
                                        </p:tav>
                                        <p:tav tm="50000">
                                          <p:val>
                                            <p:fltVal val="0.95"/>
                                          </p:val>
                                        </p:tav>
                                        <p:tav tm="100000">
                                          <p:val>
                                            <p:strVal val="#ppt_x"/>
                                          </p:val>
                                        </p:tav>
                                      </p:tavLst>
                                    </p:anim>
                                    <p:anim calcmode="lin" valueType="num">
                                      <p:cBhvr>
                                        <p:cTn id="21" dur="1000" fill="hold"/>
                                        <p:tgtEl>
                                          <p:spTgt spid="102"/>
                                        </p:tgtEl>
                                        <p:attrNameLst>
                                          <p:attrName>ppt_y</p:attrName>
                                        </p:attrNameLst>
                                      </p:cBhvr>
                                      <p:tavLst>
                                        <p:tav tm="0">
                                          <p:val>
                                            <p:strVal val="#ppt_y"/>
                                          </p:val>
                                        </p:tav>
                                        <p:tav tm="100000">
                                          <p:val>
                                            <p:strVal val="#ppt_y"/>
                                          </p:val>
                                        </p:tav>
                                      </p:tavLst>
                                    </p:anim>
                                    <p:animEffect transition="in" filter="fade">
                                      <p:cBhvr>
                                        <p:cTn id="22" dur="10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矩形 168"/>
          <p:cNvSpPr/>
          <p:nvPr>
            <p:custDataLst>
              <p:tags r:id="rId1"/>
            </p:custDataLst>
          </p:nvPr>
        </p:nvSpPr>
        <p:spPr>
          <a:xfrm>
            <a:off x="365760" y="1597025"/>
            <a:ext cx="11460480" cy="2334260"/>
          </a:xfrm>
          <a:prstGeom prst="rect">
            <a:avLst/>
          </a:prstGeom>
          <a:solidFill>
            <a:schemeClr val="accent3">
              <a:lumMod val="20000"/>
              <a:lumOff val="80000"/>
            </a:schemeClr>
          </a:solidFill>
          <a:ln>
            <a:solidFill>
              <a:schemeClr val="tx1"/>
            </a:solidFill>
            <a:prstDash val="dash"/>
          </a:ln>
        </p:spPr>
        <p:txBody>
          <a:bodyPr wrap="square">
            <a:noAutofit/>
          </a:bodyPr>
          <a:lstStyle/>
          <a:p>
            <a:pPr marL="342900" lvl="0" indent="-342900" algn="just">
              <a:lnSpc>
                <a:spcPct val="130000"/>
              </a:lnSpc>
              <a:buClrTx/>
              <a:buSzTx/>
              <a:buFont typeface="Wingdings" panose="05000000000000000000" pitchFamily="2" charset="2"/>
              <a:buChar char="Ø"/>
              <a:defRPr/>
            </a:pPr>
            <a:r>
              <a:rPr lang="zh-CN" sz="2200">
                <a:latin typeface="微软雅黑" panose="020B0503020204020204" charset="-122"/>
                <a:ea typeface="微软雅黑" panose="020B0503020204020204" charset="-122"/>
                <a:sym typeface="+mn-ea"/>
              </a:rPr>
              <a:t>全球各地均会出现不同程度的“大湖效应”，但就世界范围来看，有</a:t>
            </a:r>
            <a:r>
              <a:rPr lang="zh-CN" sz="2200" b="1">
                <a:solidFill>
                  <a:srgbClr val="0026E5"/>
                </a:solidFill>
                <a:latin typeface="微软雅黑" panose="020B0503020204020204" charset="-122"/>
                <a:ea typeface="微软雅黑" panose="020B0503020204020204" charset="-122"/>
                <a:sym typeface="+mn-ea"/>
              </a:rPr>
              <a:t>三个地方最为典型：北美五大湖地区、哈德逊湾东岸、日本本州岛和北海道的西海岸</a:t>
            </a:r>
            <a:r>
              <a:rPr lang="zh-CN" sz="2200">
                <a:latin typeface="微软雅黑" panose="020B0503020204020204" charset="-122"/>
                <a:ea typeface="微软雅黑" panose="020B0503020204020204" charset="-122"/>
                <a:sym typeface="+mn-ea"/>
              </a:rPr>
              <a:t>。在我国</a:t>
            </a:r>
            <a:r>
              <a:rPr lang="zh-CN" sz="2200" b="1">
                <a:solidFill>
                  <a:srgbClr val="0026E5"/>
                </a:solidFill>
                <a:latin typeface="微软雅黑" panose="020B0503020204020204" charset="-122"/>
                <a:ea typeface="微软雅黑" panose="020B0503020204020204" charset="-122"/>
                <a:sym typeface="+mn-ea"/>
              </a:rPr>
              <a:t>山东半岛北部也会有“大湖效应”降雪</a:t>
            </a:r>
            <a:r>
              <a:rPr lang="zh-CN" sz="2200">
                <a:latin typeface="微软雅黑" panose="020B0503020204020204" charset="-122"/>
                <a:ea typeface="微软雅黑" panose="020B0503020204020204" charset="-122"/>
                <a:sym typeface="+mn-ea"/>
              </a:rPr>
              <a:t>，但是比以上三个地区都要弱。冬季，来自西伯利亚的冷空气经过相对温暖潮湿的海面抵达山东半岛北部，在山东半岛丘陵地形抬升的作用下，使其北部沿海降雪加强，引发暴风雪，山东半岛北部素有“雪窝子”的称呼。</a:t>
            </a:r>
            <a:endParaRPr lang="zh-CN" sz="2200">
              <a:latin typeface="微软雅黑" panose="020B0503020204020204" charset="-122"/>
              <a:ea typeface="微软雅黑" panose="020B0503020204020204" charset="-122"/>
              <a:sym typeface="+mn-ea"/>
            </a:endParaRPr>
          </a:p>
        </p:txBody>
      </p:sp>
      <p:grpSp>
        <p:nvGrpSpPr>
          <p:cNvPr id="6" name="组合 5"/>
          <p:cNvGrpSpPr/>
          <p:nvPr>
            <p:custDataLst>
              <p:tags r:id="rId2"/>
            </p:custDataLst>
          </p:nvPr>
        </p:nvGrpSpPr>
        <p:grpSpPr>
          <a:xfrm>
            <a:off x="1578610" y="3990975"/>
            <a:ext cx="9304655" cy="2564765"/>
            <a:chOff x="2486" y="6285"/>
            <a:chExt cx="14653" cy="4039"/>
          </a:xfrm>
        </p:grpSpPr>
        <p:pic>
          <p:nvPicPr>
            <p:cNvPr id="3" name="图片 18" descr="afe70d4a383c9f21e7f98db01a7d2f5"/>
            <p:cNvPicPr>
              <a:picLocks noChangeAspect="1"/>
            </p:cNvPicPr>
            <p:nvPr>
              <p:custDataLst>
                <p:tags r:id="rId3"/>
              </p:custDataLst>
            </p:nvPr>
          </p:nvPicPr>
          <p:blipFill>
            <a:blip r:embed="rId4"/>
            <a:stretch>
              <a:fillRect/>
            </a:stretch>
          </p:blipFill>
          <p:spPr>
            <a:xfrm>
              <a:off x="2486" y="6285"/>
              <a:ext cx="8164" cy="4019"/>
            </a:xfrm>
            <a:prstGeom prst="rect">
              <a:avLst/>
            </a:prstGeom>
          </p:spPr>
        </p:pic>
        <p:pic>
          <p:nvPicPr>
            <p:cNvPr id="5" name="内容占位符 3"/>
            <p:cNvPicPr>
              <a:picLocks noChangeAspect="1"/>
            </p:cNvPicPr>
            <p:nvPr>
              <p:custDataLst>
                <p:tags r:id="rId5"/>
              </p:custDataLst>
            </p:nvPr>
          </p:nvPicPr>
          <p:blipFill>
            <a:blip r:embed="rId6"/>
            <a:srcRect r="5994" b="2988"/>
            <a:stretch>
              <a:fillRect/>
            </a:stretch>
          </p:blipFill>
          <p:spPr>
            <a:xfrm>
              <a:off x="11405" y="6286"/>
              <a:ext cx="5735" cy="4039"/>
            </a:xfrm>
            <a:prstGeom prst="rect">
              <a:avLst/>
            </a:prstGeom>
          </p:spPr>
        </p:pic>
      </p:grpSp>
      <p:sp>
        <p:nvSpPr>
          <p:cNvPr id="7" name="文本框 6"/>
          <p:cNvSpPr txBox="1"/>
          <p:nvPr>
            <p:custDataLst>
              <p:tags r:id="rId7"/>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custDataLst>
              <p:tags r:id="rId8"/>
            </p:custDataLst>
          </p:nvPr>
        </p:nvSpPr>
        <p:spPr>
          <a:xfrm>
            <a:off x="371475" y="1066165"/>
            <a:ext cx="228663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04</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 大湖效应</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8" presetClass="entr" presetSubtype="0" accel="50000" fill="hold" grpId="0" nodeType="withEffect">
                                  <p:stCondLst>
                                    <p:cond delay="0"/>
                                  </p:stCondLst>
                                  <p:childTnLst>
                                    <p:set>
                                      <p:cBhvr>
                                        <p:cTn id="6" dur="1" fill="hold">
                                          <p:stCondLst>
                                            <p:cond delay="0"/>
                                          </p:stCondLst>
                                        </p:cTn>
                                        <p:tgtEl>
                                          <p:spTgt spid="169"/>
                                        </p:tgtEl>
                                        <p:attrNameLst>
                                          <p:attrName>style.visibility</p:attrName>
                                        </p:attrNameLst>
                                      </p:cBhvr>
                                      <p:to>
                                        <p:strVal val="visible"/>
                                      </p:to>
                                    </p:set>
                                    <p:anim calcmode="lin" valueType="num">
                                      <p:cBhvr>
                                        <p:cTn id="7" dur="1000" fill="hold"/>
                                        <p:tgtEl>
                                          <p:spTgt spid="169"/>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169"/>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169"/>
                                        </p:tgtEl>
                                        <p:attrNameLst>
                                          <p:attrName>ppt_y</p:attrName>
                                        </p:attrNameLst>
                                      </p:cBhvr>
                                      <p:tavLst>
                                        <p:tav tm="0">
                                          <p:val>
                                            <p:strVal val="#ppt_y"/>
                                          </p:val>
                                        </p:tav>
                                        <p:tav tm="100000">
                                          <p:val>
                                            <p:strVal val="#ppt_y"/>
                                          </p:val>
                                        </p:tav>
                                      </p:tavLst>
                                    </p:anim>
                                    <p:animEffect transition="in" filter="fade">
                                      <p:cBhvr>
                                        <p:cTn id="10" dur="10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411798" y="1631315"/>
            <a:ext cx="11368405" cy="4849495"/>
          </a:xfrm>
          <a:prstGeom prst="rect">
            <a:avLst/>
          </a:prstGeom>
          <a:solidFill>
            <a:schemeClr val="accent3">
              <a:lumMod val="20000"/>
              <a:lumOff val="80000"/>
            </a:schemeClr>
          </a:solidFill>
          <a:ln>
            <a:solidFill>
              <a:schemeClr val="tx1"/>
            </a:solidFill>
            <a:prstDash val="dash"/>
          </a:ln>
        </p:spPr>
        <p:txBody>
          <a:bodyPr wrap="square" rtlCol="0" anchor="t">
            <a:noAutofit/>
          </a:bodyPr>
          <a:lstStyle/>
          <a:p>
            <a:pPr marL="342900" lvl="0" indent="-342900" algn="just">
              <a:lnSpc>
                <a:spcPct val="130000"/>
              </a:lnSpc>
              <a:buClrTx/>
              <a:buSzTx/>
              <a:buFont typeface="Wingdings" panose="05000000000000000000" pitchFamily="2" charset="2"/>
              <a:buChar char="Ø"/>
              <a:defRPr/>
            </a:pPr>
            <a:r>
              <a:rPr lang="zh-CN" sz="2400">
                <a:latin typeface="微软雅黑" panose="020B0503020204020204" charset="-122"/>
                <a:ea typeface="微软雅黑" panose="020B0503020204020204" charset="-122"/>
                <a:sym typeface="+mn-ea"/>
              </a:rPr>
              <a:t>在大湖效应的形成过程中，需要</a:t>
            </a:r>
            <a:r>
              <a:rPr lang="zh-CN" sz="2400" b="1">
                <a:solidFill>
                  <a:srgbClr val="0026E5"/>
                </a:solidFill>
                <a:latin typeface="微软雅黑" panose="020B0503020204020204" charset="-122"/>
                <a:ea typeface="微软雅黑" panose="020B0503020204020204" charset="-122"/>
                <a:sym typeface="+mn-ea"/>
              </a:rPr>
              <a:t>同时满足三个条件</a:t>
            </a:r>
            <a:r>
              <a:rPr lang="zh-CN" sz="2400">
                <a:latin typeface="微软雅黑" panose="020B0503020204020204" charset="-122"/>
                <a:ea typeface="微软雅黑" panose="020B0503020204020204" charset="-122"/>
                <a:sym typeface="+mn-ea"/>
              </a:rPr>
              <a:t>：</a:t>
            </a:r>
            <a:endParaRPr lang="zh-CN" sz="2400">
              <a:latin typeface="微软雅黑" panose="020B0503020204020204" charset="-122"/>
              <a:ea typeface="微软雅黑" panose="020B0503020204020204" charset="-122"/>
              <a:sym typeface="+mn-ea"/>
            </a:endParaRPr>
          </a:p>
          <a:p>
            <a:pPr marL="342900" lvl="0" indent="-342900" algn="just">
              <a:lnSpc>
                <a:spcPct val="130000"/>
              </a:lnSpc>
              <a:buClrTx/>
              <a:buSzTx/>
              <a:buFont typeface="Wingdings" panose="05000000000000000000" pitchFamily="2" charset="2"/>
              <a:buChar char="Ø"/>
              <a:defRPr/>
            </a:pPr>
            <a:r>
              <a:rPr lang="zh-CN" sz="2400">
                <a:latin typeface="微软雅黑" panose="020B0503020204020204" charset="-122"/>
                <a:ea typeface="微软雅黑" panose="020B0503020204020204" charset="-122"/>
                <a:sym typeface="+mn-ea"/>
              </a:rPr>
              <a:t>①</a:t>
            </a:r>
            <a:r>
              <a:rPr lang="zh-CN" sz="2400" b="1">
                <a:solidFill>
                  <a:srgbClr val="0026E5"/>
                </a:solidFill>
                <a:latin typeface="微软雅黑" panose="020B0503020204020204" charset="-122"/>
                <a:ea typeface="微软雅黑" panose="020B0503020204020204" charset="-122"/>
                <a:sym typeface="+mn-ea"/>
              </a:rPr>
              <a:t>来自于高纬的冷空气</a:t>
            </a:r>
            <a:r>
              <a:rPr lang="zh-CN" sz="2400">
                <a:latin typeface="微软雅黑" panose="020B0503020204020204" charset="-122"/>
                <a:ea typeface="微软雅黑" panose="020B0503020204020204" charset="-122"/>
                <a:sym typeface="+mn-ea"/>
              </a:rPr>
              <a:t>。这种冷空气含有的水汽较少，一般不能造成大范围的降水；</a:t>
            </a:r>
            <a:endParaRPr lang="zh-CN" sz="2400">
              <a:latin typeface="微软雅黑" panose="020B0503020204020204" charset="-122"/>
              <a:ea typeface="微软雅黑" panose="020B0503020204020204" charset="-122"/>
              <a:sym typeface="+mn-ea"/>
            </a:endParaRPr>
          </a:p>
          <a:p>
            <a:pPr marL="342900" lvl="0" indent="-342900" algn="just">
              <a:lnSpc>
                <a:spcPct val="130000"/>
              </a:lnSpc>
              <a:buClrTx/>
              <a:buSzTx/>
              <a:buFont typeface="Wingdings" panose="05000000000000000000" pitchFamily="2" charset="2"/>
              <a:buChar char="Ø"/>
              <a:defRPr/>
            </a:pPr>
            <a:r>
              <a:rPr lang="zh-CN" sz="2400">
                <a:latin typeface="微软雅黑" panose="020B0503020204020204" charset="-122"/>
                <a:ea typeface="微软雅黑" panose="020B0503020204020204" charset="-122"/>
                <a:sym typeface="+mn-ea"/>
              </a:rPr>
              <a:t>②</a:t>
            </a:r>
            <a:r>
              <a:rPr lang="zh-CN" sz="2400" b="1">
                <a:solidFill>
                  <a:srgbClr val="0026E5"/>
                </a:solidFill>
                <a:latin typeface="微软雅黑" panose="020B0503020204020204" charset="-122"/>
                <a:ea typeface="微软雅黑" panose="020B0503020204020204" charset="-122"/>
                <a:sym typeface="+mn-ea"/>
              </a:rPr>
              <a:t>未结冰的水面</a:t>
            </a:r>
            <a:r>
              <a:rPr lang="zh-CN" sz="2400">
                <a:latin typeface="微软雅黑" panose="020B0503020204020204" charset="-122"/>
                <a:ea typeface="微软雅黑" panose="020B0503020204020204" charset="-122"/>
                <a:sym typeface="+mn-ea"/>
              </a:rPr>
              <a:t>，可以为冷空气提供充足的水汽和热能，使原先的冷空气“变性”—形成较为暖湿的气流；</a:t>
            </a:r>
            <a:endParaRPr lang="zh-CN" sz="2400">
              <a:latin typeface="微软雅黑" panose="020B0503020204020204" charset="-122"/>
              <a:ea typeface="微软雅黑" panose="020B0503020204020204" charset="-122"/>
              <a:sym typeface="+mn-ea"/>
            </a:endParaRPr>
          </a:p>
          <a:p>
            <a:pPr marL="342900" lvl="0" indent="-342900" algn="just">
              <a:lnSpc>
                <a:spcPct val="130000"/>
              </a:lnSpc>
              <a:buClrTx/>
              <a:buSzTx/>
              <a:buFont typeface="Wingdings" panose="05000000000000000000" pitchFamily="2" charset="2"/>
              <a:buChar char="Ø"/>
              <a:defRPr/>
            </a:pPr>
            <a:r>
              <a:rPr lang="zh-CN" sz="2400">
                <a:latin typeface="微软雅黑" panose="020B0503020204020204" charset="-122"/>
                <a:ea typeface="微软雅黑" panose="020B0503020204020204" charset="-122"/>
                <a:sym typeface="+mn-ea"/>
              </a:rPr>
              <a:t>③</a:t>
            </a:r>
            <a:r>
              <a:rPr lang="zh-CN" sz="2400" b="1">
                <a:solidFill>
                  <a:srgbClr val="0026E5"/>
                </a:solidFill>
                <a:latin typeface="微软雅黑" panose="020B0503020204020204" charset="-122"/>
                <a:ea typeface="微软雅黑" panose="020B0503020204020204" charset="-122"/>
                <a:sym typeface="+mn-ea"/>
              </a:rPr>
              <a:t>在向风岸遇冷气团或地形的抬升</a:t>
            </a:r>
            <a:r>
              <a:rPr lang="zh-CN" sz="2400">
                <a:latin typeface="微软雅黑" panose="020B0503020204020204" charset="-122"/>
                <a:ea typeface="微软雅黑" panose="020B0503020204020204" charset="-122"/>
                <a:sym typeface="+mn-ea"/>
              </a:rPr>
              <a:t>，这样方便暖湿气流在此凝结并形成降水。</a:t>
            </a:r>
            <a:endParaRPr lang="zh-CN" sz="2400">
              <a:latin typeface="微软雅黑" panose="020B0503020204020204" charset="-122"/>
              <a:ea typeface="微软雅黑" panose="020B0503020204020204" charset="-122"/>
              <a:sym typeface="+mn-ea"/>
            </a:endParaRPr>
          </a:p>
          <a:p>
            <a:pPr marL="342900" lvl="0" indent="-342900" algn="just">
              <a:lnSpc>
                <a:spcPct val="130000"/>
              </a:lnSpc>
              <a:buClrTx/>
              <a:buSzTx/>
              <a:buFont typeface="Wingdings" panose="05000000000000000000" pitchFamily="2" charset="2"/>
              <a:buChar char="Ø"/>
              <a:defRPr/>
            </a:pPr>
            <a:r>
              <a:rPr lang="zh-CN" sz="2400" b="1">
                <a:solidFill>
                  <a:srgbClr val="0026E5"/>
                </a:solidFill>
                <a:latin typeface="微软雅黑" panose="020B0503020204020204" charset="-122"/>
                <a:ea typeface="微软雅黑" panose="020B0503020204020204" charset="-122"/>
                <a:sym typeface="+mn-ea"/>
              </a:rPr>
              <a:t>大湖效应的影响因素:</a:t>
            </a:r>
            <a:endParaRPr lang="zh-CN" sz="2400" b="1">
              <a:solidFill>
                <a:srgbClr val="0026E5"/>
              </a:solidFill>
              <a:latin typeface="微软雅黑" panose="020B0503020204020204" charset="-122"/>
              <a:ea typeface="微软雅黑" panose="020B0503020204020204" charset="-122"/>
              <a:sym typeface="+mn-ea"/>
            </a:endParaRPr>
          </a:p>
          <a:p>
            <a:pPr marL="342900" lvl="0" indent="-342900" algn="just">
              <a:lnSpc>
                <a:spcPct val="130000"/>
              </a:lnSpc>
              <a:buClrTx/>
              <a:buSzTx/>
              <a:buFont typeface="Wingdings" panose="05000000000000000000" pitchFamily="2" charset="2"/>
              <a:buChar char="Ø"/>
              <a:defRPr/>
            </a:pPr>
            <a:r>
              <a:rPr lang="en-US" altLang="zh-CN" sz="2400" b="1">
                <a:solidFill>
                  <a:srgbClr val="7F4BE5"/>
                </a:solidFill>
                <a:latin typeface="微软雅黑" panose="020B0503020204020204" charset="-122"/>
                <a:ea typeface="微软雅黑" panose="020B0503020204020204" charset="-122"/>
                <a:sym typeface="+mn-ea"/>
              </a:rPr>
              <a:t>a</a:t>
            </a:r>
            <a:r>
              <a:rPr lang="zh-CN" sz="2400" b="1">
                <a:solidFill>
                  <a:srgbClr val="7F4BE5"/>
                </a:solidFill>
                <a:latin typeface="微软雅黑" panose="020B0503020204020204" charset="-122"/>
                <a:ea typeface="微软雅黑" panose="020B0503020204020204" charset="-122"/>
                <a:sym typeface="+mn-ea"/>
              </a:rPr>
              <a:t>.水气温差越大，降雪量越大。</a:t>
            </a:r>
            <a:endParaRPr lang="zh-CN" sz="2400" b="1">
              <a:solidFill>
                <a:srgbClr val="7F4BE5"/>
              </a:solidFill>
              <a:latin typeface="微软雅黑" panose="020B0503020204020204" charset="-122"/>
              <a:ea typeface="微软雅黑" panose="020B0503020204020204" charset="-122"/>
              <a:sym typeface="+mn-ea"/>
            </a:endParaRPr>
          </a:p>
          <a:p>
            <a:pPr marL="342900" lvl="0" indent="-342900" algn="just">
              <a:lnSpc>
                <a:spcPct val="130000"/>
              </a:lnSpc>
              <a:buClrTx/>
              <a:buSzTx/>
              <a:buFont typeface="Wingdings" panose="05000000000000000000" pitchFamily="2" charset="2"/>
              <a:buChar char="Ø"/>
              <a:defRPr/>
            </a:pPr>
            <a:r>
              <a:rPr lang="en-US" altLang="zh-CN" sz="2400" b="1">
                <a:solidFill>
                  <a:srgbClr val="7F4BE5"/>
                </a:solidFill>
                <a:latin typeface="微软雅黑" panose="020B0503020204020204" charset="-122"/>
                <a:ea typeface="微软雅黑" panose="020B0503020204020204" charset="-122"/>
                <a:sym typeface="+mn-ea"/>
              </a:rPr>
              <a:t>b</a:t>
            </a:r>
            <a:r>
              <a:rPr lang="zh-CN" sz="2400" b="1">
                <a:solidFill>
                  <a:srgbClr val="7F4BE5"/>
                </a:solidFill>
                <a:latin typeface="微软雅黑" panose="020B0503020204020204" charset="-122"/>
                <a:ea typeface="微软雅黑" panose="020B0503020204020204" charset="-122"/>
                <a:sym typeface="+mn-ea"/>
              </a:rPr>
              <a:t>.掠过的水面越广，降雪量越大。</a:t>
            </a:r>
            <a:endParaRPr lang="zh-CN" sz="2400" b="1">
              <a:solidFill>
                <a:srgbClr val="7F4BE5"/>
              </a:solidFill>
              <a:latin typeface="微软雅黑" panose="020B0503020204020204" charset="-122"/>
              <a:ea typeface="微软雅黑" panose="020B0503020204020204" charset="-122"/>
              <a:sym typeface="+mn-ea"/>
            </a:endParaRPr>
          </a:p>
          <a:p>
            <a:pPr marL="342900" lvl="0" indent="-342900" algn="just">
              <a:lnSpc>
                <a:spcPct val="130000"/>
              </a:lnSpc>
              <a:buClrTx/>
              <a:buSzTx/>
              <a:buFont typeface="Wingdings" panose="05000000000000000000" pitchFamily="2" charset="2"/>
              <a:buChar char="Ø"/>
              <a:defRPr/>
            </a:pPr>
            <a:r>
              <a:rPr lang="en-US" altLang="zh-CN" sz="2400" b="1">
                <a:solidFill>
                  <a:srgbClr val="7F4BE5"/>
                </a:solidFill>
                <a:latin typeface="微软雅黑" panose="020B0503020204020204" charset="-122"/>
                <a:ea typeface="微软雅黑" panose="020B0503020204020204" charset="-122"/>
                <a:sym typeface="+mn-ea"/>
              </a:rPr>
              <a:t>c</a:t>
            </a:r>
            <a:r>
              <a:rPr lang="zh-CN" sz="2400" b="1">
                <a:solidFill>
                  <a:srgbClr val="7F4BE5"/>
                </a:solidFill>
                <a:latin typeface="微软雅黑" panose="020B0503020204020204" charset="-122"/>
                <a:ea typeface="微软雅黑" panose="020B0503020204020204" charset="-122"/>
                <a:sym typeface="+mn-ea"/>
              </a:rPr>
              <a:t>.略过水面后抬升幅度越大，降雪量越大。</a:t>
            </a:r>
            <a:endParaRPr lang="zh-CN" sz="2400">
              <a:latin typeface="微软雅黑" panose="020B0503020204020204" charset="-122"/>
              <a:ea typeface="微软雅黑" panose="020B0503020204020204" charset="-122"/>
              <a:sym typeface="+mn-ea"/>
            </a:endParaRPr>
          </a:p>
          <a:p>
            <a:pPr marL="342900" lvl="0" indent="-342900" algn="just">
              <a:lnSpc>
                <a:spcPct val="140000"/>
              </a:lnSpc>
              <a:buClrTx/>
              <a:buSzTx/>
              <a:buFont typeface="Wingdings" panose="05000000000000000000" pitchFamily="2" charset="2"/>
              <a:buChar char="Ø"/>
              <a:defRPr/>
            </a:pPr>
            <a:endParaRPr lang="zh-CN" sz="2400">
              <a:latin typeface="微软雅黑" panose="020B0503020204020204" charset="-122"/>
              <a:ea typeface="微软雅黑" panose="020B0503020204020204" charset="-122"/>
              <a:sym typeface="+mn-ea"/>
            </a:endParaRPr>
          </a:p>
        </p:txBody>
      </p:sp>
      <p:sp>
        <p:nvSpPr>
          <p:cNvPr id="7" name="文本框 6"/>
          <p:cNvSpPr txBox="1"/>
          <p:nvPr>
            <p:custDataLst>
              <p:tags r:id="rId2"/>
            </p:custDataLst>
          </p:nvPr>
        </p:nvSpPr>
        <p:spPr>
          <a:xfrm>
            <a:off x="1255395" y="262890"/>
            <a:ext cx="4300220" cy="734060"/>
          </a:xfrm>
          <a:prstGeom prst="rect">
            <a:avLst/>
          </a:prstGeom>
          <a:noFill/>
        </p:spPr>
        <p:txBody>
          <a:bodyPr wrap="none" lIns="0" tIns="0" rIns="0" bIns="0" rtlCol="0">
            <a:noAutofit/>
            <a:scene3d>
              <a:camera prst="orthographicFront"/>
              <a:lightRig rig="threePt" dir="t"/>
            </a:scene3d>
          </a:bodyPr>
          <a:lstStyle/>
          <a:p>
            <a:r>
              <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热点应用</a:t>
            </a:r>
            <a:endParaRPr lang="zh-CN" altLang="en-US" sz="4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custDataLst>
              <p:tags r:id="rId3"/>
            </p:custDataLst>
          </p:nvPr>
        </p:nvSpPr>
        <p:spPr>
          <a:xfrm>
            <a:off x="371475" y="1066165"/>
            <a:ext cx="2286635" cy="521970"/>
          </a:xfrm>
          <a:prstGeom prst="rect">
            <a:avLst/>
          </a:prstGeom>
          <a:noFill/>
        </p:spPr>
        <p:txBody>
          <a:bodyPr wrap="square" rtlCol="0">
            <a:spAutoFit/>
          </a:bodyPr>
          <a:lstStyle/>
          <a:p>
            <a:r>
              <a:rPr lang="en-US" altLang="zh-CN"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04</a:t>
            </a:r>
            <a:r>
              <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rPr>
              <a:t> 大湖效应</a:t>
            </a:r>
            <a:endParaRPr lang="zh-CN" altLang="en-US" sz="28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charset="-122"/>
              <a:ea typeface="微软雅黑" panose="020B0503020204020204" charset="-122"/>
              <a:cs typeface="微软雅黑" panose="020B0503020204020204" charset="-122"/>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left)">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wipe(left)">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wipe(left)">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endParaRPr lang="zh-CN"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AS_UNIQUEID" val="6216"/>
</p:tagLst>
</file>

<file path=ppt/tags/tag64.xml><?xml version="1.0" encoding="utf-8"?>
<p:tagLst xmlns:p="http://schemas.openxmlformats.org/presentationml/2006/main">
  <p:tag name="AS_UNIQUEID" val="6217"/>
</p:tagLst>
</file>

<file path=ppt/tags/tag65.xml><?xml version="1.0" encoding="utf-8"?>
<p:tagLst xmlns:p="http://schemas.openxmlformats.org/presentationml/2006/main">
  <p:tag name="AS_UNIQUEID" val="6218"/>
</p:tagLst>
</file>

<file path=ppt/tags/tag66.xml><?xml version="1.0" encoding="utf-8"?>
<p:tagLst xmlns:p="http://schemas.openxmlformats.org/presentationml/2006/main">
  <p:tag name="AS_UNIQUEID" val="6219"/>
</p:tagLst>
</file>

<file path=ppt/tags/tag67.xml><?xml version="1.0" encoding="utf-8"?>
<p:tagLst xmlns:p="http://schemas.openxmlformats.org/presentationml/2006/main">
  <p:tag name="AS_UNIQUEID" val="6220"/>
</p:tagLst>
</file>

<file path=ppt/tags/tag68.xml><?xml version="1.0" encoding="utf-8"?>
<p:tagLst xmlns:p="http://schemas.openxmlformats.org/presentationml/2006/main">
  <p:tag name="AS_UNIQUEID" val="6221"/>
</p:tagLst>
</file>

<file path=ppt/tags/tag69.xml><?xml version="1.0" encoding="utf-8"?>
<p:tagLst xmlns:p="http://schemas.openxmlformats.org/presentationml/2006/main">
  <p:tag name="AS_UNIQUEID" val="6222"/>
  <p:tag name="KSO_WM_BEAUTIFY_FLAG" val=""/>
</p:tagLst>
</file>

<file path=ppt/tags/tag70.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71.xml><?xml version="1.0" encoding="utf-8"?>
<p:tagLst xmlns:p="http://schemas.openxmlformats.org/presentationml/2006/main">
  <p:tag name="AS_UNIQUEID" val="529"/>
</p:tagLst>
</file>

<file path=ppt/tags/tag72.xml><?xml version="1.0" encoding="utf-8"?>
<p:tagLst xmlns:p="http://schemas.openxmlformats.org/presentationml/2006/main">
  <p:tag name="AS_UNIQUEID" val="530"/>
</p:tagLst>
</file>

<file path=ppt/tags/tag73.xml><?xml version="1.0" encoding="utf-8"?>
<p:tagLst xmlns:p="http://schemas.openxmlformats.org/presentationml/2006/main">
  <p:tag name="AS_UNIQUEID" val="531"/>
</p:tagLst>
</file>

<file path=ppt/tags/tag74.xml><?xml version="1.0" encoding="utf-8"?>
<p:tagLst xmlns:p="http://schemas.openxmlformats.org/presentationml/2006/main">
  <p:tag name="AS_UNIQUEID" val="532"/>
</p:tagLst>
</file>

<file path=ppt/tags/tag75.xml><?xml version="1.0" encoding="utf-8"?>
<p:tagLst xmlns:p="http://schemas.openxmlformats.org/presentationml/2006/main">
  <p:tag name="AS_UNIQUEID" val="533"/>
</p:tagLst>
</file>

<file path=ppt/tags/tag76.xml><?xml version="1.0" encoding="utf-8"?>
<p:tagLst xmlns:p="http://schemas.openxmlformats.org/presentationml/2006/main">
  <p:tag name="AS_UNIQUEID" val="534"/>
</p:tagLst>
</file>

<file path=ppt/tags/tag77.xml><?xml version="1.0" encoding="utf-8"?>
<p:tagLst xmlns:p="http://schemas.openxmlformats.org/presentationml/2006/main">
  <p:tag name="AS_UNIQUEID" val="535"/>
</p:tagLst>
</file>

<file path=ppt/tags/tag78.xml><?xml version="1.0" encoding="utf-8"?>
<p:tagLst xmlns:p="http://schemas.openxmlformats.org/presentationml/2006/main">
  <p:tag name="AS_UNIQUEID" val="536"/>
</p:tagLst>
</file>

<file path=ppt/tags/tag79.xml><?xml version="1.0" encoding="utf-8"?>
<p:tagLst xmlns:p="http://schemas.openxmlformats.org/presentationml/2006/main">
  <p:tag name="AS_UNIQUEID" val="537"/>
</p:tagLst>
</file>

<file path=ppt/tags/tag80.xml><?xml version="1.0" encoding="utf-8"?>
<p:tagLst xmlns:p="http://schemas.openxmlformats.org/presentationml/2006/main">
  <p:tag name="AS_UNIQUEID" val="538"/>
</p:tagLst>
</file>

<file path=ppt/tags/tag81.xml><?xml version="1.0" encoding="utf-8"?>
<p:tagLst xmlns:p="http://schemas.openxmlformats.org/presentationml/2006/main">
  <p:tag name="AS_UNIQUEID" val="539"/>
</p:tagLst>
</file>

<file path=ppt/tags/tag82.xml><?xml version="1.0" encoding="utf-8"?>
<p:tagLst xmlns:p="http://schemas.openxmlformats.org/presentationml/2006/main">
  <p:tag name="AS_UNIQUEID" val="540"/>
</p:tagLst>
</file>

<file path=ppt/tags/tag83.xml><?xml version="1.0" encoding="utf-8"?>
<p:tagLst xmlns:p="http://schemas.openxmlformats.org/presentationml/2006/main">
  <p:tag name="AS_UNIQUEID" val="541"/>
</p:tagLst>
</file>

<file path=ppt/tags/tag84.xml><?xml version="1.0" encoding="utf-8"?>
<p:tagLst xmlns:p="http://schemas.openxmlformats.org/presentationml/2006/main">
  <p:tag name="AS_UNIQUEID" val="542"/>
</p:tagLst>
</file>

<file path=ppt/tags/tag85.xml><?xml version="1.0" encoding="utf-8"?>
<p:tagLst xmlns:p="http://schemas.openxmlformats.org/presentationml/2006/main">
  <p:tag name="AS_UNIQUEID" val="543"/>
</p:tagLst>
</file>

<file path=ppt/tags/tag86.xml><?xml version="1.0" encoding="utf-8"?>
<p:tagLst xmlns:p="http://schemas.openxmlformats.org/presentationml/2006/main">
  <p:tag name="AS_UNIQUEID" val="544"/>
</p:tagLst>
</file>

<file path=ppt/tags/tag87.xml><?xml version="1.0" encoding="utf-8"?>
<p:tagLst xmlns:p="http://schemas.openxmlformats.org/presentationml/2006/main">
  <p:tag name="AS_UNIQUEID" val="545"/>
</p:tagLst>
</file>

<file path=ppt/tags/tag88.xml><?xml version="1.0" encoding="utf-8"?>
<p:tagLst xmlns:p="http://schemas.openxmlformats.org/presentationml/2006/main">
  <p:tag name="AS_UNIQUEID" val="546"/>
</p:tagLst>
</file>

<file path=ppt/tags/tag89.xml><?xml version="1.0" encoding="utf-8"?>
<p:tagLst xmlns:p="http://schemas.openxmlformats.org/presentationml/2006/main">
  <p:tag name="AS_UNIQUEID" val="547"/>
</p:tagLst>
</file>

<file path=ppt/tags/tag90.xml><?xml version="1.0" encoding="utf-8"?>
<p:tagLst xmlns:p="http://schemas.openxmlformats.org/presentationml/2006/main">
  <p:tag name="AS_UNIQUEID" val="548"/>
</p:tagLst>
</file>

<file path=ppt/tags/tag91.xml><?xml version="1.0" encoding="utf-8"?>
<p:tagLst xmlns:p="http://schemas.openxmlformats.org/presentationml/2006/main">
  <p:tag name="AS_UNIQUEID" val="549"/>
</p:tagLst>
</file>

<file path=ppt/tags/tag92.xml><?xml version="1.0" encoding="utf-8"?>
<p:tagLst xmlns:p="http://schemas.openxmlformats.org/presentationml/2006/main">
  <p:tag name="AS_UNIQUEID" val="550"/>
</p:tagLst>
</file>

<file path=ppt/tags/tag93.xml><?xml version="1.0" encoding="utf-8"?>
<p:tagLst xmlns:p="http://schemas.openxmlformats.org/presentationml/2006/main">
  <p:tag name="AS_UNIQUEID" val="551"/>
</p:tagLst>
</file>

<file path=ppt/tags/tag94.xml><?xml version="1.0" encoding="utf-8"?>
<p:tagLst xmlns:p="http://schemas.openxmlformats.org/presentationml/2006/main">
  <p:tag name="AS_UNIQUEID" val="552"/>
</p:tagLst>
</file>

<file path=ppt/tags/tag95.xml><?xml version="1.0" encoding="utf-8"?>
<p:tagLst xmlns:p="http://schemas.openxmlformats.org/presentationml/2006/main">
  <p:tag name="AS_UNIQUEID" val="553"/>
</p:tagLst>
</file>

<file path=ppt/tags/tag96.xml><?xml version="1.0" encoding="utf-8"?>
<p:tagLst xmlns:p="http://schemas.openxmlformats.org/presentationml/2006/main">
  <p:tag name="AS_UNIQUEID" val="554"/>
</p:tagLst>
</file>

<file path=ppt/tags/tag97.xml><?xml version="1.0" encoding="utf-8"?>
<p:tagLst xmlns:p="http://schemas.openxmlformats.org/presentationml/2006/main">
  <p:tag name="AS_UNIQUEID" val="6224"/>
</p:tagLst>
</file>

<file path=ppt/tags/tag98.xml><?xml version="1.0" encoding="utf-8"?>
<p:tagLst xmlns:p="http://schemas.openxmlformats.org/presentationml/2006/main">
  <p:tag name="AS_UNIQUEID" val="6225"/>
</p:tagLst>
</file>

<file path=ppt/tags/tag99.xml><?xml version="1.0" encoding="utf-8"?>
<p:tagLst xmlns:p="http://schemas.openxmlformats.org/presentationml/2006/main">
  <p:tag name="ISLIDE.ICON" val="#373512;#373513;#399193;#32459;"/>
</p:tagLst>
</file>

<file path=ppt/tags/tag100.xml><?xml version="1.0" encoding="utf-8"?>
<p:tagLst xmlns:p="http://schemas.openxmlformats.org/presentationml/2006/main">
  <p:tag name="AS_UNIQUEID" val="559"/>
</p:tagLst>
</file>

<file path=ppt/tags/tag101.xml><?xml version="1.0" encoding="utf-8"?>
<p:tagLst xmlns:p="http://schemas.openxmlformats.org/presentationml/2006/main">
  <p:tag name="AS_UNIQUEID" val="560"/>
</p:tagLst>
</file>

<file path=ppt/tags/tag102.xml><?xml version="1.0" encoding="utf-8"?>
<p:tagLst xmlns:p="http://schemas.openxmlformats.org/presentationml/2006/main">
  <p:tag name="AS_UNIQUEID" val="561"/>
</p:tagLst>
</file>

<file path=ppt/tags/tag103.xml><?xml version="1.0" encoding="utf-8"?>
<p:tagLst xmlns:p="http://schemas.openxmlformats.org/presentationml/2006/main">
  <p:tag name="AS_UNIQUEID" val="563"/>
</p:tagLst>
</file>

<file path=ppt/tags/tag104.xml><?xml version="1.0" encoding="utf-8"?>
<p:tagLst xmlns:p="http://schemas.openxmlformats.org/presentationml/2006/main">
  <p:tag name="AS_UNIQUEID" val="564"/>
</p:tagLst>
</file>

<file path=ppt/tags/tag105.xml><?xml version="1.0" encoding="utf-8"?>
<p:tagLst xmlns:p="http://schemas.openxmlformats.org/presentationml/2006/main">
  <p:tag name="AS_UNIQUEID" val="565"/>
</p:tagLst>
</file>

<file path=ppt/tags/tag106.xml><?xml version="1.0" encoding="utf-8"?>
<p:tagLst xmlns:p="http://schemas.openxmlformats.org/presentationml/2006/main">
  <p:tag name="AS_UNIQUEID" val="566"/>
</p:tagLst>
</file>

<file path=ppt/tags/tag107.xml><?xml version="1.0" encoding="utf-8"?>
<p:tagLst xmlns:p="http://schemas.openxmlformats.org/presentationml/2006/main">
  <p:tag name="AS_UNIQUEID" val="567"/>
</p:tagLst>
</file>

<file path=ppt/tags/tag108.xml><?xml version="1.0" encoding="utf-8"?>
<p:tagLst xmlns:p="http://schemas.openxmlformats.org/presentationml/2006/main">
  <p:tag name="AS_UNIQUEID" val="568"/>
</p:tagLst>
</file>

<file path=ppt/tags/tag109.xml><?xml version="1.0" encoding="utf-8"?>
<p:tagLst xmlns:p="http://schemas.openxmlformats.org/presentationml/2006/main">
  <p:tag name="AS_UNIQUEID" val="569"/>
</p:tagLst>
</file>

<file path=ppt/tags/tag110.xml><?xml version="1.0" encoding="utf-8"?>
<p:tagLst xmlns:p="http://schemas.openxmlformats.org/presentationml/2006/main">
  <p:tag name="AS_UNIQUEID" val="570"/>
</p:tagLst>
</file>

<file path=ppt/tags/tag111.xml><?xml version="1.0" encoding="utf-8"?>
<p:tagLst xmlns:p="http://schemas.openxmlformats.org/presentationml/2006/main">
  <p:tag name="AS_UNIQUEID" val="571"/>
</p:tagLst>
</file>

<file path=ppt/tags/tag112.xml><?xml version="1.0" encoding="utf-8"?>
<p:tagLst xmlns:p="http://schemas.openxmlformats.org/presentationml/2006/main">
  <p:tag name="AS_UNIQUEID" val="572"/>
</p:tagLst>
</file>

<file path=ppt/tags/tag113.xml><?xml version="1.0" encoding="utf-8"?>
<p:tagLst xmlns:p="http://schemas.openxmlformats.org/presentationml/2006/main">
  <p:tag name="AS_UNIQUEID" val="573"/>
</p:tagLst>
</file>

<file path=ppt/tags/tag114.xml><?xml version="1.0" encoding="utf-8"?>
<p:tagLst xmlns:p="http://schemas.openxmlformats.org/presentationml/2006/main">
  <p:tag name="AS_UNIQUEID" val="574"/>
</p:tagLst>
</file>

<file path=ppt/tags/tag115.xml><?xml version="1.0" encoding="utf-8"?>
<p:tagLst xmlns:p="http://schemas.openxmlformats.org/presentationml/2006/main">
  <p:tag name="AS_UNIQUEID" val="6227"/>
</p:tagLst>
</file>

<file path=ppt/tags/tag116.xml><?xml version="1.0" encoding="utf-8"?>
<p:tagLst xmlns:p="http://schemas.openxmlformats.org/presentationml/2006/main">
  <p:tag name="AS_UNIQUEID" val="6228"/>
</p:tagLst>
</file>

<file path=ppt/tags/tag117.xml><?xml version="1.0" encoding="utf-8"?>
<p:tagLst xmlns:p="http://schemas.openxmlformats.org/presentationml/2006/main">
  <p:tag name="AS_UNIQUEID" val="529"/>
</p:tagLst>
</file>

<file path=ppt/tags/tag118.xml><?xml version="1.0" encoding="utf-8"?>
<p:tagLst xmlns:p="http://schemas.openxmlformats.org/presentationml/2006/main">
  <p:tag name="ISLIDE.ICON" val="#373512;#373513;#399193;#32459;"/>
</p:tagLst>
</file>

<file path=ppt/tags/tag119.xml><?xml version="1.0" encoding="utf-8"?>
<p:tagLst xmlns:p="http://schemas.openxmlformats.org/presentationml/2006/main">
  <p:tag name="AS_UNIQUEID" val="3"/>
</p:tagLst>
</file>

<file path=ppt/tags/tag120.xml><?xml version="1.0" encoding="utf-8"?>
<p:tagLst xmlns:p="http://schemas.openxmlformats.org/presentationml/2006/main">
  <p:tag name="AS_UNIQUEID" val="4"/>
</p:tagLst>
</file>

<file path=ppt/tags/tag121.xml><?xml version="1.0" encoding="utf-8"?>
<p:tagLst xmlns:p="http://schemas.openxmlformats.org/presentationml/2006/main">
  <p:tag name="AS_UNIQUEID" val="5"/>
</p:tagLst>
</file>

<file path=ppt/tags/tag122.xml><?xml version="1.0" encoding="utf-8"?>
<p:tagLst xmlns:p="http://schemas.openxmlformats.org/presentationml/2006/main">
  <p:tag name="AS_UNIQUEID" val="6"/>
</p:tagLst>
</file>

<file path=ppt/tags/tag123.xml><?xml version="1.0" encoding="utf-8"?>
<p:tagLst xmlns:p="http://schemas.openxmlformats.org/presentationml/2006/main">
  <p:tag name="AS_UNIQUEID" val="7"/>
</p:tagLst>
</file>

<file path=ppt/tags/tag124.xml><?xml version="1.0" encoding="utf-8"?>
<p:tagLst xmlns:p="http://schemas.openxmlformats.org/presentationml/2006/main">
  <p:tag name="AS_UNIQUEID" val="8"/>
</p:tagLst>
</file>

<file path=ppt/tags/tag125.xml><?xml version="1.0" encoding="utf-8"?>
<p:tagLst xmlns:p="http://schemas.openxmlformats.org/presentationml/2006/main">
  <p:tag name="AS_UNIQUEID" val="9"/>
</p:tagLst>
</file>

<file path=ppt/tags/tag126.xml><?xml version="1.0" encoding="utf-8"?>
<p:tagLst xmlns:p="http://schemas.openxmlformats.org/presentationml/2006/main">
  <p:tag name="AS_UNIQUEID" val="10"/>
</p:tagLst>
</file>

<file path=ppt/tags/tag127.xml><?xml version="1.0" encoding="utf-8"?>
<p:tagLst xmlns:p="http://schemas.openxmlformats.org/presentationml/2006/main">
  <p:tag name="AS_UNIQUEID" val="11"/>
</p:tagLst>
</file>

<file path=ppt/tags/tag128.xml><?xml version="1.0" encoding="utf-8"?>
<p:tagLst xmlns:p="http://schemas.openxmlformats.org/presentationml/2006/main">
  <p:tag name="AS_UNIQUEID" val="6231"/>
</p:tagLst>
</file>

<file path=ppt/tags/tag129.xml><?xml version="1.0" encoding="utf-8"?>
<p:tagLst xmlns:p="http://schemas.openxmlformats.org/presentationml/2006/main">
  <p:tag name="AS_UNIQUEID" val="6232"/>
</p:tagLst>
</file>

<file path=ppt/tags/tag130.xml><?xml version="1.0" encoding="utf-8"?>
<p:tagLst xmlns:p="http://schemas.openxmlformats.org/presentationml/2006/main">
  <p:tag name="ISLIDE.ICON" val="#373512;#373513;#399193;#32459;"/>
</p:tagLst>
</file>

<file path=ppt/tags/tag131.xml><?xml version="1.0" encoding="utf-8"?>
<p:tagLst xmlns:p="http://schemas.openxmlformats.org/presentationml/2006/main">
  <p:tag name="AS_UNIQUEID" val="14"/>
</p:tagLst>
</file>

<file path=ppt/tags/tag132.xml><?xml version="1.0" encoding="utf-8"?>
<p:tagLst xmlns:p="http://schemas.openxmlformats.org/presentationml/2006/main">
  <p:tag name="AS_UNIQUEID" val="16"/>
</p:tagLst>
</file>

<file path=ppt/tags/tag133.xml><?xml version="1.0" encoding="utf-8"?>
<p:tagLst xmlns:p="http://schemas.openxmlformats.org/presentationml/2006/main">
  <p:tag name="AS_UNIQUEID" val="17"/>
</p:tagLst>
</file>

<file path=ppt/tags/tag134.xml><?xml version="1.0" encoding="utf-8"?>
<p:tagLst xmlns:p="http://schemas.openxmlformats.org/presentationml/2006/main">
  <p:tag name="AS_UNIQUEID" val="18"/>
</p:tagLst>
</file>

<file path=ppt/tags/tag135.xml><?xml version="1.0" encoding="utf-8"?>
<p:tagLst xmlns:p="http://schemas.openxmlformats.org/presentationml/2006/main">
  <p:tag name="AS_UNIQUEID" val="19"/>
</p:tagLst>
</file>

<file path=ppt/tags/tag136.xml><?xml version="1.0" encoding="utf-8"?>
<p:tagLst xmlns:p="http://schemas.openxmlformats.org/presentationml/2006/main">
  <p:tag name="AS_UNIQUEID" val="20"/>
</p:tagLst>
</file>

<file path=ppt/tags/tag137.xml><?xml version="1.0" encoding="utf-8"?>
<p:tagLst xmlns:p="http://schemas.openxmlformats.org/presentationml/2006/main">
  <p:tag name="AS_UNIQUEID" val="21"/>
</p:tagLst>
</file>

<file path=ppt/tags/tag138.xml><?xml version="1.0" encoding="utf-8"?>
<p:tagLst xmlns:p="http://schemas.openxmlformats.org/presentationml/2006/main">
  <p:tag name="AS_UNIQUEID" val="22"/>
</p:tagLst>
</file>

<file path=ppt/tags/tag139.xml><?xml version="1.0" encoding="utf-8"?>
<p:tagLst xmlns:p="http://schemas.openxmlformats.org/presentationml/2006/main">
  <p:tag name="AS_UNIQUEID" val="23"/>
</p:tagLst>
</file>

<file path=ppt/tags/tag140.xml><?xml version="1.0" encoding="utf-8"?>
<p:tagLst xmlns:p="http://schemas.openxmlformats.org/presentationml/2006/main">
  <p:tag name="AS_UNIQUEID" val="24"/>
</p:tagLst>
</file>

<file path=ppt/tags/tag141.xml><?xml version="1.0" encoding="utf-8"?>
<p:tagLst xmlns:p="http://schemas.openxmlformats.org/presentationml/2006/main">
  <p:tag name="AS_UNIQUEID" val="25"/>
</p:tagLst>
</file>

<file path=ppt/tags/tag142.xml><?xml version="1.0" encoding="utf-8"?>
<p:tagLst xmlns:p="http://schemas.openxmlformats.org/presentationml/2006/main">
  <p:tag name="AS_UNIQUEID" val="26"/>
</p:tagLst>
</file>

<file path=ppt/tags/tag143.xml><?xml version="1.0" encoding="utf-8"?>
<p:tagLst xmlns:p="http://schemas.openxmlformats.org/presentationml/2006/main">
  <p:tag name="AS_UNIQUEID" val="27"/>
</p:tagLst>
</file>

<file path=ppt/tags/tag144.xml><?xml version="1.0" encoding="utf-8"?>
<p:tagLst xmlns:p="http://schemas.openxmlformats.org/presentationml/2006/main">
  <p:tag name="AS_UNIQUEID" val="28"/>
</p:tagLst>
</file>

<file path=ppt/tags/tag145.xml><?xml version="1.0" encoding="utf-8"?>
<p:tagLst xmlns:p="http://schemas.openxmlformats.org/presentationml/2006/main">
  <p:tag name="AS_UNIQUEID" val="29"/>
</p:tagLst>
</file>

<file path=ppt/tags/tag146.xml><?xml version="1.0" encoding="utf-8"?>
<p:tagLst xmlns:p="http://schemas.openxmlformats.org/presentationml/2006/main">
  <p:tag name="AS_UNIQUEID" val="30"/>
</p:tagLst>
</file>

<file path=ppt/tags/tag147.xml><?xml version="1.0" encoding="utf-8"?>
<p:tagLst xmlns:p="http://schemas.openxmlformats.org/presentationml/2006/main">
  <p:tag name="AS_UNIQUEID" val="31"/>
</p:tagLst>
</file>

<file path=ppt/tags/tag148.xml><?xml version="1.0" encoding="utf-8"?>
<p:tagLst xmlns:p="http://schemas.openxmlformats.org/presentationml/2006/main">
  <p:tag name="AS_UNIQUEID" val="32"/>
</p:tagLst>
</file>

<file path=ppt/tags/tag149.xml><?xml version="1.0" encoding="utf-8"?>
<p:tagLst xmlns:p="http://schemas.openxmlformats.org/presentationml/2006/main">
  <p:tag name="AS_UNIQUEID" val="33"/>
</p:tagLst>
</file>

<file path=ppt/tags/tag150.xml><?xml version="1.0" encoding="utf-8"?>
<p:tagLst xmlns:p="http://schemas.openxmlformats.org/presentationml/2006/main">
  <p:tag name="AS_UNIQUEID" val="34"/>
</p:tagLst>
</file>

<file path=ppt/tags/tag151.xml><?xml version="1.0" encoding="utf-8"?>
<p:tagLst xmlns:p="http://schemas.openxmlformats.org/presentationml/2006/main">
  <p:tag name="AS_UNIQUEID" val="35"/>
</p:tagLst>
</file>

<file path=ppt/tags/tag152.xml><?xml version="1.0" encoding="utf-8"?>
<p:tagLst xmlns:p="http://schemas.openxmlformats.org/presentationml/2006/main">
  <p:tag name="AS_UNIQUEID" val="36"/>
</p:tagLst>
</file>

<file path=ppt/tags/tag153.xml><?xml version="1.0" encoding="utf-8"?>
<p:tagLst xmlns:p="http://schemas.openxmlformats.org/presentationml/2006/main">
  <p:tag name="AS_UNIQUEID" val="37"/>
</p:tagLst>
</file>

<file path=ppt/tags/tag154.xml><?xml version="1.0" encoding="utf-8"?>
<p:tagLst xmlns:p="http://schemas.openxmlformats.org/presentationml/2006/main">
  <p:tag name="AS_UNIQUEID" val="38"/>
</p:tagLst>
</file>

<file path=ppt/tags/tag155.xml><?xml version="1.0" encoding="utf-8"?>
<p:tagLst xmlns:p="http://schemas.openxmlformats.org/presentationml/2006/main">
  <p:tag name="AS_UNIQUEID" val="39"/>
</p:tagLst>
</file>

<file path=ppt/tags/tag156.xml><?xml version="1.0" encoding="utf-8"?>
<p:tagLst xmlns:p="http://schemas.openxmlformats.org/presentationml/2006/main">
  <p:tag name="AS_UNIQUEID" val="40"/>
</p:tagLst>
</file>

<file path=ppt/tags/tag157.xml><?xml version="1.0" encoding="utf-8"?>
<p:tagLst xmlns:p="http://schemas.openxmlformats.org/presentationml/2006/main">
  <p:tag name="AS_UNIQUEID" val="41"/>
</p:tagLst>
</file>

<file path=ppt/tags/tag158.xml><?xml version="1.0" encoding="utf-8"?>
<p:tagLst xmlns:p="http://schemas.openxmlformats.org/presentationml/2006/main">
  <p:tag name="AS_UNIQUEID" val="42"/>
</p:tagLst>
</file>

<file path=ppt/tags/tag159.xml><?xml version="1.0" encoding="utf-8"?>
<p:tagLst xmlns:p="http://schemas.openxmlformats.org/presentationml/2006/main">
  <p:tag name="AS_UNIQUEID" val="43"/>
</p:tagLst>
</file>

<file path=ppt/tags/tag160.xml><?xml version="1.0" encoding="utf-8"?>
<p:tagLst xmlns:p="http://schemas.openxmlformats.org/presentationml/2006/main">
  <p:tag name="AS_UNIQUEID" val="44"/>
</p:tagLst>
</file>

<file path=ppt/tags/tag161.xml><?xml version="1.0" encoding="utf-8"?>
<p:tagLst xmlns:p="http://schemas.openxmlformats.org/presentationml/2006/main">
  <p:tag name="AS_UNIQUEID" val="45"/>
</p:tagLst>
</file>

<file path=ppt/tags/tag162.xml><?xml version="1.0" encoding="utf-8"?>
<p:tagLst xmlns:p="http://schemas.openxmlformats.org/presentationml/2006/main">
  <p:tag name="AS_UNIQUEID" val="46"/>
</p:tagLst>
</file>

<file path=ppt/tags/tag163.xml><?xml version="1.0" encoding="utf-8"?>
<p:tagLst xmlns:p="http://schemas.openxmlformats.org/presentationml/2006/main">
  <p:tag name="AS_UNIQUEID" val="47"/>
</p:tagLst>
</file>

<file path=ppt/tags/tag164.xml><?xml version="1.0" encoding="utf-8"?>
<p:tagLst xmlns:p="http://schemas.openxmlformats.org/presentationml/2006/main">
  <p:tag name="AS_UNIQUEID" val="48"/>
</p:tagLst>
</file>

<file path=ppt/tags/tag165.xml><?xml version="1.0" encoding="utf-8"?>
<p:tagLst xmlns:p="http://schemas.openxmlformats.org/presentationml/2006/main">
  <p:tag name="AS_UNIQUEID" val="49"/>
</p:tagLst>
</file>

<file path=ppt/tags/tag166.xml><?xml version="1.0" encoding="utf-8"?>
<p:tagLst xmlns:p="http://schemas.openxmlformats.org/presentationml/2006/main">
  <p:tag name="AS_UNIQUEID" val="6234"/>
</p:tagLst>
</file>

<file path=ppt/tags/tag167.xml><?xml version="1.0" encoding="utf-8"?>
<p:tagLst xmlns:p="http://schemas.openxmlformats.org/presentationml/2006/main">
  <p:tag name="AS_UNIQUEID" val="6235"/>
</p:tagLst>
</file>

<file path=ppt/tags/tag168.xml><?xml version="1.0" encoding="utf-8"?>
<p:tagLst xmlns:p="http://schemas.openxmlformats.org/presentationml/2006/main">
  <p:tag name="ISLIDE.ICON" val="#373512;#373513;#399193;#32459;"/>
</p:tagLst>
</file>

<file path=ppt/tags/tag169.xml><?xml version="1.0" encoding="utf-8"?>
<p:tagLst xmlns:p="http://schemas.openxmlformats.org/presentationml/2006/main">
  <p:tag name="AS_UNIQUEID" val="52"/>
</p:tagLst>
</file>

<file path=ppt/tags/tag170.xml><?xml version="1.0" encoding="utf-8"?>
<p:tagLst xmlns:p="http://schemas.openxmlformats.org/presentationml/2006/main">
  <p:tag name="AS_UNIQUEID" val="55"/>
</p:tagLst>
</file>

<file path=ppt/tags/tag171.xml><?xml version="1.0" encoding="utf-8"?>
<p:tagLst xmlns:p="http://schemas.openxmlformats.org/presentationml/2006/main">
  <p:tag name="AS_UNIQUEID" val="56"/>
</p:tagLst>
</file>

<file path=ppt/tags/tag172.xml><?xml version="1.0" encoding="utf-8"?>
<p:tagLst xmlns:p="http://schemas.openxmlformats.org/presentationml/2006/main">
  <p:tag name="AS_UNIQUEID" val="6237"/>
</p:tagLst>
</file>

<file path=ppt/tags/tag173.xml><?xml version="1.0" encoding="utf-8"?>
<p:tagLst xmlns:p="http://schemas.openxmlformats.org/presentationml/2006/main">
  <p:tag name="AS_UNIQUEID" val="6238"/>
</p:tagLst>
</file>

<file path=ppt/tags/tag174.xml><?xml version="1.0" encoding="utf-8"?>
<p:tagLst xmlns:p="http://schemas.openxmlformats.org/presentationml/2006/main">
  <p:tag name="ISLIDE.ICON" val="#373512;#373513;#399193;#32459;"/>
</p:tagLst>
</file>

<file path=ppt/tags/tag175.xml><?xml version="1.0" encoding="utf-8"?>
<p:tagLst xmlns:p="http://schemas.openxmlformats.org/presentationml/2006/main">
  <p:tag name="AS_UNIQUEID" val="62"/>
</p:tagLst>
</file>

<file path=ppt/tags/tag176.xml><?xml version="1.0" encoding="utf-8"?>
<p:tagLst xmlns:p="http://schemas.openxmlformats.org/presentationml/2006/main">
  <p:tag name="AS_UNIQUEID" val="63"/>
</p:tagLst>
</file>

<file path=ppt/tags/tag177.xml><?xml version="1.0" encoding="utf-8"?>
<p:tagLst xmlns:p="http://schemas.openxmlformats.org/presentationml/2006/main">
  <p:tag name="AS_UNIQUEID" val="52"/>
</p:tagLst>
</file>

<file path=ppt/tags/tag178.xml><?xml version="1.0" encoding="utf-8"?>
<p:tagLst xmlns:p="http://schemas.openxmlformats.org/presentationml/2006/main">
  <p:tag name="AS_UNIQUEID" val="6240"/>
</p:tagLst>
</file>

<file path=ppt/tags/tag179.xml><?xml version="1.0" encoding="utf-8"?>
<p:tagLst xmlns:p="http://schemas.openxmlformats.org/presentationml/2006/main">
  <p:tag name="AS_UNIQUEID" val="6241"/>
</p:tagLst>
</file>

<file path=ppt/tags/tag180.xml><?xml version="1.0" encoding="utf-8"?>
<p:tagLst xmlns:p="http://schemas.openxmlformats.org/presentationml/2006/main">
  <p:tag name="ISLIDE.ICON" val="#373512;#373513;#399193;#32459;"/>
</p:tagLst>
</file>

<file path=ppt/tags/tag181.xml><?xml version="1.0" encoding="utf-8"?>
<p:tagLst xmlns:p="http://schemas.openxmlformats.org/presentationml/2006/main">
  <p:tag name="AS_UNIQUEID" val="69"/>
</p:tagLst>
</file>

<file path=ppt/tags/tag182.xml><?xml version="1.0" encoding="utf-8"?>
<p:tagLst xmlns:p="http://schemas.openxmlformats.org/presentationml/2006/main">
  <p:tag name="AS_UNIQUEID" val="70"/>
</p:tagLst>
</file>

<file path=ppt/tags/tag183.xml><?xml version="1.0" encoding="utf-8"?>
<p:tagLst xmlns:p="http://schemas.openxmlformats.org/presentationml/2006/main">
  <p:tag name="AS_UNIQUEID" val="52"/>
</p:tagLst>
</file>

<file path=ppt/tags/tag184.xml><?xml version="1.0" encoding="utf-8"?>
<p:tagLst xmlns:p="http://schemas.openxmlformats.org/presentationml/2006/main">
  <p:tag name="AS_UNIQUEID" val="6243"/>
</p:tagLst>
</file>

<file path=ppt/tags/tag185.xml><?xml version="1.0" encoding="utf-8"?>
<p:tagLst xmlns:p="http://schemas.openxmlformats.org/presentationml/2006/main">
  <p:tag name="AS_UNIQUEID" val="6244"/>
</p:tagLst>
</file>

<file path=ppt/tags/tag186.xml><?xml version="1.0" encoding="utf-8"?>
<p:tagLst xmlns:p="http://schemas.openxmlformats.org/presentationml/2006/main">
  <p:tag name="ISLIDE.ICON" val="#373512;#373513;#399193;#32459;"/>
</p:tagLst>
</file>

<file path=ppt/tags/tag187.xml><?xml version="1.0" encoding="utf-8"?>
<p:tagLst xmlns:p="http://schemas.openxmlformats.org/presentationml/2006/main">
  <p:tag name="AS_UNIQUEID" val="76"/>
</p:tagLst>
</file>

<file path=ppt/tags/tag188.xml><?xml version="1.0" encoding="utf-8"?>
<p:tagLst xmlns:p="http://schemas.openxmlformats.org/presentationml/2006/main">
  <p:tag name="AS_UNIQUEID" val="77"/>
</p:tagLst>
</file>

<file path=ppt/tags/tag189.xml><?xml version="1.0" encoding="utf-8"?>
<p:tagLst xmlns:p="http://schemas.openxmlformats.org/presentationml/2006/main">
  <p:tag name="AS_UNIQUEID" val="52"/>
</p:tagLst>
</file>

<file path=ppt/tags/tag190.xml><?xml version="1.0" encoding="utf-8"?>
<p:tagLst xmlns:p="http://schemas.openxmlformats.org/presentationml/2006/main">
  <p:tag name="AS_UNIQUEID" val="6246"/>
</p:tagLst>
</file>

<file path=ppt/tags/tag191.xml><?xml version="1.0" encoding="utf-8"?>
<p:tagLst xmlns:p="http://schemas.openxmlformats.org/presentationml/2006/main">
  <p:tag name="AS_UNIQUEID" val="6247"/>
</p:tagLst>
</file>

<file path=ppt/tags/tag192.xml><?xml version="1.0" encoding="utf-8"?>
<p:tagLst xmlns:p="http://schemas.openxmlformats.org/presentationml/2006/main">
  <p:tag name="ISLIDE.ICON" val="#373512;#373513;#399193;#32459;"/>
</p:tagLst>
</file>

<file path=ppt/tags/tag193.xml><?xml version="1.0" encoding="utf-8"?>
<p:tagLst xmlns:p="http://schemas.openxmlformats.org/presentationml/2006/main">
  <p:tag name="AS_UNIQUEID" val="52"/>
</p:tagLst>
</file>

<file path=ppt/tags/tag194.xml><?xml version="1.0" encoding="utf-8"?>
<p:tagLst xmlns:p="http://schemas.openxmlformats.org/presentationml/2006/main">
  <p:tag name="AS_UNIQUEID" val="55"/>
</p:tagLst>
</file>

<file path=ppt/tags/tag195.xml><?xml version="1.0" encoding="utf-8"?>
<p:tagLst xmlns:p="http://schemas.openxmlformats.org/presentationml/2006/main">
  <p:tag name="AS_UNIQUEID" val="56"/>
</p:tagLst>
</file>

<file path=ppt/tags/tag196.xml><?xml version="1.0" encoding="utf-8"?>
<p:tagLst xmlns:p="http://schemas.openxmlformats.org/presentationml/2006/main">
  <p:tag name="AS_UNIQUEID" val="6237"/>
</p:tagLst>
</file>

<file path=ppt/tags/tag197.xml><?xml version="1.0" encoding="utf-8"?>
<p:tagLst xmlns:p="http://schemas.openxmlformats.org/presentationml/2006/main">
  <p:tag name="AS_UNIQUEID" val="6238"/>
</p:tagLst>
</file>

<file path=ppt/tags/tag198.xml><?xml version="1.0" encoding="utf-8"?>
<p:tagLst xmlns:p="http://schemas.openxmlformats.org/presentationml/2006/main">
  <p:tag name="ISLIDE.ICON" val="#373512;#373513;#399193;#32459;"/>
</p:tagLst>
</file>

<file path=ppt/tags/tag199.xml><?xml version="1.0" encoding="utf-8"?>
<p:tagLst xmlns:p="http://schemas.openxmlformats.org/presentationml/2006/main">
  <p:tag name="AS_UNIQUEID" val="62"/>
</p:tagLst>
</file>

<file path=ppt/tags/tag200.xml><?xml version="1.0" encoding="utf-8"?>
<p:tagLst xmlns:p="http://schemas.openxmlformats.org/presentationml/2006/main">
  <p:tag name="AS_UNIQUEID" val="63"/>
</p:tagLst>
</file>

<file path=ppt/tags/tag201.xml><?xml version="1.0" encoding="utf-8"?>
<p:tagLst xmlns:p="http://schemas.openxmlformats.org/presentationml/2006/main">
  <p:tag name="AS_UNIQUEID" val="52"/>
</p:tagLst>
</file>

<file path=ppt/tags/tag202.xml><?xml version="1.0" encoding="utf-8"?>
<p:tagLst xmlns:p="http://schemas.openxmlformats.org/presentationml/2006/main">
  <p:tag name="AS_UNIQUEID" val="6240"/>
</p:tagLst>
</file>

<file path=ppt/tags/tag203.xml><?xml version="1.0" encoding="utf-8"?>
<p:tagLst xmlns:p="http://schemas.openxmlformats.org/presentationml/2006/main">
  <p:tag name="AS_UNIQUEID" val="6241"/>
</p:tagLst>
</file>

<file path=ppt/tags/tag204.xml><?xml version="1.0" encoding="utf-8"?>
<p:tagLst xmlns:p="http://schemas.openxmlformats.org/presentationml/2006/main">
  <p:tag name="ISLIDE.ICON" val="#373512;#373513;#399193;#32459;"/>
</p:tagLst>
</file>

<file path=ppt/tags/tag205.xml><?xml version="1.0" encoding="utf-8"?>
<p:tagLst xmlns:p="http://schemas.openxmlformats.org/presentationml/2006/main">
  <p:tag name="AS_UNIQUEID" val="69"/>
</p:tagLst>
</file>

<file path=ppt/tags/tag206.xml><?xml version="1.0" encoding="utf-8"?>
<p:tagLst xmlns:p="http://schemas.openxmlformats.org/presentationml/2006/main">
  <p:tag name="AS_UNIQUEID" val="70"/>
</p:tagLst>
</file>

<file path=ppt/tags/tag207.xml><?xml version="1.0" encoding="utf-8"?>
<p:tagLst xmlns:p="http://schemas.openxmlformats.org/presentationml/2006/main">
  <p:tag name="AS_UNIQUEID" val="52"/>
</p:tagLst>
</file>

<file path=ppt/tags/tag208.xml><?xml version="1.0" encoding="utf-8"?>
<p:tagLst xmlns:p="http://schemas.openxmlformats.org/presentationml/2006/main">
  <p:tag name="AS_UNIQUEID" val="6243"/>
</p:tagLst>
</file>

<file path=ppt/tags/tag209.xml><?xml version="1.0" encoding="utf-8"?>
<p:tagLst xmlns:p="http://schemas.openxmlformats.org/presentationml/2006/main">
  <p:tag name="AS_UNIQUEID" val="6244"/>
</p:tagLst>
</file>

<file path=ppt/tags/tag210.xml><?xml version="1.0" encoding="utf-8"?>
<p:tagLst xmlns:p="http://schemas.openxmlformats.org/presentationml/2006/main">
  <p:tag name="ISLIDE.ICON" val="#373512;#373513;#399193;#32459;"/>
</p:tagLst>
</file>

<file path=ppt/tags/tag211.xml><?xml version="1.0" encoding="utf-8"?>
<p:tagLst xmlns:p="http://schemas.openxmlformats.org/presentationml/2006/main">
  <p:tag name="AS_UNIQUEID" val="76"/>
</p:tagLst>
</file>

<file path=ppt/tags/tag212.xml><?xml version="1.0" encoding="utf-8"?>
<p:tagLst xmlns:p="http://schemas.openxmlformats.org/presentationml/2006/main">
  <p:tag name="AS_UNIQUEID" val="77"/>
</p:tagLst>
</file>

<file path=ppt/tags/tag213.xml><?xml version="1.0" encoding="utf-8"?>
<p:tagLst xmlns:p="http://schemas.openxmlformats.org/presentationml/2006/main">
  <p:tag name="AS_UNIQUEID" val="52"/>
</p:tagLst>
</file>

<file path=ppt/tags/tag214.xml><?xml version="1.0" encoding="utf-8"?>
<p:tagLst xmlns:p="http://schemas.openxmlformats.org/presentationml/2006/main">
  <p:tag name="AS_UNIQUEID" val="6246"/>
</p:tagLst>
</file>

<file path=ppt/tags/tag215.xml><?xml version="1.0" encoding="utf-8"?>
<p:tagLst xmlns:p="http://schemas.openxmlformats.org/presentationml/2006/main">
  <p:tag name="AS_UNIQUEID" val="6247"/>
</p:tagLst>
</file>

<file path=ppt/tags/tag216.xml><?xml version="1.0" encoding="utf-8"?>
<p:tagLst xmlns:p="http://schemas.openxmlformats.org/presentationml/2006/main">
  <p:tag name="ISLIDE.ICON" val="#373512;#373513;#399193;#32459;"/>
</p:tagLst>
</file>

<file path=ppt/tags/tag217.xml><?xml version="1.0" encoding="utf-8"?>
<p:tagLst xmlns:p="http://schemas.openxmlformats.org/presentationml/2006/main">
  <p:tag name="AS_UNIQUEID" val="81"/>
</p:tagLst>
</file>

<file path=ppt/tags/tag218.xml><?xml version="1.0" encoding="utf-8"?>
<p:tagLst xmlns:p="http://schemas.openxmlformats.org/presentationml/2006/main">
  <p:tag name="AS_UNIQUEID" val="83"/>
</p:tagLst>
</file>

<file path=ppt/tags/tag219.xml><?xml version="1.0" encoding="utf-8"?>
<p:tagLst xmlns:p="http://schemas.openxmlformats.org/presentationml/2006/main">
  <p:tag name="AS_UNIQUEID" val="6249"/>
</p:tagLst>
</file>

<file path=ppt/tags/tag220.xml><?xml version="1.0" encoding="utf-8"?>
<p:tagLst xmlns:p="http://schemas.openxmlformats.org/presentationml/2006/main">
  <p:tag name="AS_UNIQUEID" val="6250"/>
</p:tagLst>
</file>

<file path=ppt/tags/tag221.xml><?xml version="1.0" encoding="utf-8"?>
<p:tagLst xmlns:p="http://schemas.openxmlformats.org/presentationml/2006/main">
  <p:tag name="AS_UNIQUEID" val="12"/>
  <p:tag name="KSO_WM_BEAUTIFY_FLAG" val=""/>
</p:tagLst>
</file>

<file path=ppt/tags/tag222.xml><?xml version="1.0" encoding="utf-8"?>
<p:tagLst xmlns:p="http://schemas.openxmlformats.org/presentationml/2006/main">
  <p:tag name="ISLIDE.ICON" val="#373512;#373513;#399193;#32459;"/>
</p:tagLst>
</file>

<file path=ppt/tags/tag223.xml><?xml version="1.0" encoding="utf-8"?>
<p:tagLst xmlns:p="http://schemas.openxmlformats.org/presentationml/2006/main">
  <p:tag name="AS_UNIQUEID" val="6252"/>
</p:tagLst>
</file>

<file path=ppt/tags/tag224.xml><?xml version="1.0" encoding="utf-8"?>
<p:tagLst xmlns:p="http://schemas.openxmlformats.org/presentationml/2006/main">
  <p:tag name="AS_UNIQUEID" val="6253"/>
</p:tagLst>
</file>

<file path=ppt/tags/tag225.xml><?xml version="1.0" encoding="utf-8"?>
<p:tagLst xmlns:p="http://schemas.openxmlformats.org/presentationml/2006/main">
  <p:tag name="AS_UNIQUEID" val="6254"/>
</p:tagLst>
</file>

<file path=ppt/tags/tag226.xml><?xml version="1.0" encoding="utf-8"?>
<p:tagLst xmlns:p="http://schemas.openxmlformats.org/presentationml/2006/main">
  <p:tag name="AS_UNIQUEID" val="6255"/>
</p:tagLst>
</file>

<file path=ppt/tags/tag227.xml><?xml version="1.0" encoding="utf-8"?>
<p:tagLst xmlns:p="http://schemas.openxmlformats.org/presentationml/2006/main">
  <p:tag name="AS_UNIQUEID" val="6256"/>
</p:tagLst>
</file>

<file path=ppt/tags/tag228.xml><?xml version="1.0" encoding="utf-8"?>
<p:tagLst xmlns:p="http://schemas.openxmlformats.org/presentationml/2006/main">
  <p:tag name="AS_UNIQUEID" val="6257"/>
</p:tagLst>
</file>

<file path=ppt/tags/tag229.xml><?xml version="1.0" encoding="utf-8"?>
<p:tagLst xmlns:p="http://schemas.openxmlformats.org/presentationml/2006/main">
  <p:tag name="AS_UNIQUEID" val="6258"/>
  <p:tag name="KSO_WM_BEAUTIFY_FLAG" val=""/>
</p:tagLst>
</file>

<file path=ppt/tags/tag230.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31.xml><?xml version="1.0" encoding="utf-8"?>
<p:tagLst xmlns:p="http://schemas.openxmlformats.org/presentationml/2006/main">
  <p:tag name="AS_UNIQUEID" val="6260"/>
</p:tagLst>
</file>

<file path=ppt/tags/tag232.xml><?xml version="1.0" encoding="utf-8"?>
<p:tagLst xmlns:p="http://schemas.openxmlformats.org/presentationml/2006/main">
  <p:tag name="AS_UNIQUEID" val="6261"/>
</p:tagLst>
</file>

<file path=ppt/tags/tag233.xml><?xml version="1.0" encoding="utf-8"?>
<p:tagLst xmlns:p="http://schemas.openxmlformats.org/presentationml/2006/main">
  <p:tag name="AS_UNIQUEID" val="6262"/>
</p:tagLst>
</file>

<file path=ppt/tags/tag234.xml><?xml version="1.0" encoding="utf-8"?>
<p:tagLst xmlns:p="http://schemas.openxmlformats.org/presentationml/2006/main">
  <p:tag name="AS_UNIQUEID" val="6263"/>
</p:tagLst>
</file>

<file path=ppt/tags/tag235.xml><?xml version="1.0" encoding="utf-8"?>
<p:tagLst xmlns:p="http://schemas.openxmlformats.org/presentationml/2006/main">
  <p:tag name="AS_UNIQUEID" val="6264"/>
</p:tagLst>
</file>

<file path=ppt/tags/tag236.xml><?xml version="1.0" encoding="utf-8"?>
<p:tagLst xmlns:p="http://schemas.openxmlformats.org/presentationml/2006/main">
  <p:tag name="AS_UNIQUEID" val="6265"/>
</p:tagLst>
</file>

<file path=ppt/tags/tag237.xml><?xml version="1.0" encoding="utf-8"?>
<p:tagLst xmlns:p="http://schemas.openxmlformats.org/presentationml/2006/main">
  <p:tag name="AS_UNIQUEID" val="6266"/>
  <p:tag name="KSO_WM_BEAUTIFY_FLAG" val=""/>
</p:tagLst>
</file>

<file path=ppt/tags/tag238.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39.xml><?xml version="1.0" encoding="utf-8"?>
<p:tagLst xmlns:p="http://schemas.openxmlformats.org/presentationml/2006/main">
  <p:tag name="AS_UNIQUEID" val="6271"/>
  <p:tag name="KSO_WM_BEAUTIFY_FLAG" val=""/>
</p:tagLst>
</file>

<file path=ppt/tags/tag240.xml><?xml version="1.0" encoding="utf-8"?>
<p:tagLst xmlns:p="http://schemas.openxmlformats.org/presentationml/2006/main">
  <p:tag name="AS_UNIQUEID" val="6272"/>
  <p:tag name="KSO_WM_BEAUTIFY_FLAG" val=""/>
</p:tagLst>
</file>

<file path=ppt/tags/tag241.xml><?xml version="1.0" encoding="utf-8"?>
<p:tagLst xmlns:p="http://schemas.openxmlformats.org/presentationml/2006/main">
  <p:tag name="AS_UNIQUEID" val="6273"/>
  <p:tag name="KSO_WM_BEAUTIFY_FLAG" val=""/>
</p:tagLst>
</file>

<file path=ppt/tags/tag242.xml><?xml version="1.0" encoding="utf-8"?>
<p:tagLst xmlns:p="http://schemas.openxmlformats.org/presentationml/2006/main">
  <p:tag name="AS_UNIQUEID" val="6274"/>
  <p:tag name="KSO_WM_BEAUTIFY_FLAG" val=""/>
</p:tagLst>
</file>

<file path=ppt/tags/tag243.xml><?xml version="1.0" encoding="utf-8"?>
<p:tagLst xmlns:p="http://schemas.openxmlformats.org/presentationml/2006/main">
  <p:tag name="AS_UNIQUEID" val="6275"/>
  <p:tag name="KSO_WM_BEAUTIFY_FLAG" val=""/>
</p:tagLst>
</file>

<file path=ppt/tags/tag244.xml><?xml version="1.0" encoding="utf-8"?>
<p:tagLst xmlns:p="http://schemas.openxmlformats.org/presentationml/2006/main">
  <p:tag name="AS_UNIQUEID" val="6276"/>
</p:tagLst>
</file>

<file path=ppt/tags/tag245.xml><?xml version="1.0" encoding="utf-8"?>
<p:tagLst xmlns:p="http://schemas.openxmlformats.org/presentationml/2006/main">
  <p:tag name="AS_UNIQUEID" val="6277"/>
  <p:tag name="KSO_WM_BEAUTIFY_FLAG" val=""/>
</p:tagLst>
</file>

<file path=ppt/tags/tag246.xml><?xml version="1.0" encoding="utf-8"?>
<p:tagLst xmlns:p="http://schemas.openxmlformats.org/presentationml/2006/main">
  <p:tag name="AS_UNIQUEID" val="6278"/>
</p:tagLst>
</file>

<file path=ppt/tags/tag247.xml><?xml version="1.0" encoding="utf-8"?>
<p:tagLst xmlns:p="http://schemas.openxmlformats.org/presentationml/2006/main">
  <p:tag name="AS_UNIQUEID" val="6279"/>
  <p:tag name="KSO_WM_BEAUTIFY_FLAG" val=""/>
</p:tagLst>
</file>

<file path=ppt/tags/tag248.xml><?xml version="1.0" encoding="utf-8"?>
<p:tagLst xmlns:p="http://schemas.openxmlformats.org/presentationml/2006/main">
  <p:tag name="AS_UNIQUEID" val="6280"/>
</p:tagLst>
</file>

<file path=ppt/tags/tag249.xml><?xml version="1.0" encoding="utf-8"?>
<p:tagLst xmlns:p="http://schemas.openxmlformats.org/presentationml/2006/main">
  <p:tag name="AS_UNIQUEID" val="6281"/>
</p:tagLst>
</file>

<file path=ppt/tags/tag250.xml><?xml version="1.0" encoding="utf-8"?>
<p:tagLst xmlns:p="http://schemas.openxmlformats.org/presentationml/2006/main">
  <p:tag name="AS_UNIQUEID" val="6282"/>
</p:tagLst>
</file>

<file path=ppt/tags/tag251.xml><?xml version="1.0" encoding="utf-8"?>
<p:tagLst xmlns:p="http://schemas.openxmlformats.org/presentationml/2006/main">
  <p:tag name="AS_UNIQUEID" val="6283"/>
  <p:tag name="KSO_WM_BEAUTIFY_FLAG" val=""/>
</p:tagLst>
</file>

<file path=ppt/tags/tag252.xml><?xml version="1.0" encoding="utf-8"?>
<p:tagLst xmlns:p="http://schemas.openxmlformats.org/presentationml/2006/main">
  <p:tag name="AS_UNIQUEID" val="6284"/>
  <p:tag name="KSO_WM_BEAUTIFY_FLAG" val=""/>
</p:tagLst>
</file>

<file path=ppt/tags/tag253.xml><?xml version="1.0" encoding="utf-8"?>
<p:tagLst xmlns:p="http://schemas.openxmlformats.org/presentationml/2006/main">
  <p:tag name="AS_UNIQUEID" val="6285"/>
</p:tagLst>
</file>

<file path=ppt/tags/tag254.xml><?xml version="1.0" encoding="utf-8"?>
<p:tagLst xmlns:p="http://schemas.openxmlformats.org/presentationml/2006/main">
  <p:tag name="AS_UNIQUEID" val="6286"/>
</p:tagLst>
</file>

<file path=ppt/tags/tag255.xml><?xml version="1.0" encoding="utf-8"?>
<p:tagLst xmlns:p="http://schemas.openxmlformats.org/presentationml/2006/main">
  <p:tag name="KSO_WM_BEAUTIFY_FLAG" val="#wm#"/>
  <p:tag name="KSO_WM_TEMPLATE_CATEGORY" val="custom"/>
  <p:tag name="KSO_WM_TEMPLATE_INDEX" val="20205081"/>
</p:tagLst>
</file>

<file path=ppt/tags/tag256.xml><?xml version="1.0" encoding="utf-8"?>
<p:tagLst xmlns:p="http://schemas.openxmlformats.org/presentationml/2006/main">
  <p:tag name="AS_UNIQUEID" val="6268"/>
</p:tagLst>
</file>

<file path=ppt/tags/tag257.xml><?xml version="1.0" encoding="utf-8"?>
<p:tagLst xmlns:p="http://schemas.openxmlformats.org/presentationml/2006/main">
  <p:tag name="AS_UNIQUEID" val="6269"/>
</p:tagLst>
</file>

<file path=ppt/tags/tag258.xml><?xml version="1.0" encoding="utf-8"?>
<p:tagLst xmlns:p="http://schemas.openxmlformats.org/presentationml/2006/main">
  <p:tag name="AS_UNIQUEID" val="6288"/>
  <p:tag name="KSO_WM_BEAUTIFY_FLAG" val=""/>
</p:tagLst>
</file>

<file path=ppt/tags/tag259.xml><?xml version="1.0" encoding="utf-8"?>
<p:tagLst xmlns:p="http://schemas.openxmlformats.org/presentationml/2006/main">
  <p:tag name="AS_UNIQUEID" val="6289"/>
  <p:tag name="KSO_WM_BEAUTIFY_FLAG" val=""/>
</p:tagLst>
</file>

<file path=ppt/tags/tag260.xml><?xml version="1.0" encoding="utf-8"?>
<p:tagLst xmlns:p="http://schemas.openxmlformats.org/presentationml/2006/main">
  <p:tag name="AS_UNIQUEID" val="6290"/>
</p:tagLst>
</file>

<file path=ppt/tags/tag261.xml><?xml version="1.0" encoding="utf-8"?>
<p:tagLst xmlns:p="http://schemas.openxmlformats.org/presentationml/2006/main">
  <p:tag name="AS_UNIQUEID" val="6291"/>
</p:tagLst>
</file>

<file path=ppt/tags/tag262.xml><?xml version="1.0" encoding="utf-8"?>
<p:tagLst xmlns:p="http://schemas.openxmlformats.org/presentationml/2006/main">
  <p:tag name="AS_UNIQUEID" val="6292"/>
</p:tagLst>
</file>

<file path=ppt/tags/tag263.xml><?xml version="1.0" encoding="utf-8"?>
<p:tagLst xmlns:p="http://schemas.openxmlformats.org/presentationml/2006/main">
  <p:tag name="AS_UNIQUEID" val="6293"/>
</p:tagLst>
</file>

<file path=ppt/tags/tag264.xml><?xml version="1.0" encoding="utf-8"?>
<p:tagLst xmlns:p="http://schemas.openxmlformats.org/presentationml/2006/main">
  <p:tag name="KSO_WM_BEAUTIFY_FLAG" val="#wm#"/>
  <p:tag name="KSO_WM_TEMPLATE_CATEGORY" val="custom"/>
  <p:tag name="KSO_WM_TEMPLATE_INDEX" val="20205081"/>
</p:tagLst>
</file>

<file path=ppt/tags/tag265.xml><?xml version="1.0" encoding="utf-8"?>
<p:tagLst xmlns:p="http://schemas.openxmlformats.org/presentationml/2006/main">
  <p:tag name="AS_UNIQUEID" val="6295"/>
</p:tagLst>
</file>

<file path=ppt/tags/tag266.xml><?xml version="1.0" encoding="utf-8"?>
<p:tagLst xmlns:p="http://schemas.openxmlformats.org/presentationml/2006/main">
  <p:tag name="AS_UNIQUEID" val="6296"/>
</p:tagLst>
</file>

<file path=ppt/tags/tag267.xml><?xml version="1.0" encoding="utf-8"?>
<p:tagLst xmlns:p="http://schemas.openxmlformats.org/presentationml/2006/main">
  <p:tag name="AS_UNIQUEID" val="6297"/>
  <p:tag name="KSO_WM_BEAUTIFY_FLAG" val=""/>
</p:tagLst>
</file>

<file path=ppt/tags/tag268.xml><?xml version="1.0" encoding="utf-8"?>
<p:tagLst xmlns:p="http://schemas.openxmlformats.org/presentationml/2006/main">
  <p:tag name="AS_UNIQUEID" val="6298"/>
</p:tagLst>
</file>

<file path=ppt/tags/tag269.xml><?xml version="1.0" encoding="utf-8"?>
<p:tagLst xmlns:p="http://schemas.openxmlformats.org/presentationml/2006/main">
  <p:tag name="AS_UNIQUEID" val="6299"/>
</p:tagLst>
</file>

<file path=ppt/tags/tag270.xml><?xml version="1.0" encoding="utf-8"?>
<p:tagLst xmlns:p="http://schemas.openxmlformats.org/presentationml/2006/main">
  <p:tag name="AS_UNIQUEID" val="6300"/>
</p:tagLst>
</file>

<file path=ppt/tags/tag271.xml><?xml version="1.0" encoding="utf-8"?>
<p:tagLst xmlns:p="http://schemas.openxmlformats.org/presentationml/2006/main">
  <p:tag name="AS_UNIQUEID" val="6301"/>
</p:tagLst>
</file>

<file path=ppt/tags/tag272.xml><?xml version="1.0" encoding="utf-8"?>
<p:tagLst xmlns:p="http://schemas.openxmlformats.org/presentationml/2006/main">
  <p:tag name="AS_UNIQUEID" val="6302"/>
</p:tagLst>
</file>

<file path=ppt/tags/tag273.xml><?xml version="1.0" encoding="utf-8"?>
<p:tagLst xmlns:p="http://schemas.openxmlformats.org/presentationml/2006/main">
  <p:tag name="AS_UNIQUEID" val="6303"/>
</p:tagLst>
</file>

<file path=ppt/tags/tag274.xml><?xml version="1.0" encoding="utf-8"?>
<p:tagLst xmlns:p="http://schemas.openxmlformats.org/presentationml/2006/main">
  <p:tag name="AS_UNIQUEID" val="6304"/>
</p:tagLst>
</file>

<file path=ppt/tags/tag275.xml><?xml version="1.0" encoding="utf-8"?>
<p:tagLst xmlns:p="http://schemas.openxmlformats.org/presentationml/2006/main">
  <p:tag name="AS_UNIQUEID" val="6305"/>
</p:tagLst>
</file>

<file path=ppt/tags/tag276.xml><?xml version="1.0" encoding="utf-8"?>
<p:tagLst xmlns:p="http://schemas.openxmlformats.org/presentationml/2006/main">
  <p:tag name="AS_UNIQUEID" val="6306"/>
</p:tagLst>
</file>

<file path=ppt/tags/tag277.xml><?xml version="1.0" encoding="utf-8"?>
<p:tagLst xmlns:p="http://schemas.openxmlformats.org/presentationml/2006/main">
  <p:tag name="AS_UNIQUEID" val="6307"/>
</p:tagLst>
</file>

<file path=ppt/tags/tag278.xml><?xml version="1.0" encoding="utf-8"?>
<p:tagLst xmlns:p="http://schemas.openxmlformats.org/presentationml/2006/main">
  <p:tag name="AS_UNIQUEID" val="6308"/>
</p:tagLst>
</file>

<file path=ppt/tags/tag279.xml><?xml version="1.0" encoding="utf-8"?>
<p:tagLst xmlns:p="http://schemas.openxmlformats.org/presentationml/2006/main">
  <p:tag name="AS_UNIQUEID" val="6309"/>
</p:tagLst>
</file>

<file path=ppt/tags/tag280.xml><?xml version="1.0" encoding="utf-8"?>
<p:tagLst xmlns:p="http://schemas.openxmlformats.org/presentationml/2006/main">
  <p:tag name="AS_UNIQUEID" val="6310"/>
</p:tagLst>
</file>

<file path=ppt/tags/tag281.xml><?xml version="1.0" encoding="utf-8"?>
<p:tagLst xmlns:p="http://schemas.openxmlformats.org/presentationml/2006/main">
  <p:tag name="AS_UNIQUEID" val="6311"/>
</p:tagLst>
</file>

<file path=ppt/tags/tag282.xml><?xml version="1.0" encoding="utf-8"?>
<p:tagLst xmlns:p="http://schemas.openxmlformats.org/presentationml/2006/main">
  <p:tag name="AS_UNIQUEID" val="6312"/>
</p:tagLst>
</file>

<file path=ppt/tags/tag283.xml><?xml version="1.0" encoding="utf-8"?>
<p:tagLst xmlns:p="http://schemas.openxmlformats.org/presentationml/2006/main">
  <p:tag name="AS_UNIQUEID" val="6313"/>
</p:tagLst>
</file>

<file path=ppt/tags/tag284.xml><?xml version="1.0" encoding="utf-8"?>
<p:tagLst xmlns:p="http://schemas.openxmlformats.org/presentationml/2006/main">
  <p:tag name="AS_UNIQUEID" val="6314"/>
</p:tagLst>
</file>

<file path=ppt/tags/tag285.xml><?xml version="1.0" encoding="utf-8"?>
<p:tagLst xmlns:p="http://schemas.openxmlformats.org/presentationml/2006/main">
  <p:tag name="AS_UNIQUEID" val="6315"/>
</p:tagLst>
</file>

<file path=ppt/tags/tag286.xml><?xml version="1.0" encoding="utf-8"?>
<p:tagLst xmlns:p="http://schemas.openxmlformats.org/presentationml/2006/main">
  <p:tag name="AS_UNIQUEID" val="6316"/>
</p:tagLst>
</file>

<file path=ppt/tags/tag287.xml><?xml version="1.0" encoding="utf-8"?>
<p:tagLst xmlns:p="http://schemas.openxmlformats.org/presentationml/2006/main">
  <p:tag name="KSO_WM_BEAUTIFY_FLAG" val="#wm#"/>
  <p:tag name="KSO_WM_TEMPLATE_CATEGORY" val="custom"/>
  <p:tag name="KSO_WM_TEMPLATE_INDEX" val="20205081"/>
</p:tagLst>
</file>

<file path=ppt/tags/tag288.xml><?xml version="1.0" encoding="utf-8"?>
<p:tagLst xmlns:p="http://schemas.openxmlformats.org/presentationml/2006/main">
  <p:tag name="AS_UNIQUEID" val="6318"/>
</p:tagLst>
</file>

<file path=ppt/tags/tag289.xml><?xml version="1.0" encoding="utf-8"?>
<p:tagLst xmlns:p="http://schemas.openxmlformats.org/presentationml/2006/main">
  <p:tag name="AS_UNIQUEID" val="6319"/>
</p:tagLst>
</file>

<file path=ppt/tags/tag290.xml><?xml version="1.0" encoding="utf-8"?>
<p:tagLst xmlns:p="http://schemas.openxmlformats.org/presentationml/2006/main">
  <p:tag name="AS_UNIQUEID" val="6320"/>
  <p:tag name="KSO_WM_BEAUTIFY_FLAG" val=""/>
</p:tagLst>
</file>

<file path=ppt/tags/tag291.xml><?xml version="1.0" encoding="utf-8"?>
<p:tagLst xmlns:p="http://schemas.openxmlformats.org/presentationml/2006/main">
  <p:tag name="AS_UNIQUEID" val="6321"/>
</p:tagLst>
</file>

<file path=ppt/tags/tag292.xml><?xml version="1.0" encoding="utf-8"?>
<p:tagLst xmlns:p="http://schemas.openxmlformats.org/presentationml/2006/main">
  <p:tag name="AS_UNIQUEID" val="6322"/>
</p:tagLst>
</file>

<file path=ppt/tags/tag293.xml><?xml version="1.0" encoding="utf-8"?>
<p:tagLst xmlns:p="http://schemas.openxmlformats.org/presentationml/2006/main">
  <p:tag name="AS_UNIQUEID" val="6323"/>
  <p:tag name="KSO_WM_BEAUTIFY_FLAG" val=""/>
</p:tagLst>
</file>

<file path=ppt/tags/tag294.xml><?xml version="1.0" encoding="utf-8"?>
<p:tagLst xmlns:p="http://schemas.openxmlformats.org/presentationml/2006/main">
  <p:tag name="AS_UNIQUEID" val="6324"/>
</p:tagLst>
</file>

<file path=ppt/tags/tag295.xml><?xml version="1.0" encoding="utf-8"?>
<p:tagLst xmlns:p="http://schemas.openxmlformats.org/presentationml/2006/main">
  <p:tag name="AS_UNIQUEID" val="6325"/>
</p:tagLst>
</file>

<file path=ppt/tags/tag296.xml><?xml version="1.0" encoding="utf-8"?>
<p:tagLst xmlns:p="http://schemas.openxmlformats.org/presentationml/2006/main">
  <p:tag name="AS_UNIQUEID" val="6326"/>
</p:tagLst>
</file>

<file path=ppt/tags/tag297.xml><?xml version="1.0" encoding="utf-8"?>
<p:tagLst xmlns:p="http://schemas.openxmlformats.org/presentationml/2006/main">
  <p:tag name="KSO_WM_BEAUTIFY_FLAG" val="#wm#"/>
  <p:tag name="KSO_WM_TEMPLATE_CATEGORY" val="custom"/>
  <p:tag name="KSO_WM_TEMPLATE_INDEX" val="20205081"/>
</p:tagLst>
</file>

<file path=ppt/tags/tag298.xml><?xml version="1.0" encoding="utf-8"?>
<p:tagLst xmlns:p="http://schemas.openxmlformats.org/presentationml/2006/main">
  <p:tag name="AS_UNIQUEID" val="6331"/>
  <p:tag name="KSO_WM_BEAUTIFY_FLAG" val=""/>
</p:tagLst>
</file>

<file path=ppt/tags/tag299.xml><?xml version="1.0" encoding="utf-8"?>
<p:tagLst xmlns:p="http://schemas.openxmlformats.org/presentationml/2006/main">
  <p:tag name="AS_UNIQUEID" val="6332"/>
  <p:tag name="KSO_WM_BEAUTIFY_FLAG" val=""/>
</p:tagLst>
</file>

<file path=ppt/tags/tag300.xml><?xml version="1.0" encoding="utf-8"?>
<p:tagLst xmlns:p="http://schemas.openxmlformats.org/presentationml/2006/main">
  <p:tag name="AS_UNIQUEID" val="6333"/>
  <p:tag name="KSO_WM_BEAUTIFY_FLAG" val=""/>
</p:tagLst>
</file>

<file path=ppt/tags/tag301.xml><?xml version="1.0" encoding="utf-8"?>
<p:tagLst xmlns:p="http://schemas.openxmlformats.org/presentationml/2006/main">
  <p:tag name="AS_UNIQUEID" val="6334"/>
  <p:tag name="KSO_WM_BEAUTIFY_FLAG" val=""/>
</p:tagLst>
</file>

<file path=ppt/tags/tag302.xml><?xml version="1.0" encoding="utf-8"?>
<p:tagLst xmlns:p="http://schemas.openxmlformats.org/presentationml/2006/main">
  <p:tag name="AS_UNIQUEID" val="6335"/>
  <p:tag name="KSO_WM_BEAUTIFY_FLAG" val=""/>
</p:tagLst>
</file>

<file path=ppt/tags/tag303.xml><?xml version="1.0" encoding="utf-8"?>
<p:tagLst xmlns:p="http://schemas.openxmlformats.org/presentationml/2006/main">
  <p:tag name="AS_UNIQUEID" val="6336"/>
</p:tagLst>
</file>

<file path=ppt/tags/tag304.xml><?xml version="1.0" encoding="utf-8"?>
<p:tagLst xmlns:p="http://schemas.openxmlformats.org/presentationml/2006/main">
  <p:tag name="AS_UNIQUEID" val="6337"/>
  <p:tag name="KSO_WM_BEAUTIFY_FLAG" val=""/>
</p:tagLst>
</file>

<file path=ppt/tags/tag305.xml><?xml version="1.0" encoding="utf-8"?>
<p:tagLst xmlns:p="http://schemas.openxmlformats.org/presentationml/2006/main">
  <p:tag name="AS_UNIQUEID" val="6338"/>
</p:tagLst>
</file>

<file path=ppt/tags/tag306.xml><?xml version="1.0" encoding="utf-8"?>
<p:tagLst xmlns:p="http://schemas.openxmlformats.org/presentationml/2006/main">
  <p:tag name="AS_UNIQUEID" val="6339"/>
  <p:tag name="KSO_WM_BEAUTIFY_FLAG" val=""/>
</p:tagLst>
</file>

<file path=ppt/tags/tag307.xml><?xml version="1.0" encoding="utf-8"?>
<p:tagLst xmlns:p="http://schemas.openxmlformats.org/presentationml/2006/main">
  <p:tag name="AS_UNIQUEID" val="6340"/>
  <p:tag name="KSO_WM_BEAUTIFY_FLAG" val=""/>
</p:tagLst>
</file>

<file path=ppt/tags/tag308.xml><?xml version="1.0" encoding="utf-8"?>
<p:tagLst xmlns:p="http://schemas.openxmlformats.org/presentationml/2006/main">
  <p:tag name="AS_UNIQUEID" val="6341"/>
  <p:tag name="KSO_WM_BEAUTIFY_FLAG" val=""/>
</p:tagLst>
</file>

<file path=ppt/tags/tag309.xml><?xml version="1.0" encoding="utf-8"?>
<p:tagLst xmlns:p="http://schemas.openxmlformats.org/presentationml/2006/main">
  <p:tag name="AS_UNIQUEID" val="6342"/>
</p:tagLst>
</file>

<file path=ppt/tags/tag310.xml><?xml version="1.0" encoding="utf-8"?>
<p:tagLst xmlns:p="http://schemas.openxmlformats.org/presentationml/2006/main">
  <p:tag name="AS_UNIQUEID" val="6343"/>
</p:tagLst>
</file>

<file path=ppt/tags/tag311.xml><?xml version="1.0" encoding="utf-8"?>
<p:tagLst xmlns:p="http://schemas.openxmlformats.org/presentationml/2006/main">
  <p:tag name="AS_UNIQUEID" val="6344"/>
</p:tagLst>
</file>

<file path=ppt/tags/tag312.xml><?xml version="1.0" encoding="utf-8"?>
<p:tagLst xmlns:p="http://schemas.openxmlformats.org/presentationml/2006/main">
  <p:tag name="AS_UNIQUEID" val="6345"/>
</p:tagLst>
</file>

<file path=ppt/tags/tag313.xml><?xml version="1.0" encoding="utf-8"?>
<p:tagLst xmlns:p="http://schemas.openxmlformats.org/presentationml/2006/main">
  <p:tag name="AS_UNIQUEID" val="6346"/>
</p:tagLst>
</file>

<file path=ppt/tags/tag314.xml><?xml version="1.0" encoding="utf-8"?>
<p:tagLst xmlns:p="http://schemas.openxmlformats.org/presentationml/2006/main">
  <p:tag name="KSO_WM_BEAUTIFY_FLAG" val="#wm#"/>
  <p:tag name="KSO_WM_TEMPLATE_CATEGORY" val="custom"/>
  <p:tag name="KSO_WM_TEMPLATE_INDEX" val="20205081"/>
</p:tagLst>
</file>

<file path=ppt/tags/tag315.xml><?xml version="1.0" encoding="utf-8"?>
<p:tagLst xmlns:p="http://schemas.openxmlformats.org/presentationml/2006/main">
  <p:tag name="AS_UNIQUEID" val="6328"/>
</p:tagLst>
</file>

<file path=ppt/tags/tag316.xml><?xml version="1.0" encoding="utf-8"?>
<p:tagLst xmlns:p="http://schemas.openxmlformats.org/presentationml/2006/main">
  <p:tag name="AS_UNIQUEID" val="6329"/>
</p:tagLst>
</file>

<file path=ppt/tags/tag317.xml><?xml version="1.0" encoding="utf-8"?>
<p:tagLst xmlns:p="http://schemas.openxmlformats.org/presentationml/2006/main">
  <p:tag name="AS_UNIQUEID" val="6348"/>
</p:tagLst>
</file>

<file path=ppt/tags/tag318.xml><?xml version="1.0" encoding="utf-8"?>
<p:tagLst xmlns:p="http://schemas.openxmlformats.org/presentationml/2006/main">
  <p:tag name="AS_UNIQUEID" val="6349"/>
</p:tagLst>
</file>

<file path=ppt/tags/tag319.xml><?xml version="1.0" encoding="utf-8"?>
<p:tagLst xmlns:p="http://schemas.openxmlformats.org/presentationml/2006/main">
  <p:tag name="AS_UNIQUEID" val="6350"/>
</p:tagLst>
</file>

<file path=ppt/tags/tag320.xml><?xml version="1.0" encoding="utf-8"?>
<p:tagLst xmlns:p="http://schemas.openxmlformats.org/presentationml/2006/main">
  <p:tag name="AS_UNIQUEID" val="6351"/>
</p:tagLst>
</file>

<file path=ppt/tags/tag321.xml><?xml version="1.0" encoding="utf-8"?>
<p:tagLst xmlns:p="http://schemas.openxmlformats.org/presentationml/2006/main">
  <p:tag name="AS_UNIQUEID" val="6352"/>
</p:tagLst>
</file>

<file path=ppt/tags/tag322.xml><?xml version="1.0" encoding="utf-8"?>
<p:tagLst xmlns:p="http://schemas.openxmlformats.org/presentationml/2006/main">
  <p:tag name="AS_UNIQUEID" val="6353"/>
</p:tagLst>
</file>

<file path=ppt/tags/tag323.xml><?xml version="1.0" encoding="utf-8"?>
<p:tagLst xmlns:p="http://schemas.openxmlformats.org/presentationml/2006/main">
  <p:tag name="AS_UNIQUEID" val="6354"/>
  <p:tag name="KSO_WM_BEAUTIFY_FLAG" val=""/>
</p:tagLst>
</file>

<file path=ppt/tags/tag324.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325.xml><?xml version="1.0" encoding="utf-8"?>
<p:tagLst xmlns:p="http://schemas.openxmlformats.org/presentationml/2006/main">
  <p:tag name="AS_UNIQUEID" val="6356"/>
</p:tagLst>
</file>

<file path=ppt/tags/tag326.xml><?xml version="1.0" encoding="utf-8"?>
<p:tagLst xmlns:p="http://schemas.openxmlformats.org/presentationml/2006/main">
  <p:tag name="AS_UNIQUEID" val="6357"/>
</p:tagLst>
</file>

<file path=ppt/tags/tag327.xml><?xml version="1.0" encoding="utf-8"?>
<p:tagLst xmlns:p="http://schemas.openxmlformats.org/presentationml/2006/main">
  <p:tag name="AS_UNIQUEID" val="6358"/>
</p:tagLst>
</file>

<file path=ppt/tags/tag328.xml><?xml version="1.0" encoding="utf-8"?>
<p:tagLst xmlns:p="http://schemas.openxmlformats.org/presentationml/2006/main">
  <p:tag name="AS_UNIQUEID" val="6359"/>
</p:tagLst>
</file>

<file path=ppt/tags/tag329.xml><?xml version="1.0" encoding="utf-8"?>
<p:tagLst xmlns:p="http://schemas.openxmlformats.org/presentationml/2006/main">
  <p:tag name="AS_UNIQUEID" val="6360"/>
</p:tagLst>
</file>

<file path=ppt/tags/tag330.xml><?xml version="1.0" encoding="utf-8"?>
<p:tagLst xmlns:p="http://schemas.openxmlformats.org/presentationml/2006/main">
  <p:tag name="AS_UNIQUEID" val="6361"/>
</p:tagLst>
</file>

<file path=ppt/tags/tag331.xml><?xml version="1.0" encoding="utf-8"?>
<p:tagLst xmlns:p="http://schemas.openxmlformats.org/presentationml/2006/main">
  <p:tag name="AS_UNIQUEID" val="6362"/>
  <p:tag name="KSO_WM_BEAUTIFY_FLAG" val=""/>
</p:tagLst>
</file>

<file path=ppt/tags/tag332.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333.xml><?xml version="1.0" encoding="utf-8"?>
<p:tagLst xmlns:p="http://schemas.openxmlformats.org/presentationml/2006/main">
  <p:tag name="AS_UNIQUEID" val="6364"/>
</p:tagLst>
</file>

<file path=ppt/tags/tag334.xml><?xml version="1.0" encoding="utf-8"?>
<p:tagLst xmlns:p="http://schemas.openxmlformats.org/presentationml/2006/main">
  <p:tag name="AS_UNIQUEID" val="6365"/>
</p:tagLst>
</file>

<file path=ppt/tags/tag335.xml><?xml version="1.0" encoding="utf-8"?>
<p:tagLst xmlns:p="http://schemas.openxmlformats.org/presentationml/2006/main">
  <p:tag name="AS_UNIQUEID" val="6366"/>
</p:tagLst>
</file>

<file path=ppt/tags/tag336.xml><?xml version="1.0" encoding="utf-8"?>
<p:tagLst xmlns:p="http://schemas.openxmlformats.org/presentationml/2006/main">
  <p:tag name="AS_UNIQUEID" val="6367"/>
</p:tagLst>
</file>

<file path=ppt/tags/tag337.xml><?xml version="1.0" encoding="utf-8"?>
<p:tagLst xmlns:p="http://schemas.openxmlformats.org/presentationml/2006/main">
  <p:tag name="AS_UNIQUEID" val="6368"/>
</p:tagLst>
</file>

<file path=ppt/tags/tag338.xml><?xml version="1.0" encoding="utf-8"?>
<p:tagLst xmlns:p="http://schemas.openxmlformats.org/presentationml/2006/main">
  <p:tag name="AS_UNIQUEID" val="6369"/>
</p:tagLst>
</file>

<file path=ppt/tags/tag339.xml><?xml version="1.0" encoding="utf-8"?>
<p:tagLst xmlns:p="http://schemas.openxmlformats.org/presentationml/2006/main">
  <p:tag name="AS_UNIQUEID" val="6370"/>
  <p:tag name="KSO_WM_BEAUTIFY_FLAG" val=""/>
</p:tagLst>
</file>

<file path=ppt/tags/tag340.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341.xml><?xml version="1.0" encoding="utf-8"?>
<p:tagLst xmlns:p="http://schemas.openxmlformats.org/presentationml/2006/main">
  <p:tag name="AS_UNIQUEID" val="6372"/>
  <p:tag name="KSO_WM_BEAUTIFY_FLAG" val=""/>
</p:tagLst>
</file>

<file path=ppt/tags/tag342.xml><?xml version="1.0" encoding="utf-8"?>
<p:tagLst xmlns:p="http://schemas.openxmlformats.org/presentationml/2006/main">
  <p:tag name="AS_UNIQUEID" val="6373"/>
  <p:tag name="KSO_WM_BEAUTIFY_FLAG" val=""/>
</p:tagLst>
</file>

<file path=ppt/tags/tag343.xml><?xml version="1.0" encoding="utf-8"?>
<p:tagLst xmlns:p="http://schemas.openxmlformats.org/presentationml/2006/main">
  <p:tag name="AS_UNIQUEID" val="6374"/>
  <p:tag name="KSO_WM_BEAUTIFY_FLAG" val=""/>
</p:tagLst>
</file>

<file path=ppt/tags/tag344.xml><?xml version="1.0" encoding="utf-8"?>
<p:tagLst xmlns:p="http://schemas.openxmlformats.org/presentationml/2006/main">
  <p:tag name="AS_UNIQUEID" val="6375"/>
</p:tagLst>
</file>

<file path=ppt/tags/tag345.xml><?xml version="1.0" encoding="utf-8"?>
<p:tagLst xmlns:p="http://schemas.openxmlformats.org/presentationml/2006/main">
  <p:tag name="AS_UNIQUEID" val="6376"/>
</p:tagLst>
</file>

<file path=ppt/tags/tag346.xml><?xml version="1.0" encoding="utf-8"?>
<p:tagLst xmlns:p="http://schemas.openxmlformats.org/presentationml/2006/main">
  <p:tag name="KSO_WM_BEAUTIFY_FLAG" val="#wm#"/>
  <p:tag name="KSO_WM_TEMPLATE_CATEGORY" val="custom"/>
  <p:tag name="KSO_WM_TEMPLATE_INDEX" val="20205081"/>
</p:tagLst>
</file>

<file path=ppt/tags/tag347.xml><?xml version="1.0" encoding="utf-8"?>
<p:tagLst xmlns:p="http://schemas.openxmlformats.org/presentationml/2006/main">
  <p:tag name="AS_UNIQUEID" val="6378"/>
  <p:tag name="KSO_WM_BEAUTIFY_FLAG" val=""/>
</p:tagLst>
</file>

<file path=ppt/tags/tag348.xml><?xml version="1.0" encoding="utf-8"?>
<p:tagLst xmlns:p="http://schemas.openxmlformats.org/presentationml/2006/main">
  <p:tag name="AS_UNIQUEID" val="6379"/>
</p:tagLst>
</file>

<file path=ppt/tags/tag349.xml><?xml version="1.0" encoding="utf-8"?>
<p:tagLst xmlns:p="http://schemas.openxmlformats.org/presentationml/2006/main">
  <p:tag name="AS_UNIQUEID" val="6380"/>
  <p:tag name="KSO_WM_BEAUTIFY_FLAG" val=""/>
</p:tagLst>
</file>

<file path=ppt/tags/tag350.xml><?xml version="1.0" encoding="utf-8"?>
<p:tagLst xmlns:p="http://schemas.openxmlformats.org/presentationml/2006/main">
  <p:tag name="AS_UNIQUEID" val="6381"/>
  <p:tag name="KSO_WM_BEAUTIFY_FLAG" val=""/>
</p:tagLst>
</file>

<file path=ppt/tags/tag351.xml><?xml version="1.0" encoding="utf-8"?>
<p:tagLst xmlns:p="http://schemas.openxmlformats.org/presentationml/2006/main">
  <p:tag name="AS_UNIQUEID" val="6382"/>
</p:tagLst>
</file>

<file path=ppt/tags/tag352.xml><?xml version="1.0" encoding="utf-8"?>
<p:tagLst xmlns:p="http://schemas.openxmlformats.org/presentationml/2006/main">
  <p:tag name="AS_UNIQUEID" val="6383"/>
</p:tagLst>
</file>

<file path=ppt/tags/tag353.xml><?xml version="1.0" encoding="utf-8"?>
<p:tagLst xmlns:p="http://schemas.openxmlformats.org/presentationml/2006/main">
  <p:tag name="KSO_WM_BEAUTIFY_FLAG" val="#wm#"/>
  <p:tag name="KSO_WM_TEMPLATE_CATEGORY" val="custom"/>
  <p:tag name="KSO_WM_TEMPLATE_INDEX" val="20205081"/>
</p:tagLst>
</file>

<file path=ppt/tags/tag354.xml><?xml version="1.0" encoding="utf-8"?>
<p:tagLst xmlns:p="http://schemas.openxmlformats.org/presentationml/2006/main">
  <p:tag name="AS_UNIQUEID" val="6385"/>
  <p:tag name="KSO_WM_BEAUTIFY_FLAG" val=""/>
</p:tagLst>
</file>

<file path=ppt/tags/tag355.xml><?xml version="1.0" encoding="utf-8"?>
<p:tagLst xmlns:p="http://schemas.openxmlformats.org/presentationml/2006/main">
  <p:tag name="AS_UNIQUEID" val="6386"/>
</p:tagLst>
</file>

<file path=ppt/tags/tag356.xml><?xml version="1.0" encoding="utf-8"?>
<p:tagLst xmlns:p="http://schemas.openxmlformats.org/presentationml/2006/main">
  <p:tag name="AS_UNIQUEID" val="6387"/>
</p:tagLst>
</file>

<file path=ppt/tags/tag357.xml><?xml version="1.0" encoding="utf-8"?>
<p:tagLst xmlns:p="http://schemas.openxmlformats.org/presentationml/2006/main">
  <p:tag name="KSO_WM_BEAUTIFY_FLAG" val="#wm#"/>
  <p:tag name="KSO_WM_TEMPLATE_CATEGORY" val="custom"/>
  <p:tag name="KSO_WM_TEMPLATE_INDEX" val="20205081"/>
</p:tagLst>
</file>

<file path=ppt/tags/tag358.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359.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36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6375</Words>
  <Application>WPS 演示</Application>
  <PresentationFormat>宽屏</PresentationFormat>
  <Paragraphs>356</Paragraphs>
  <Slides>28</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28</vt:i4>
      </vt:variant>
    </vt:vector>
  </HeadingPairs>
  <TitlesOfParts>
    <vt:vector size="38" baseType="lpstr">
      <vt:lpstr>Arial</vt:lpstr>
      <vt:lpstr>宋体</vt:lpstr>
      <vt:lpstr>Wingdings</vt:lpstr>
      <vt:lpstr>Wingdings</vt:lpstr>
      <vt:lpstr>微软雅黑</vt:lpstr>
      <vt:lpstr>Arial Unicode MS</vt:lpstr>
      <vt:lpstr>Calibri</vt:lpstr>
      <vt:lpstr>楷体</vt:lpstr>
      <vt:lpstr>Times New Roman</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桔子</cp:lastModifiedBy>
  <cp:revision>157</cp:revision>
  <dcterms:created xsi:type="dcterms:W3CDTF">2019-06-19T02:08:00Z</dcterms:created>
  <dcterms:modified xsi:type="dcterms:W3CDTF">2025-09-24T08:07:16Z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7023C184014F4022A4C49E016685BEFB_11</vt:lpwstr>
  </property>
</Properties>
</file>